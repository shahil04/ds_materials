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0" r:id="rId3"/>
    <p:sldId id="256" r:id="rId4"/>
    <p:sldId id="257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45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BBF06-5B1F-4A04-BE25-D940959E4FD8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D31034-5206-4DFE-87C2-5154C1E33152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BBF06-5B1F-4A04-BE25-D940959E4FD8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D31034-5206-4DFE-87C2-5154C1E33152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BBF06-5B1F-4A04-BE25-D940959E4FD8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D31034-5206-4DFE-87C2-5154C1E33152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BBF06-5B1F-4A04-BE25-D940959E4FD8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D31034-5206-4DFE-87C2-5154C1E33152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BBF06-5B1F-4A04-BE25-D940959E4FD8}" type="datetimeFigureOut">
              <a:rPr lang="en-IN" smtClean="0"/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D31034-5206-4DFE-87C2-5154C1E33152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BBF06-5B1F-4A04-BE25-D940959E4FD8}" type="datetimeFigureOut">
              <a:rPr lang="en-IN" smtClean="0"/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D31034-5206-4DFE-87C2-5154C1E33152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BBF06-5B1F-4A04-BE25-D940959E4FD8}" type="datetimeFigureOut">
              <a:rPr lang="en-IN" smtClean="0"/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D31034-5206-4DFE-87C2-5154C1E33152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BBF06-5B1F-4A04-BE25-D940959E4FD8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D31034-5206-4DFE-87C2-5154C1E33152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BBF06-5B1F-4A04-BE25-D940959E4FD8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D31034-5206-4DFE-87C2-5154C1E33152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BBF06-5B1F-4A04-BE25-D940959E4FD8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D31034-5206-4DFE-87C2-5154C1E33152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BBF06-5B1F-4A04-BE25-D940959E4FD8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D31034-5206-4DFE-87C2-5154C1E33152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4BBF06-5B1F-4A04-BE25-D940959E4FD8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D31034-5206-4DFE-87C2-5154C1E33152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3009900" y="151066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Electric car Dashboard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45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82" y="0"/>
            <a:ext cx="12191918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70" y="-51756"/>
            <a:ext cx="54087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b="1" dirty="0">
                <a:solidFill>
                  <a:schemeClr val="bg1"/>
                </a:solidFill>
              </a:rPr>
              <a:t>PROBLEM STATEMENT</a:t>
            </a:r>
            <a:endParaRPr lang="en-IN" sz="4000" b="1"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9396" y="572705"/>
            <a:ext cx="44771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solidFill>
                  <a:srgbClr val="FFC000"/>
                </a:solidFill>
              </a:rPr>
              <a:t>KPI’S Requirement</a:t>
            </a:r>
            <a:endParaRPr lang="en-IN" sz="2000" b="1" dirty="0">
              <a:solidFill>
                <a:srgbClr val="FFC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9396" y="946416"/>
            <a:ext cx="10834778" cy="5866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  <a:buFont typeface="+mj-lt"/>
              <a:buAutoNum type="arabicPeriod"/>
            </a:pPr>
            <a:r>
              <a:rPr lang="en-US" b="1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 Total Vehicles:</a:t>
            </a:r>
            <a:endParaRPr lang="en-US" b="0" i="0" dirty="0">
              <a:solidFill>
                <a:schemeClr val="accent6">
                  <a:lumMod val="60000"/>
                  <a:lumOff val="40000"/>
                </a:schemeClr>
              </a:solidFill>
              <a:effectLst/>
            </a:endParaRP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chemeClr val="bg1"/>
                </a:solidFill>
                <a:effectLst/>
              </a:rPr>
              <a:t>Understand the overall landscape of electric vehicles, encompassing both BEVs and PHEVs, to assess the market's size and growth.</a:t>
            </a:r>
            <a:endParaRPr lang="en-US" b="0" i="0" dirty="0">
              <a:solidFill>
                <a:schemeClr val="bg1"/>
              </a:solidFill>
              <a:effectLst/>
            </a:endParaRP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Average Electric Range:</a:t>
            </a:r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chemeClr val="bg1"/>
                </a:solidFill>
                <a:effectLst/>
              </a:rPr>
              <a:t>Determine the average electric range of the electric vehicles in the dataset to gauge the technological advancements and efficiency of the EVs.</a:t>
            </a:r>
            <a:endParaRPr lang="en-US" b="0" i="0" dirty="0">
              <a:solidFill>
                <a:schemeClr val="bg1"/>
              </a:solidFill>
              <a:effectLst/>
            </a:endParaRPr>
          </a:p>
          <a:p>
            <a:pPr algn="l"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Total BEV Vehicles and % of Total BEV Vehicles:</a:t>
            </a:r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chemeClr val="bg1"/>
                </a:solidFill>
                <a:effectLst/>
              </a:rPr>
              <a:t>Identify and analyze the total number of Battery Electric Vehicles (BEVs) in the dataset.</a:t>
            </a:r>
            <a:endParaRPr lang="en-US" b="0" i="0" dirty="0">
              <a:solidFill>
                <a:schemeClr val="bg1"/>
              </a:solidFill>
              <a:effectLst/>
            </a:endParaRP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chemeClr val="bg1"/>
                </a:solidFill>
                <a:effectLst/>
              </a:rPr>
              <a:t>Calculate the percentage of BEVs relative to the total number of electric vehicles, providing insights into the dominance of fully electric models.</a:t>
            </a:r>
            <a:endParaRPr lang="en-US" b="0" i="0" dirty="0">
              <a:solidFill>
                <a:schemeClr val="bg1"/>
              </a:solidFill>
              <a:effectLst/>
            </a:endParaRP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Total PHEV Vehicles and % of Total PHEV Vehicles:</a:t>
            </a:r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chemeClr val="bg1"/>
                </a:solidFill>
                <a:effectLst/>
              </a:rPr>
              <a:t>Identify and analyze the total number of Plug-in Hybrid Electric Vehicles (PHEVs) in the dataset.</a:t>
            </a:r>
            <a:endParaRPr lang="en-US" b="0" i="0" dirty="0">
              <a:solidFill>
                <a:schemeClr val="bg1"/>
              </a:solidFill>
              <a:effectLst/>
            </a:endParaRP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chemeClr val="bg1"/>
                </a:solidFill>
                <a:effectLst/>
              </a:rPr>
              <a:t>Calculate the percentage of PHEVs relative to the total number of electric vehicles, offering insights into the market share of plug-in hybrid models.</a:t>
            </a:r>
            <a:endParaRPr lang="en-US" b="0" i="0" dirty="0">
              <a:solidFill>
                <a:schemeClr val="bg1"/>
              </a:solidFill>
              <a:effectLst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5721" y="97408"/>
            <a:ext cx="966883" cy="69731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45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82" y="0"/>
            <a:ext cx="12191918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70" y="-51756"/>
            <a:ext cx="54087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b="1" dirty="0">
                <a:solidFill>
                  <a:schemeClr val="bg1"/>
                </a:solidFill>
              </a:rPr>
              <a:t>PROBLEM STATEMENT</a:t>
            </a:r>
            <a:endParaRPr lang="en-IN" sz="4000" b="1"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9396" y="572705"/>
            <a:ext cx="44771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solidFill>
                  <a:srgbClr val="FFC000"/>
                </a:solidFill>
              </a:rPr>
              <a:t>Charts Requirement</a:t>
            </a:r>
            <a:endParaRPr lang="en-IN" sz="2000" b="1" dirty="0">
              <a:solidFill>
                <a:srgbClr val="FFC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9396" y="1031228"/>
            <a:ext cx="10834778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Total Vehicles by Model Year (From 2010 Onwards):</a:t>
            </a:r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chemeClr val="bg1"/>
                </a:solidFill>
                <a:effectLst/>
              </a:rPr>
              <a:t>Visualization: Line/ Area Chart</a:t>
            </a:r>
            <a:endParaRPr lang="en-US" b="0" i="0" dirty="0">
              <a:solidFill>
                <a:schemeClr val="bg1"/>
              </a:solidFill>
              <a:effectLst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chemeClr val="bg1"/>
                </a:solidFill>
                <a:effectLst/>
              </a:rPr>
              <a:t>Description: This chart will illustrate the distribution of electric vehicles over the years, starting from 2010, providing insights into the growth pattern and adoption trends.</a:t>
            </a:r>
            <a:endParaRPr lang="en-US" b="0" i="0" dirty="0">
              <a:solidFill>
                <a:schemeClr val="bg1"/>
              </a:solidFill>
              <a:effectLst/>
            </a:endParaRPr>
          </a:p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Total Vehicles by State:</a:t>
            </a:r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chemeClr val="bg1"/>
                </a:solidFill>
                <a:effectLst/>
              </a:rPr>
              <a:t>Visualization: Map Chart </a:t>
            </a:r>
            <a:endParaRPr lang="en-US" b="0" i="0" dirty="0">
              <a:solidFill>
                <a:schemeClr val="bg1"/>
              </a:solidFill>
              <a:effectLst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chemeClr val="bg1"/>
                </a:solidFill>
                <a:effectLst/>
              </a:rPr>
              <a:t>Description: This chart will showcase the geographical distribution of electric vehicles across different states, allowing for the identification of regions with higher adoption rates.</a:t>
            </a:r>
            <a:endParaRPr lang="en-US" b="0" i="0" dirty="0">
              <a:solidFill>
                <a:schemeClr val="bg1"/>
              </a:solidFill>
              <a:effectLst/>
            </a:endParaRPr>
          </a:p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Top 10 Total Vehicles by Make:</a:t>
            </a:r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chemeClr val="bg1"/>
                </a:solidFill>
                <a:effectLst/>
              </a:rPr>
              <a:t>Visualization: Bar Chart </a:t>
            </a:r>
            <a:endParaRPr lang="en-US" b="0" i="0" dirty="0">
              <a:solidFill>
                <a:schemeClr val="bg1"/>
              </a:solidFill>
              <a:effectLst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chemeClr val="bg1"/>
                </a:solidFill>
                <a:effectLst/>
              </a:rPr>
              <a:t>Description: Highlight the top 10 electric vehicle manufacturers based on the total number of vehicles, providing insights into the market dominance of specific brands.</a:t>
            </a:r>
            <a:endParaRPr lang="en-US" b="0" i="0" dirty="0">
              <a:solidFill>
                <a:schemeClr val="bg1"/>
              </a:solidFill>
              <a:effectLst/>
            </a:endParaRPr>
          </a:p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Total Vehicles by CAFV Eligibility:</a:t>
            </a:r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chemeClr val="bg1"/>
                </a:solidFill>
                <a:effectLst/>
              </a:rPr>
              <a:t>Visualization: Pie Chart or Donut Chart</a:t>
            </a:r>
            <a:endParaRPr lang="en-US" b="0" i="0" dirty="0">
              <a:solidFill>
                <a:schemeClr val="bg1"/>
              </a:solidFill>
              <a:effectLst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chemeClr val="bg1"/>
                </a:solidFill>
                <a:effectLst/>
              </a:rPr>
              <a:t>Description: Illustrate the proportion of electric vehicles that are eligible for Clean Alternative Fuel Vehicle (CAFV) incentives, aiding in understanding the impact of incentives on vehicle adoption.</a:t>
            </a:r>
            <a:endParaRPr lang="en-US" b="0" i="0" dirty="0">
              <a:solidFill>
                <a:schemeClr val="bg1"/>
              </a:solidFill>
              <a:effectLst/>
            </a:endParaRPr>
          </a:p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5. Top 10 Total Vehicles by Model:</a:t>
            </a:r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chemeClr val="bg1"/>
                </a:solidFill>
                <a:effectLst/>
              </a:rPr>
              <a:t>Visualization: Tree map</a:t>
            </a:r>
            <a:endParaRPr lang="en-US" dirty="0">
              <a:solidFill>
                <a:schemeClr val="bg1"/>
              </a:solidFill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chemeClr val="bg1"/>
                </a:solidFill>
                <a:effectLst/>
              </a:rPr>
              <a:t>Description: Highlight the top 10 electric vehicle models based on the total number of vehicles, offering insights into consumer preferences and popular models in the market.</a:t>
            </a:r>
            <a:endParaRPr lang="en-US" b="0" i="0" dirty="0">
              <a:solidFill>
                <a:schemeClr val="bg1"/>
              </a:solidFill>
              <a:effectLst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5721" y="97408"/>
            <a:ext cx="966883" cy="69731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45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82" y="0"/>
            <a:ext cx="1219191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0770" y="0"/>
            <a:ext cx="77120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b="1" dirty="0">
                <a:solidFill>
                  <a:schemeClr val="bg1"/>
                </a:solidFill>
              </a:rPr>
              <a:t>SOFTWARES USED</a:t>
            </a:r>
            <a:endParaRPr lang="en-IN" sz="4000" b="1" dirty="0">
              <a:solidFill>
                <a:schemeClr val="bg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7804" y="1366935"/>
            <a:ext cx="8648700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b="1" dirty="0">
                <a:solidFill>
                  <a:srgbClr val="FFC000"/>
                </a:solidFill>
                <a:latin typeface="Century Gothic" panose="020B0502020202020204" pitchFamily="34" charset="0"/>
              </a:rPr>
              <a:t>1. MS OFFICE/ EXCEL: </a:t>
            </a:r>
            <a:r>
              <a:rPr lang="en-IN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VERSION 2021</a:t>
            </a:r>
            <a:endParaRPr lang="en-IN" sz="25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endParaRPr lang="en-IN" sz="25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IN" sz="2500" b="1" dirty="0">
                <a:solidFill>
                  <a:srgbClr val="FFC000"/>
                </a:solidFill>
                <a:latin typeface="Century Gothic" panose="020B0502020202020204" pitchFamily="34" charset="0"/>
              </a:rPr>
              <a:t>2. POWER BI</a:t>
            </a:r>
            <a:r>
              <a:rPr lang="en-IN" sz="25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: </a:t>
            </a:r>
            <a:r>
              <a:rPr lang="en-IN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Dec 2023 Version </a:t>
            </a:r>
            <a:endParaRPr lang="en-IN" sz="25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5721" y="97408"/>
            <a:ext cx="966883" cy="69731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2294</Words>
  <Application>WPS Presentation</Application>
  <PresentationFormat>Widescreen</PresentationFormat>
  <Paragraphs>43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3" baseType="lpstr">
      <vt:lpstr>Arial</vt:lpstr>
      <vt:lpstr>SimSun</vt:lpstr>
      <vt:lpstr>Wingdings</vt:lpstr>
      <vt:lpstr>Century Gothic</vt:lpstr>
      <vt:lpstr>Calibri</vt:lpstr>
      <vt:lpstr>Microsoft YaHei</vt:lpstr>
      <vt:lpstr>Arial Unicode MS</vt:lpstr>
      <vt:lpstr>Calibri Light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Swapnajeet A</dc:creator>
  <cp:lastModifiedBy>Gyanpriya Misra</cp:lastModifiedBy>
  <cp:revision>8</cp:revision>
  <dcterms:created xsi:type="dcterms:W3CDTF">2024-02-05T09:30:00Z</dcterms:created>
  <dcterms:modified xsi:type="dcterms:W3CDTF">2025-11-19T12:18:06Z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F4E5F576AF0F42C885B041DB2DC187AF_12</vt:lpwstr>
  </property>
  <property fmtid="{D5CDD505-2E9C-101B-9397-08002B2CF9AE}" pid="3" name="KSOProductBuildVer">
    <vt:lpwstr>1033-12.2.0.23155</vt:lpwstr>
  </property>
</Properties>
</file>