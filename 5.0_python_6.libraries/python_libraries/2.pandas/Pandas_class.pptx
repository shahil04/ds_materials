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autoCompressPictures="0">
  <p:sldMasterIdLst>
    <p:sldMasterId id="2147483648" r:id="rId1"/>
  </p:sldMasterIdLst>
  <p:notesMasterIdLst>
    <p:notesMasterId r:id="rId4"/>
  </p:notesMasterIdLst>
  <p:sldIdLst>
    <p:sldId id="256" r:id="rId3"/>
    <p:sldId id="349" r:id="rId5"/>
    <p:sldId id="257" r:id="rId6"/>
    <p:sldId id="334" r:id="rId7"/>
    <p:sldId id="335" r:id="rId8"/>
    <p:sldId id="336" r:id="rId9"/>
    <p:sldId id="346" r:id="rId10"/>
    <p:sldId id="347" r:id="rId11"/>
    <p:sldId id="339" r:id="rId12"/>
    <p:sldId id="340" r:id="rId13"/>
    <p:sldId id="341" r:id="rId14"/>
    <p:sldId id="342" r:id="rId15"/>
    <p:sldId id="337" r:id="rId16"/>
    <p:sldId id="345" r:id="rId17"/>
    <p:sldId id="343" r:id="rId18"/>
    <p:sldId id="348" r:id="rId19"/>
    <p:sldId id="338" r:id="rId20"/>
    <p:sldId id="344" r:id="rId21"/>
    <p:sldId id="333" r:id="rId22"/>
    <p:sldId id="308" r:id="rId23"/>
  </p:sldIdLst>
  <p:sldSz cx="9144000" cy="51435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15:guide id="1" orient="horz" pos="1568" userDrawn="1">
          <p15:clr>
            <a:srgbClr val="747775"/>
          </p15:clr>
        </p15:guide>
        <p15:guide id="2" pos="2880" userDrawn="1">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showComments="0">
  <p:normalViewPr>
    <p:restoredLeft sz="15620"/>
    <p:restoredTop sz="94660"/>
  </p:normalViewPr>
  <p:slideViewPr>
    <p:cSldViewPr snapToGrid="0" showGuides="1">
      <p:cViewPr varScale="1">
        <p:scale>
          <a:sx n="100" d="100"/>
          <a:sy n="100" d="100"/>
        </p:scale>
        <p:origin x="0" y="0"/>
      </p:cViewPr>
      <p:guideLst>
        <p:guide orient="horz" pos="1568"/>
        <p:guide pos="2880"/>
      </p:guideLst>
    </p:cSldViewPr>
  </p:slide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6" Type="http://schemas.openxmlformats.org/officeDocument/2006/relationships/tableStyles" Target="tableStyles.xml"/><Relationship Id="rId25" Type="http://schemas.openxmlformats.org/officeDocument/2006/relationships/viewProps" Target="viewProps.xml"/><Relationship Id="rId24" Type="http://schemas.openxmlformats.org/officeDocument/2006/relationships/presProps" Target="presProps.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2" name="Shape 2"/>
        <p:cNvGrpSpPr/>
        <p:nvPr/>
      </p:nvGrpSpPr>
      <p:grpSpPr>
        <a:xfrm>
          <a:off x="0" y="0"/>
          <a:ext cx="0" cy="0"/>
          <a:chOff x="0" y="0"/>
          <a:chExt cx="0" cy="0"/>
        </a:xfrm>
      </p:grpSpPr>
      <p:sp>
        <p:nvSpPr>
          <p:cNvPr id="3" name="Google Shape;3;n"/>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p:notes"/>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PhAnim="0" showMasterSp="0">
  <p:cSld>
    <p:spTree>
      <p:nvGrpSpPr>
        <p:cNvPr id="55" name="Shape 55"/>
        <p:cNvGrpSpPr/>
        <p:nvPr/>
      </p:nvGrpSpPr>
      <p:grpSpPr>
        <a:xfrm>
          <a:off x="0" y="0"/>
          <a:ext cx="0" cy="0"/>
          <a:chOff x="0" y="0"/>
          <a:chExt cx="0" cy="0"/>
        </a:xfrm>
      </p:grpSpPr>
      <p:sp>
        <p:nvSpPr>
          <p:cNvPr id="56" name="Google Shape;56;g237aeb68f6c_0_0: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237aeb68f6c_0_0: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352" name="Shape 352"/>
        <p:cNvGrpSpPr/>
        <p:nvPr/>
      </p:nvGrpSpPr>
      <p:grpSpPr>
        <a:xfrm>
          <a:off x="0" y="0"/>
          <a:ext cx="0" cy="0"/>
          <a:chOff x="0" y="0"/>
          <a:chExt cx="0" cy="0"/>
        </a:xfrm>
      </p:grpSpPr>
      <p:sp>
        <p:nvSpPr>
          <p:cNvPr id="353" name="Google Shape;353;g25c18dd4481_0_181: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25c18dd4481_0_181: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matchingName="Title slid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matchingName="Section header">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x" matchingName="Title and body">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p:txBody>
      </p:sp>
      <p:sp>
        <p:nvSpPr>
          <p:cNvPr id="19" name="Google Shape;19;p4"/>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ColTx" matchingName="Title and two columns">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p:txBody>
      </p:sp>
      <p:sp>
        <p:nvSpPr>
          <p:cNvPr id="23" name="Google Shape;23;p5"/>
          <p:cNvSpPr txBox="1"/>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p:txBody>
      </p:sp>
      <p:sp>
        <p:nvSpPr>
          <p:cNvPr id="24" name="Google Shape;24;p5"/>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matchingName="Title 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p:txBody>
      </p:sp>
      <p:sp>
        <p:nvSpPr>
          <p:cNvPr id="31" name="Google Shape;31;p7"/>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7" name="Google Shape;37;p9"/>
          <p:cNvSpPr txBox="1"/>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p:txBody>
      </p:sp>
      <p:sp>
        <p:nvSpPr>
          <p:cNvPr id="40" name="Google Shape;40;p9"/>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41" name="Shape 41"/>
        <p:cNvGrpSpPr/>
        <p:nvPr/>
      </p:nvGrpSpPr>
      <p:grpSpPr>
        <a:xfrm>
          <a:off x="0" y="0"/>
          <a:ext cx="0" cy="0"/>
          <a:chOff x="0" y="0"/>
          <a:chExt cx="0" cy="0"/>
        </a:xfrm>
      </p:grpSpPr>
      <p:sp>
        <p:nvSpPr>
          <p:cNvPr id="42" name="Google Shape;42;p10"/>
          <p:cNvSpPr txBox="1"/>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p:txBody>
      </p:sp>
      <p:sp>
        <p:nvSpPr>
          <p:cNvPr id="43" name="Google Shape;43;p10"/>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44" name="Shape 44"/>
        <p:cNvGrpSpPr/>
        <p:nvPr/>
      </p:nvGrpSpPr>
      <p:grpSpPr>
        <a:xfrm>
          <a:off x="0" y="0"/>
          <a:ext cx="0" cy="0"/>
          <a:chOff x="0" y="0"/>
          <a:chExt cx="0" cy="0"/>
        </a:xfrm>
      </p:grpSpPr>
      <p:sp>
        <p:nvSpPr>
          <p:cNvPr id="45" name="Google Shape;45;p11"/>
          <p:cNvSpPr txBox="1"/>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p:txBody>
      </p:sp>
      <p:sp>
        <p:nvSpPr>
          <p:cNvPr id="47" name="Google Shape;47;p11"/>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matchingName="Blank">
  <p:cSld name="BLANK">
    <p:spTree>
      <p:nvGrpSpPr>
        <p:cNvPr id="48" name="Shape 48"/>
        <p:cNvGrpSpPr/>
        <p:nvPr/>
      </p:nvGrpSpPr>
      <p:grpSpPr>
        <a:xfrm>
          <a:off x="0" y="0"/>
          <a:ext cx="0" cy="0"/>
          <a:chOff x="0" y="0"/>
          <a:chExt cx="0" cy="0"/>
        </a:xfrm>
      </p:grpSpPr>
      <p:sp>
        <p:nvSpPr>
          <p:cNvPr id="49" name="Google Shape;49;p12"/>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GB"/>
            </a:fld>
            <a:endParaRPr lang="en-GB"/>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11.xml"/><Relationship Id="rId1"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9.xml.rels><?xml version="1.0" encoding="UTF-8" standalone="yes"?>
<Relationships xmlns="http://schemas.openxmlformats.org/package/2006/relationships"><Relationship Id="rId2" Type="http://schemas.openxmlformats.org/officeDocument/2006/relationships/slideLayout" Target="../slideLayouts/slideLayout11.xml"/><Relationship Id="rId1" Type="http://schemas.openxmlformats.org/officeDocument/2006/relationships/image" Target="../media/image3.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DC143C"/>
        </a:solidFill>
        <a:effectLst/>
      </p:bgPr>
    </p:bg>
    <p:spTree>
      <p:nvGrpSpPr>
        <p:cNvPr id="53" name="Shape 53"/>
        <p:cNvGrpSpPr/>
        <p:nvPr/>
      </p:nvGrpSpPr>
      <p:grpSpPr>
        <a:xfrm>
          <a:off x="0" y="0"/>
          <a:ext cx="0" cy="0"/>
          <a:chOff x="0" y="0"/>
          <a:chExt cx="0" cy="0"/>
        </a:xfrm>
      </p:grpSpPr>
      <p:pic>
        <p:nvPicPr>
          <p:cNvPr id="2" name="Picture 1"/>
          <p:cNvPicPr/>
          <p:nvPr/>
        </p:nvPicPr>
        <p:blipFill>
          <a:blip r:embed="rId1"/>
          <a:stretch>
            <a:fillRect/>
          </a:stretch>
        </p:blipFill>
        <p:spPr>
          <a:xfrm>
            <a:off x="457200" y="109855"/>
            <a:ext cx="8229600" cy="495871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4" name="Picture 3"/>
          <p:cNvPicPr>
            <a:picLocks noChangeAspect="1"/>
          </p:cNvPicPr>
          <p:nvPr/>
        </p:nvPicPr>
        <p:blipFill>
          <a:blip r:embed="rId1"/>
          <a:stretch>
            <a:fillRect/>
          </a:stretch>
        </p:blipFill>
        <p:spPr>
          <a:xfrm>
            <a:off x="2092960" y="0"/>
            <a:ext cx="4957445" cy="51435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58" name="Shape 58"/>
        <p:cNvGrpSpPr/>
        <p:nvPr/>
      </p:nvGrpSpPr>
      <p:grpSpPr>
        <a:xfrm>
          <a:off x="0" y="0"/>
          <a:ext cx="0" cy="0"/>
          <a:chOff x="0" y="0"/>
          <a:chExt cx="0" cy="0"/>
        </a:xfrm>
      </p:grpSpPr>
      <p:sp>
        <p:nvSpPr>
          <p:cNvPr id="59" name="Google Shape;59;p14"/>
          <p:cNvSpPr txBox="1"/>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GB"/>
              <a:t>Introduction:--</a:t>
            </a:r>
            <a:endParaRPr lang="en-GB"/>
          </a:p>
        </p:txBody>
      </p:sp>
      <p:sp>
        <p:nvSpPr>
          <p:cNvPr id="60" name="Google Shape;60;p14"/>
          <p:cNvSpPr txBox="1"/>
          <p:nvPr>
            <p:ph type="body" idx="1"/>
          </p:nvPr>
        </p:nvSpPr>
        <p:spPr>
          <a:xfrm>
            <a:off x="311700" y="1152475"/>
            <a:ext cx="8520600" cy="3416400"/>
          </a:xfrm>
          <a:prstGeom prst="rect">
            <a:avLst/>
          </a:prstGeom>
        </p:spPr>
        <p:txBody>
          <a:bodyPr spcFirstLastPara="1" wrap="square" lIns="91425" tIns="91425" rIns="91425" bIns="91425" anchor="t" anchorCtr="0">
            <a:normAutofit fontScale="90000" lnSpcReduction="20000"/>
          </a:bodyPr>
          <a:lstStyle/>
          <a:p>
            <a:pPr marL="0" lvl="0" indent="0" algn="l" rtl="0">
              <a:spcBef>
                <a:spcPts val="1100"/>
              </a:spcBef>
              <a:spcAft>
                <a:spcPts val="0"/>
              </a:spcAft>
              <a:buClr>
                <a:schemeClr val="dk1"/>
              </a:buClr>
              <a:buSzPts val="1100"/>
              <a:buFont typeface="Arial" panose="020B0604020202020204"/>
              <a:buNone/>
            </a:pPr>
            <a:r>
              <a:rPr lang="en-US" altLang="en-US" sz="1150">
                <a:solidFill>
                  <a:schemeClr val="dk1"/>
                </a:solidFill>
                <a:latin typeface="Verdana" panose="020B0604030504040204"/>
                <a:ea typeface="Verdana" panose="020B0604030504040204"/>
                <a:cs typeface="Verdana" panose="020B0604030504040204"/>
                <a:sym typeface="Verdana" panose="020B0604030504040204"/>
              </a:rPr>
              <a:t>Pandas is a Python library used for data manipulation and analysis. Pandas provides a convenient way to analyze and clean data.</a:t>
            </a:r>
            <a:endParaRPr lang="en-US" altLang="en-US" sz="1150">
              <a:solidFill>
                <a:schemeClr val="dk1"/>
              </a:solidFill>
              <a:latin typeface="Verdana" panose="020B0604030504040204"/>
              <a:ea typeface="Verdana" panose="020B0604030504040204"/>
              <a:cs typeface="Verdana" panose="020B0604030504040204"/>
              <a:sym typeface="Verdana" panose="020B0604030504040204"/>
            </a:endParaRPr>
          </a:p>
          <a:p>
            <a:pPr marL="0" lvl="0" indent="0" algn="l" rtl="0">
              <a:spcBef>
                <a:spcPts val="1100"/>
              </a:spcBef>
              <a:spcAft>
                <a:spcPts val="0"/>
              </a:spcAft>
              <a:buClr>
                <a:schemeClr val="dk1"/>
              </a:buClr>
              <a:buSzPts val="1100"/>
              <a:buFont typeface="Arial" panose="020B0604020202020204"/>
              <a:buNone/>
            </a:pPr>
            <a:r>
              <a:rPr lang="en-US" altLang="en-US" sz="1150">
                <a:solidFill>
                  <a:schemeClr val="dk1"/>
                </a:solidFill>
                <a:latin typeface="Verdana" panose="020B0604030504040204"/>
                <a:ea typeface="Verdana" panose="020B0604030504040204"/>
                <a:cs typeface="Verdana" panose="020B0604030504040204"/>
                <a:sym typeface="Verdana" panose="020B0604030504040204"/>
              </a:rPr>
              <a:t>The Pandas library introduces two new data structures to Python - Series and DataFrame, both of which are built on top of NumPy.</a:t>
            </a:r>
            <a:endParaRPr lang="en-US" altLang="en-US" sz="1150">
              <a:solidFill>
                <a:schemeClr val="dk1"/>
              </a:solidFill>
              <a:latin typeface="Verdana" panose="020B0604030504040204"/>
              <a:ea typeface="Verdana" panose="020B0604030504040204"/>
              <a:cs typeface="Verdana" panose="020B0604030504040204"/>
              <a:sym typeface="Verdana" panose="020B0604030504040204"/>
            </a:endParaRPr>
          </a:p>
          <a:p>
            <a:pPr marL="0" lvl="0" indent="0" algn="l" rtl="0">
              <a:spcBef>
                <a:spcPts val="1100"/>
              </a:spcBef>
              <a:spcAft>
                <a:spcPts val="0"/>
              </a:spcAft>
              <a:buClr>
                <a:schemeClr val="dk1"/>
              </a:buClr>
              <a:buSzPts val="1100"/>
              <a:buFont typeface="Arial" panose="020B0604020202020204"/>
              <a:buNone/>
            </a:pPr>
            <a:endParaRPr lang="en-US" altLang="en-US" sz="1150">
              <a:solidFill>
                <a:schemeClr val="dk1"/>
              </a:solidFill>
              <a:latin typeface="Verdana" panose="020B0604030504040204"/>
              <a:ea typeface="Verdana" panose="020B0604030504040204"/>
              <a:cs typeface="Verdana" panose="020B0604030504040204"/>
              <a:sym typeface="Verdana" panose="020B0604030504040204"/>
            </a:endParaRPr>
          </a:p>
          <a:p>
            <a:pPr marL="0" lvl="0" indent="0" algn="l" rtl="0">
              <a:spcBef>
                <a:spcPts val="1100"/>
              </a:spcBef>
              <a:spcAft>
                <a:spcPts val="0"/>
              </a:spcAft>
              <a:buClr>
                <a:schemeClr val="dk1"/>
              </a:buClr>
              <a:buSzPts val="1100"/>
              <a:buFont typeface="Arial" panose="020B0604020202020204"/>
              <a:buNone/>
            </a:pPr>
            <a:r>
              <a:rPr lang="en-US" altLang="en-US" sz="1150" b="1">
                <a:solidFill>
                  <a:schemeClr val="dk1"/>
                </a:solidFill>
                <a:latin typeface="Verdana" panose="020B0604030504040204"/>
                <a:ea typeface="Verdana" panose="020B0604030504040204"/>
                <a:cs typeface="Verdana" panose="020B0604030504040204"/>
                <a:sym typeface="Verdana" panose="020B0604030504040204"/>
              </a:rPr>
              <a:t>What is Pandas Used for?</a:t>
            </a:r>
            <a:endParaRPr lang="en-US" altLang="en-US" sz="1150" b="1">
              <a:solidFill>
                <a:schemeClr val="dk1"/>
              </a:solidFill>
              <a:latin typeface="Verdana" panose="020B0604030504040204"/>
              <a:ea typeface="Verdana" panose="020B0604030504040204"/>
              <a:cs typeface="Verdana" panose="020B0604030504040204"/>
              <a:sym typeface="Verdana" panose="020B0604030504040204"/>
            </a:endParaRPr>
          </a:p>
          <a:p>
            <a:pPr marL="0" lvl="0" indent="0" algn="l" rtl="0">
              <a:spcBef>
                <a:spcPts val="1100"/>
              </a:spcBef>
              <a:spcAft>
                <a:spcPts val="0"/>
              </a:spcAft>
              <a:buClr>
                <a:schemeClr val="dk1"/>
              </a:buClr>
              <a:buSzPts val="1100"/>
              <a:buFont typeface="Arial" panose="020B0604020202020204"/>
              <a:buNone/>
            </a:pPr>
            <a:r>
              <a:rPr lang="en-US" altLang="en-US" sz="1150">
                <a:solidFill>
                  <a:schemeClr val="dk1"/>
                </a:solidFill>
                <a:latin typeface="Verdana" panose="020B0604030504040204"/>
                <a:ea typeface="Verdana" panose="020B0604030504040204"/>
                <a:cs typeface="Verdana" panose="020B0604030504040204"/>
                <a:sym typeface="Verdana" panose="020B0604030504040204"/>
              </a:rPr>
              <a:t>Pandas is a powerful library generally used for:</a:t>
            </a:r>
            <a:endParaRPr lang="en-US" altLang="en-US" sz="1150">
              <a:solidFill>
                <a:schemeClr val="dk1"/>
              </a:solidFill>
              <a:latin typeface="Verdana" panose="020B0604030504040204"/>
              <a:ea typeface="Verdana" panose="020B0604030504040204"/>
              <a:cs typeface="Verdana" panose="020B0604030504040204"/>
              <a:sym typeface="Verdana" panose="020B0604030504040204"/>
            </a:endParaRPr>
          </a:p>
          <a:p>
            <a:pPr marL="0" lvl="0" indent="0" algn="l" rtl="0">
              <a:spcBef>
                <a:spcPts val="1100"/>
              </a:spcBef>
              <a:spcAft>
                <a:spcPts val="0"/>
              </a:spcAft>
              <a:buClr>
                <a:schemeClr val="dk1"/>
              </a:buClr>
              <a:buSzPts val="1100"/>
              <a:buFont typeface="Arial" panose="020B0604020202020204"/>
              <a:buNone/>
            </a:pPr>
            <a:endParaRPr lang="en-US" altLang="en-US" sz="1150">
              <a:solidFill>
                <a:schemeClr val="dk1"/>
              </a:solidFill>
              <a:latin typeface="Verdana" panose="020B0604030504040204"/>
              <a:ea typeface="Verdana" panose="020B0604030504040204"/>
              <a:cs typeface="Verdana" panose="020B0604030504040204"/>
              <a:sym typeface="Verdana" panose="020B0604030504040204"/>
            </a:endParaRPr>
          </a:p>
          <a:p>
            <a:pPr marL="0" lvl="0" indent="0" algn="l" rtl="0">
              <a:spcBef>
                <a:spcPts val="1100"/>
              </a:spcBef>
              <a:spcAft>
                <a:spcPts val="0"/>
              </a:spcAft>
              <a:buClr>
                <a:schemeClr val="dk1"/>
              </a:buClr>
              <a:buSzPts val="1100"/>
              <a:buFont typeface="Arial" panose="020B0604020202020204"/>
              <a:buNone/>
            </a:pPr>
            <a:r>
              <a:rPr lang="en-US" altLang="en-US" sz="1150">
                <a:solidFill>
                  <a:schemeClr val="dk1"/>
                </a:solidFill>
                <a:latin typeface="Verdana" panose="020B0604030504040204"/>
                <a:ea typeface="Verdana" panose="020B0604030504040204"/>
                <a:cs typeface="Verdana" panose="020B0604030504040204"/>
                <a:sym typeface="Verdana" panose="020B0604030504040204"/>
              </a:rPr>
              <a:t>- Data Cleaning</a:t>
            </a:r>
            <a:endParaRPr lang="en-US" altLang="en-US" sz="1150">
              <a:solidFill>
                <a:schemeClr val="dk1"/>
              </a:solidFill>
              <a:latin typeface="Verdana" panose="020B0604030504040204"/>
              <a:ea typeface="Verdana" panose="020B0604030504040204"/>
              <a:cs typeface="Verdana" panose="020B0604030504040204"/>
              <a:sym typeface="Verdana" panose="020B0604030504040204"/>
            </a:endParaRPr>
          </a:p>
          <a:p>
            <a:pPr marL="0" lvl="0" indent="0" algn="l" rtl="0">
              <a:spcBef>
                <a:spcPts val="1100"/>
              </a:spcBef>
              <a:spcAft>
                <a:spcPts val="0"/>
              </a:spcAft>
              <a:buClr>
                <a:schemeClr val="dk1"/>
              </a:buClr>
              <a:buSzPts val="1100"/>
              <a:buFont typeface="Arial" panose="020B0604020202020204"/>
              <a:buNone/>
            </a:pPr>
            <a:r>
              <a:rPr lang="en-US" altLang="en-US" sz="1150">
                <a:solidFill>
                  <a:schemeClr val="dk1"/>
                </a:solidFill>
                <a:latin typeface="Verdana" panose="020B0604030504040204"/>
                <a:ea typeface="Verdana" panose="020B0604030504040204"/>
                <a:cs typeface="Verdana" panose="020B0604030504040204"/>
                <a:sym typeface="Verdana" panose="020B0604030504040204"/>
              </a:rPr>
              <a:t>- Data Transformation</a:t>
            </a:r>
            <a:endParaRPr lang="en-US" altLang="en-US" sz="1150">
              <a:solidFill>
                <a:schemeClr val="dk1"/>
              </a:solidFill>
              <a:latin typeface="Verdana" panose="020B0604030504040204"/>
              <a:ea typeface="Verdana" panose="020B0604030504040204"/>
              <a:cs typeface="Verdana" panose="020B0604030504040204"/>
              <a:sym typeface="Verdana" panose="020B0604030504040204"/>
            </a:endParaRPr>
          </a:p>
          <a:p>
            <a:pPr marL="0" lvl="0" indent="0" algn="l" rtl="0">
              <a:spcBef>
                <a:spcPts val="1100"/>
              </a:spcBef>
              <a:spcAft>
                <a:spcPts val="0"/>
              </a:spcAft>
              <a:buClr>
                <a:schemeClr val="dk1"/>
              </a:buClr>
              <a:buSzPts val="1100"/>
              <a:buFont typeface="Arial" panose="020B0604020202020204"/>
              <a:buNone/>
            </a:pPr>
            <a:r>
              <a:rPr lang="en-US" altLang="en-US" sz="1150">
                <a:solidFill>
                  <a:schemeClr val="dk1"/>
                </a:solidFill>
                <a:latin typeface="Verdana" panose="020B0604030504040204"/>
                <a:ea typeface="Verdana" panose="020B0604030504040204"/>
                <a:cs typeface="Verdana" panose="020B0604030504040204"/>
                <a:sym typeface="Verdana" panose="020B0604030504040204"/>
              </a:rPr>
              <a:t>- Data Analysis</a:t>
            </a:r>
            <a:endParaRPr lang="en-US" altLang="en-US" sz="1150">
              <a:solidFill>
                <a:schemeClr val="dk1"/>
              </a:solidFill>
              <a:latin typeface="Verdana" panose="020B0604030504040204"/>
              <a:ea typeface="Verdana" panose="020B0604030504040204"/>
              <a:cs typeface="Verdana" panose="020B0604030504040204"/>
              <a:sym typeface="Verdana" panose="020B0604030504040204"/>
            </a:endParaRPr>
          </a:p>
          <a:p>
            <a:pPr marL="0" lvl="0" indent="0" algn="l" rtl="0">
              <a:spcBef>
                <a:spcPts val="1100"/>
              </a:spcBef>
              <a:spcAft>
                <a:spcPts val="0"/>
              </a:spcAft>
              <a:buClr>
                <a:schemeClr val="dk1"/>
              </a:buClr>
              <a:buSzPts val="1100"/>
              <a:buFont typeface="Arial" panose="020B0604020202020204"/>
              <a:buNone/>
            </a:pPr>
            <a:r>
              <a:rPr lang="en-US" altLang="en-US" sz="1150">
                <a:solidFill>
                  <a:schemeClr val="dk1"/>
                </a:solidFill>
                <a:latin typeface="Verdana" panose="020B0604030504040204"/>
                <a:ea typeface="Verdana" panose="020B0604030504040204"/>
                <a:cs typeface="Verdana" panose="020B0604030504040204"/>
                <a:sym typeface="Verdana" panose="020B0604030504040204"/>
              </a:rPr>
              <a:t>- Machine Learning</a:t>
            </a:r>
            <a:endParaRPr lang="en-US" altLang="en-US" sz="1150">
              <a:solidFill>
                <a:schemeClr val="dk1"/>
              </a:solidFill>
              <a:latin typeface="Verdana" panose="020B0604030504040204"/>
              <a:ea typeface="Verdana" panose="020B0604030504040204"/>
              <a:cs typeface="Verdana" panose="020B0604030504040204"/>
              <a:sym typeface="Verdana" panose="020B0604030504040204"/>
            </a:endParaRPr>
          </a:p>
          <a:p>
            <a:pPr marL="0" lvl="0" indent="0" algn="l" rtl="0">
              <a:spcBef>
                <a:spcPts val="1100"/>
              </a:spcBef>
              <a:spcAft>
                <a:spcPts val="0"/>
              </a:spcAft>
              <a:buClr>
                <a:schemeClr val="dk1"/>
              </a:buClr>
              <a:buSzPts val="1100"/>
              <a:buFont typeface="Arial" panose="020B0604020202020204"/>
              <a:buNone/>
            </a:pPr>
            <a:r>
              <a:rPr lang="en-US" altLang="en-US" sz="1150">
                <a:solidFill>
                  <a:schemeClr val="dk1"/>
                </a:solidFill>
                <a:latin typeface="Verdana" panose="020B0604030504040204"/>
                <a:ea typeface="Verdana" panose="020B0604030504040204"/>
                <a:cs typeface="Verdana" panose="020B0604030504040204"/>
                <a:sym typeface="Verdana" panose="020B0604030504040204"/>
              </a:rPr>
              <a:t>- Data Visualization</a:t>
            </a:r>
            <a:endParaRPr lang="en-US" altLang="en-US" sz="1150">
              <a:solidFill>
                <a:schemeClr val="dk1"/>
              </a:solidFill>
              <a:latin typeface="Verdana" panose="020B0604030504040204"/>
              <a:ea typeface="Verdana" panose="020B0604030504040204"/>
              <a:cs typeface="Verdana" panose="020B0604030504040204"/>
              <a:sym typeface="Verdana" panose="020B0604030504040204"/>
            </a:endParaRPr>
          </a:p>
          <a:p>
            <a:pPr marL="0" lvl="0" indent="0" algn="l" rtl="0">
              <a:spcBef>
                <a:spcPts val="1400"/>
              </a:spcBef>
              <a:spcAft>
                <a:spcPts val="0"/>
              </a:spcAft>
              <a:buNone/>
            </a:pPr>
            <a:endParaRPr lang="en-US" altLang="en-US" sz="1150">
              <a:solidFill>
                <a:schemeClr val="dk1"/>
              </a:solidFill>
              <a:latin typeface="Verdana" panose="020B0604030504040204"/>
              <a:ea typeface="Verdana" panose="020B0604030504040204"/>
              <a:cs typeface="Verdana" panose="020B0604030504040204"/>
              <a:sym typeface="Verdana" panose="020B0604030504040204"/>
            </a:endParaRPr>
          </a:p>
          <a:p>
            <a:pPr marL="114300" marR="114300" lvl="0" indent="0" algn="l" rtl="0">
              <a:spcBef>
                <a:spcPts val="1200"/>
              </a:spcBef>
              <a:spcAft>
                <a:spcPts val="0"/>
              </a:spcAft>
              <a:buClr>
                <a:schemeClr val="dk1"/>
              </a:buClr>
              <a:buSzPts val="1100"/>
              <a:buFont typeface="Arial" panose="020B0604020202020204"/>
              <a:buNone/>
            </a:pPr>
            <a:endParaRPr sz="1150">
              <a:solidFill>
                <a:schemeClr val="dk1"/>
              </a:solidFill>
              <a:latin typeface="Verdana" panose="020B0604030504040204"/>
              <a:ea typeface="Verdana" panose="020B0604030504040204"/>
              <a:cs typeface="Verdana" panose="020B0604030504040204"/>
              <a:sym typeface="Verdana" panose="020B0604030504040204"/>
            </a:endParaRPr>
          </a:p>
          <a:p>
            <a:pPr marL="0" lvl="0" indent="0" algn="l" rtl="0">
              <a:spcBef>
                <a:spcPts val="1200"/>
              </a:spcBef>
              <a:spcAft>
                <a:spcPts val="1200"/>
              </a:spcAft>
              <a:buNone/>
            </a:p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Box 3"/>
          <p:cNvSpPr txBox="1"/>
          <p:nvPr/>
        </p:nvSpPr>
        <p:spPr>
          <a:xfrm>
            <a:off x="118110" y="0"/>
            <a:ext cx="8300720" cy="5015865"/>
          </a:xfrm>
          <a:prstGeom prst="rect">
            <a:avLst/>
          </a:prstGeom>
        </p:spPr>
        <p:txBody>
          <a:bodyPr wrap="square">
            <a:spAutoFit/>
          </a:bodyPr>
          <a:p>
            <a:pPr>
              <a:lnSpc>
                <a:spcPct val="100000"/>
              </a:lnSpc>
            </a:pPr>
            <a:r>
              <a:rPr lang="en-US" altLang="zh-CN" sz="1600" b="1">
                <a:solidFill>
                  <a:schemeClr val="tx1"/>
                </a:solidFill>
                <a:latin typeface="Arial" panose="020B0604020202020204" pitchFamily="34" charset="0"/>
                <a:ea typeface="Consolas" panose="020B0609020204030204"/>
                <a:cs typeface="Arial" panose="020B0604020202020204" pitchFamily="34" charset="0"/>
              </a:rPr>
              <a:t>### Why Use Pandas?</a:t>
            </a:r>
            <a:endParaRPr lang="en-US" altLang="zh-CN" sz="1600" b="1">
              <a:solidFill>
                <a:schemeClr val="tx1"/>
              </a:solidFill>
              <a:latin typeface="Arial" panose="020B0604020202020204" pitchFamily="34" charset="0"/>
              <a:ea typeface="Consolas" panose="020B0609020204030204"/>
              <a:cs typeface="Arial" panose="020B0604020202020204" pitchFamily="34" charset="0"/>
            </a:endParaRPr>
          </a:p>
          <a:p>
            <a:pPr>
              <a:lnSpc>
                <a:spcPct val="100000"/>
              </a:lnSpc>
            </a:pPr>
            <a:r>
              <a:rPr lang="en-US" altLang="zh-CN" sz="1600" b="0">
                <a:solidFill>
                  <a:schemeClr val="tx1"/>
                </a:solidFill>
                <a:latin typeface="Arial" panose="020B0604020202020204" pitchFamily="34" charset="0"/>
                <a:ea typeface="Consolas" panose="020B0609020204030204"/>
                <a:cs typeface="Arial" panose="020B0604020202020204" pitchFamily="34" charset="0"/>
              </a:rPr>
              <a:t>Some of the reasons why we should use Pandas are as follows:</a:t>
            </a:r>
            <a:endParaRPr lang="en-US" altLang="zh-CN" sz="1600" b="0">
              <a:solidFill>
                <a:schemeClr val="tx1"/>
              </a:solidFill>
              <a:latin typeface="Arial" panose="020B0604020202020204" pitchFamily="34" charset="0"/>
              <a:ea typeface="Consolas" panose="020B0609020204030204"/>
              <a:cs typeface="Arial" panose="020B0604020202020204" pitchFamily="34" charset="0"/>
            </a:endParaRPr>
          </a:p>
          <a:p>
            <a:pPr>
              <a:lnSpc>
                <a:spcPct val="100000"/>
              </a:lnSpc>
            </a:pPr>
            <a:r>
              <a:rPr lang="en-US" altLang="zh-CN" sz="1600" b="0">
                <a:solidFill>
                  <a:schemeClr val="tx1"/>
                </a:solidFill>
                <a:latin typeface="Arial" panose="020B0604020202020204" pitchFamily="34" charset="0"/>
                <a:ea typeface="Consolas" panose="020B0609020204030204"/>
                <a:cs typeface="Arial" panose="020B0604020202020204" pitchFamily="34" charset="0"/>
              </a:rPr>
              <a:t>1.</a:t>
            </a:r>
            <a:r>
              <a:rPr lang="en-US" altLang="zh-CN" sz="1600" b="1">
                <a:solidFill>
                  <a:schemeClr val="tx1"/>
                </a:solidFill>
                <a:latin typeface="Arial" panose="020B0604020202020204" pitchFamily="34" charset="0"/>
                <a:ea typeface="Consolas" panose="020B0609020204030204"/>
                <a:cs typeface="Arial" panose="020B0604020202020204" pitchFamily="34" charset="0"/>
              </a:rPr>
              <a:t>**Handle Large Data Efficiently**</a:t>
            </a:r>
            <a:endParaRPr lang="en-US" altLang="zh-CN" sz="1600" b="1">
              <a:solidFill>
                <a:schemeClr val="tx1"/>
              </a:solidFill>
              <a:latin typeface="Arial" panose="020B0604020202020204" pitchFamily="34" charset="0"/>
              <a:ea typeface="Consolas" panose="020B0609020204030204"/>
              <a:cs typeface="Arial" panose="020B0604020202020204" pitchFamily="34" charset="0"/>
            </a:endParaRPr>
          </a:p>
          <a:p>
            <a:pPr>
              <a:lnSpc>
                <a:spcPct val="100000"/>
              </a:lnSpc>
            </a:pPr>
            <a:r>
              <a:rPr lang="en-US" altLang="zh-CN" sz="1600" b="0">
                <a:solidFill>
                  <a:schemeClr val="tx1"/>
                </a:solidFill>
                <a:latin typeface="Arial" panose="020B0604020202020204" pitchFamily="34" charset="0"/>
                <a:ea typeface="Consolas" panose="020B0609020204030204"/>
                <a:cs typeface="Arial" panose="020B0604020202020204" pitchFamily="34" charset="0"/>
              </a:rPr>
              <a:t>   Pandas is designed for handling large datasets. It provides powerful tools that simplify tasks like data filtering, transforming, and merging.</a:t>
            </a:r>
            <a:endParaRPr lang="en-US" altLang="zh-CN" sz="1600" b="0">
              <a:solidFill>
                <a:schemeClr val="tx1"/>
              </a:solidFill>
              <a:latin typeface="Arial" panose="020B0604020202020204" pitchFamily="34" charset="0"/>
              <a:ea typeface="Consolas" panose="020B0609020204030204"/>
              <a:cs typeface="Arial" panose="020B0604020202020204" pitchFamily="34" charset="0"/>
            </a:endParaRPr>
          </a:p>
          <a:p>
            <a:pPr>
              <a:lnSpc>
                <a:spcPct val="100000"/>
              </a:lnSpc>
            </a:pPr>
            <a:r>
              <a:rPr lang="en-US" altLang="zh-CN" sz="1600" b="0">
                <a:solidFill>
                  <a:schemeClr val="tx1"/>
                </a:solidFill>
                <a:latin typeface="Arial" panose="020B0604020202020204" pitchFamily="34" charset="0"/>
                <a:ea typeface="Consolas" panose="020B0609020204030204"/>
                <a:cs typeface="Arial" panose="020B0604020202020204" pitchFamily="34" charset="0"/>
              </a:rPr>
              <a:t>   It also provides built-in functions to work with formats like CSV, JSON, TXT, Excel, and SQL databases.</a:t>
            </a:r>
            <a:endParaRPr lang="en-US" altLang="zh-CN" sz="1600" b="0">
              <a:solidFill>
                <a:schemeClr val="tx1"/>
              </a:solidFill>
              <a:latin typeface="Arial" panose="020B0604020202020204" pitchFamily="34" charset="0"/>
              <a:ea typeface="Consolas" panose="020B0609020204030204"/>
              <a:cs typeface="Arial" panose="020B0604020202020204" pitchFamily="34" charset="0"/>
            </a:endParaRPr>
          </a:p>
          <a:p>
            <a:pPr>
              <a:lnSpc>
                <a:spcPct val="100000"/>
              </a:lnSpc>
            </a:pPr>
            <a:r>
              <a:rPr lang="en-US" altLang="zh-CN" sz="1600" b="0">
                <a:solidFill>
                  <a:schemeClr val="tx1"/>
                </a:solidFill>
                <a:latin typeface="Arial" panose="020B0604020202020204" pitchFamily="34" charset="0"/>
                <a:ea typeface="Consolas" panose="020B0609020204030204"/>
                <a:cs typeface="Arial" panose="020B0604020202020204" pitchFamily="34" charset="0"/>
              </a:rPr>
              <a:t>2.</a:t>
            </a:r>
            <a:r>
              <a:rPr lang="en-US" altLang="zh-CN" sz="1600" b="1">
                <a:solidFill>
                  <a:schemeClr val="tx1"/>
                </a:solidFill>
                <a:latin typeface="Arial" panose="020B0604020202020204" pitchFamily="34" charset="0"/>
                <a:ea typeface="Consolas" panose="020B0609020204030204"/>
                <a:cs typeface="Arial" panose="020B0604020202020204" pitchFamily="34" charset="0"/>
              </a:rPr>
              <a:t>**Tabular Data Representation**</a:t>
            </a:r>
            <a:endParaRPr lang="en-US" altLang="zh-CN" sz="1600" b="1">
              <a:solidFill>
                <a:schemeClr val="tx1"/>
              </a:solidFill>
              <a:latin typeface="Arial" panose="020B0604020202020204" pitchFamily="34" charset="0"/>
              <a:ea typeface="Consolas" panose="020B0609020204030204"/>
              <a:cs typeface="Arial" panose="020B0604020202020204" pitchFamily="34" charset="0"/>
            </a:endParaRPr>
          </a:p>
          <a:p>
            <a:pPr>
              <a:lnSpc>
                <a:spcPct val="100000"/>
              </a:lnSpc>
            </a:pPr>
            <a:r>
              <a:rPr lang="en-US" altLang="zh-CN" sz="1600" b="0">
                <a:solidFill>
                  <a:schemeClr val="tx1"/>
                </a:solidFill>
                <a:latin typeface="Arial" panose="020B0604020202020204" pitchFamily="34" charset="0"/>
                <a:ea typeface="Consolas" panose="020B0609020204030204"/>
                <a:cs typeface="Arial" panose="020B0604020202020204" pitchFamily="34" charset="0"/>
              </a:rPr>
              <a:t>   Pandas DataFrames, the primary data structure of Pandas, handle data in tabular format. This allows easy indexing, selecting, replacing, and slicing of data.</a:t>
            </a:r>
            <a:endParaRPr lang="en-US" altLang="zh-CN" sz="1600" b="0">
              <a:solidFill>
                <a:schemeClr val="tx1"/>
              </a:solidFill>
              <a:latin typeface="Arial" panose="020B0604020202020204" pitchFamily="34" charset="0"/>
              <a:ea typeface="Consolas" panose="020B0609020204030204"/>
              <a:cs typeface="Arial" panose="020B0604020202020204" pitchFamily="34" charset="0"/>
            </a:endParaRPr>
          </a:p>
          <a:p>
            <a:pPr>
              <a:lnSpc>
                <a:spcPct val="100000"/>
              </a:lnSpc>
            </a:pPr>
            <a:r>
              <a:rPr lang="en-US" altLang="zh-CN" sz="1600" b="0">
                <a:solidFill>
                  <a:schemeClr val="tx1"/>
                </a:solidFill>
                <a:latin typeface="Arial" panose="020B0604020202020204" pitchFamily="34" charset="0"/>
                <a:ea typeface="Consolas" panose="020B0609020204030204"/>
                <a:cs typeface="Arial" panose="020B0604020202020204" pitchFamily="34" charset="0"/>
              </a:rPr>
              <a:t>3.</a:t>
            </a:r>
            <a:r>
              <a:rPr lang="en-US" altLang="zh-CN" sz="1600" b="1">
                <a:solidFill>
                  <a:schemeClr val="tx1"/>
                </a:solidFill>
                <a:latin typeface="Arial" panose="020B0604020202020204" pitchFamily="34" charset="0"/>
                <a:ea typeface="Consolas" panose="020B0609020204030204"/>
                <a:cs typeface="Arial" panose="020B0604020202020204" pitchFamily="34" charset="0"/>
              </a:rPr>
              <a:t>**Data Cleaning and Preprocessing**</a:t>
            </a:r>
            <a:endParaRPr lang="en-US" altLang="zh-CN" sz="1600" b="1">
              <a:solidFill>
                <a:schemeClr val="tx1"/>
              </a:solidFill>
              <a:latin typeface="Arial" panose="020B0604020202020204" pitchFamily="34" charset="0"/>
              <a:ea typeface="Consolas" panose="020B0609020204030204"/>
              <a:cs typeface="Arial" panose="020B0604020202020204" pitchFamily="34" charset="0"/>
            </a:endParaRPr>
          </a:p>
          <a:p>
            <a:pPr>
              <a:lnSpc>
                <a:spcPct val="100000"/>
              </a:lnSpc>
            </a:pPr>
            <a:r>
              <a:rPr lang="en-US" altLang="zh-CN" sz="1600" b="0">
                <a:solidFill>
                  <a:schemeClr val="tx1"/>
                </a:solidFill>
                <a:latin typeface="Arial" panose="020B0604020202020204" pitchFamily="34" charset="0"/>
                <a:ea typeface="Consolas" panose="020B0609020204030204"/>
                <a:cs typeface="Arial" panose="020B0604020202020204" pitchFamily="34" charset="0"/>
              </a:rPr>
              <a:t>   Data cleaning and preprocessing are essential steps in the data analysis pipeline, and Pandas provides powerful tools to facilitate these tasks. It has methods for handling missing values, removing duplicates, handling outliers, data normalization, etc.</a:t>
            </a:r>
            <a:endParaRPr lang="en-US" altLang="zh-CN" sz="1600" b="0">
              <a:solidFill>
                <a:schemeClr val="tx1"/>
              </a:solidFill>
              <a:latin typeface="Arial" panose="020B0604020202020204" pitchFamily="34" charset="0"/>
              <a:ea typeface="Consolas" panose="020B0609020204030204"/>
              <a:cs typeface="Arial" panose="020B0604020202020204" pitchFamily="34" charset="0"/>
            </a:endParaRPr>
          </a:p>
          <a:p>
            <a:pPr>
              <a:lnSpc>
                <a:spcPct val="100000"/>
              </a:lnSpc>
            </a:pPr>
            <a:r>
              <a:rPr lang="en-US" altLang="zh-CN" sz="1600" b="0">
                <a:solidFill>
                  <a:schemeClr val="tx1"/>
                </a:solidFill>
                <a:latin typeface="Arial" panose="020B0604020202020204" pitchFamily="34" charset="0"/>
                <a:ea typeface="Consolas" panose="020B0609020204030204"/>
                <a:cs typeface="Arial" panose="020B0604020202020204" pitchFamily="34" charset="0"/>
              </a:rPr>
              <a:t>4.</a:t>
            </a:r>
            <a:r>
              <a:rPr lang="en-US" altLang="zh-CN" sz="1600" b="1">
                <a:solidFill>
                  <a:schemeClr val="tx1"/>
                </a:solidFill>
                <a:latin typeface="Arial" panose="020B0604020202020204" pitchFamily="34" charset="0"/>
                <a:ea typeface="Consolas" panose="020B0609020204030204"/>
                <a:cs typeface="Arial" panose="020B0604020202020204" pitchFamily="34" charset="0"/>
              </a:rPr>
              <a:t>**Time Series Functionality**</a:t>
            </a:r>
            <a:endParaRPr lang="en-US" altLang="zh-CN" sz="1600" b="1">
              <a:solidFill>
                <a:schemeClr val="tx1"/>
              </a:solidFill>
              <a:latin typeface="Arial" panose="020B0604020202020204" pitchFamily="34" charset="0"/>
              <a:ea typeface="Consolas" panose="020B0609020204030204"/>
              <a:cs typeface="Arial" panose="020B0604020202020204" pitchFamily="34" charset="0"/>
            </a:endParaRPr>
          </a:p>
          <a:p>
            <a:pPr>
              <a:lnSpc>
                <a:spcPct val="100000"/>
              </a:lnSpc>
            </a:pPr>
            <a:r>
              <a:rPr lang="en-US" altLang="zh-CN" sz="1600" b="0">
                <a:solidFill>
                  <a:schemeClr val="tx1"/>
                </a:solidFill>
                <a:latin typeface="Arial" panose="020B0604020202020204" pitchFamily="34" charset="0"/>
                <a:ea typeface="Consolas" panose="020B0609020204030204"/>
                <a:cs typeface="Arial" panose="020B0604020202020204" pitchFamily="34" charset="0"/>
              </a:rPr>
              <a:t>   Pandas contains an extensive set of tools for working with dates, times, and time-indexed data as it was initially developed for financial modeling.</a:t>
            </a:r>
            <a:endParaRPr lang="en-US" altLang="zh-CN" sz="1600" b="0">
              <a:solidFill>
                <a:schemeClr val="tx1"/>
              </a:solidFill>
              <a:latin typeface="Arial" panose="020B0604020202020204" pitchFamily="34" charset="0"/>
              <a:ea typeface="Consolas" panose="020B0609020204030204"/>
              <a:cs typeface="Arial" panose="020B0604020202020204" pitchFamily="34" charset="0"/>
            </a:endParaRPr>
          </a:p>
          <a:p>
            <a:pPr>
              <a:lnSpc>
                <a:spcPct val="100000"/>
              </a:lnSpc>
            </a:pPr>
            <a:r>
              <a:rPr lang="en-US" altLang="zh-CN" sz="1600" b="0">
                <a:solidFill>
                  <a:schemeClr val="tx1"/>
                </a:solidFill>
                <a:latin typeface="Arial" panose="020B0604020202020204" pitchFamily="34" charset="0"/>
                <a:ea typeface="Consolas" panose="020B0609020204030204"/>
                <a:cs typeface="Arial" panose="020B0604020202020204" pitchFamily="34" charset="0"/>
              </a:rPr>
              <a:t>5.</a:t>
            </a:r>
            <a:r>
              <a:rPr lang="en-US" altLang="zh-CN" sz="1600" b="1">
                <a:solidFill>
                  <a:schemeClr val="tx1"/>
                </a:solidFill>
                <a:latin typeface="Arial" panose="020B0604020202020204" pitchFamily="34" charset="0"/>
                <a:ea typeface="Consolas" panose="020B0609020204030204"/>
                <a:cs typeface="Arial" panose="020B0604020202020204" pitchFamily="34" charset="0"/>
              </a:rPr>
              <a:t>**Free and Open-Source**</a:t>
            </a:r>
            <a:endParaRPr lang="en-US" altLang="zh-CN" sz="1600" b="1">
              <a:solidFill>
                <a:schemeClr val="tx1"/>
              </a:solidFill>
              <a:latin typeface="Arial" panose="020B0604020202020204" pitchFamily="34" charset="0"/>
              <a:ea typeface="Consolas" panose="020B0609020204030204"/>
              <a:cs typeface="Arial" panose="020B0604020202020204" pitchFamily="34" charset="0"/>
            </a:endParaRPr>
          </a:p>
          <a:p>
            <a:pPr>
              <a:lnSpc>
                <a:spcPct val="100000"/>
              </a:lnSpc>
            </a:pPr>
            <a:r>
              <a:rPr lang="en-US" altLang="zh-CN" sz="1600" b="0">
                <a:solidFill>
                  <a:schemeClr val="tx1"/>
                </a:solidFill>
                <a:latin typeface="Arial" panose="020B0604020202020204" pitchFamily="34" charset="0"/>
                <a:ea typeface="Consolas" panose="020B0609020204030204"/>
                <a:cs typeface="Arial" panose="020B0604020202020204" pitchFamily="34" charset="0"/>
              </a:rPr>
              <a:t>   Pandas follows the same principles as Python, allowing you to use and distribute Pandas for free, even for commercial use.</a:t>
            </a:r>
            <a:endParaRPr lang="en-US" altLang="zh-CN" sz="1600" b="0">
              <a:solidFill>
                <a:schemeClr val="tx1"/>
              </a:solidFill>
              <a:latin typeface="Arial" panose="020B0604020202020204" pitchFamily="34" charset="0"/>
              <a:ea typeface="Consolas" panose="020B0609020204030204"/>
              <a:cs typeface="Arial" panose="020B0604020202020204" pitchFamily="34"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161925" y="0"/>
            <a:ext cx="8370570" cy="3538220"/>
          </a:xfrm>
          <a:prstGeom prst="rect">
            <a:avLst/>
          </a:prstGeom>
        </p:spPr>
        <p:txBody>
          <a:bodyPr wrap="square">
            <a:spAutoFit/>
          </a:bodyPr>
          <a:p>
            <a:pPr>
              <a:lnSpc>
                <a:spcPct val="100000"/>
              </a:lnSpc>
            </a:pPr>
            <a:r>
              <a:rPr lang="en-US" altLang="zh-CN" sz="1600" b="1">
                <a:solidFill>
                  <a:schemeClr val="tx1"/>
                </a:solidFill>
                <a:latin typeface="Arial" panose="020B0604020202020204" pitchFamily="34" charset="0"/>
                <a:ea typeface="Consolas" panose="020B0609020204030204"/>
                <a:cs typeface="Arial" panose="020B0604020202020204" pitchFamily="34" charset="0"/>
              </a:rPr>
              <a:t>### Install Pandas</a:t>
            </a:r>
            <a:endParaRPr lang="en-US" altLang="zh-CN" sz="1600" b="1">
              <a:solidFill>
                <a:schemeClr val="tx1"/>
              </a:solidFill>
              <a:latin typeface="Arial" panose="020B0604020202020204" pitchFamily="34" charset="0"/>
              <a:ea typeface="Consolas" panose="020B0609020204030204"/>
              <a:cs typeface="Arial" panose="020B0604020202020204" pitchFamily="34" charset="0"/>
            </a:endParaRPr>
          </a:p>
          <a:p>
            <a:pPr>
              <a:lnSpc>
                <a:spcPct val="100000"/>
              </a:lnSpc>
            </a:pPr>
            <a:r>
              <a:rPr lang="en-US" altLang="zh-CN" sz="1600" b="0">
                <a:solidFill>
                  <a:schemeClr val="tx1"/>
                </a:solidFill>
                <a:latin typeface="Arial" panose="020B0604020202020204" pitchFamily="34" charset="0"/>
                <a:ea typeface="Consolas" panose="020B0609020204030204"/>
                <a:cs typeface="Arial" panose="020B0604020202020204" pitchFamily="34" charset="0"/>
              </a:rPr>
              <a:t>To install pandas, you need Python and PIP installed on your system. If you have Python and PIP installed already, you can install pandas by entering the following command in the terminal:</a:t>
            </a:r>
            <a:endParaRPr lang="en-US" altLang="zh-CN" sz="1600" b="0">
              <a:solidFill>
                <a:schemeClr val="tx1"/>
              </a:solidFill>
              <a:latin typeface="Arial" panose="020B0604020202020204" pitchFamily="34" charset="0"/>
              <a:ea typeface="Consolas" panose="020B0609020204030204"/>
              <a:cs typeface="Arial" panose="020B0604020202020204" pitchFamily="34" charset="0"/>
            </a:endParaRPr>
          </a:p>
          <a:p>
            <a:pPr>
              <a:lnSpc>
                <a:spcPct val="100000"/>
              </a:lnSpc>
            </a:pPr>
            <a:r>
              <a:rPr lang="en-US" altLang="zh-CN" sz="1600" b="0">
                <a:solidFill>
                  <a:schemeClr val="tx1"/>
                </a:solidFill>
                <a:latin typeface="Arial" panose="020B0604020202020204" pitchFamily="34" charset="0"/>
                <a:ea typeface="Consolas" panose="020B0609020204030204"/>
                <a:cs typeface="Arial" panose="020B0604020202020204" pitchFamily="34" charset="0"/>
              </a:rPr>
              <a:t>```bash</a:t>
            </a:r>
            <a:endParaRPr lang="en-US" altLang="zh-CN" sz="1600" b="0">
              <a:solidFill>
                <a:schemeClr val="tx1"/>
              </a:solidFill>
              <a:latin typeface="Arial" panose="020B0604020202020204" pitchFamily="34" charset="0"/>
              <a:ea typeface="Consolas" panose="020B0609020204030204"/>
              <a:cs typeface="Arial" panose="020B0604020202020204" pitchFamily="34" charset="0"/>
            </a:endParaRPr>
          </a:p>
          <a:p>
            <a:pPr>
              <a:lnSpc>
                <a:spcPct val="100000"/>
              </a:lnSpc>
            </a:pPr>
            <a:r>
              <a:rPr lang="en-US" altLang="zh-CN" sz="1600" b="0">
                <a:solidFill>
                  <a:schemeClr val="tx1"/>
                </a:solidFill>
                <a:latin typeface="Arial" panose="020B0604020202020204" pitchFamily="34" charset="0"/>
                <a:ea typeface="Consolas" panose="020B0609020204030204"/>
                <a:cs typeface="Arial" panose="020B0604020202020204" pitchFamily="34" charset="0"/>
              </a:rPr>
              <a:t>pipinstallpandas</a:t>
            </a:r>
            <a:endParaRPr lang="en-US" altLang="zh-CN" sz="1600" b="0">
              <a:solidFill>
                <a:schemeClr val="tx1"/>
              </a:solidFill>
              <a:latin typeface="Arial" panose="020B0604020202020204" pitchFamily="34" charset="0"/>
              <a:ea typeface="Consolas" panose="020B0609020204030204"/>
              <a:cs typeface="Arial" panose="020B0604020202020204" pitchFamily="34" charset="0"/>
            </a:endParaRPr>
          </a:p>
          <a:p>
            <a:pPr>
              <a:lnSpc>
                <a:spcPct val="100000"/>
              </a:lnSpc>
            </a:pPr>
            <a:r>
              <a:rPr lang="en-US" altLang="zh-CN" sz="1600" b="0">
                <a:solidFill>
                  <a:schemeClr val="tx1"/>
                </a:solidFill>
                <a:latin typeface="Arial" panose="020B0604020202020204" pitchFamily="34" charset="0"/>
                <a:ea typeface="Consolas" panose="020B0609020204030204"/>
                <a:cs typeface="Arial" panose="020B0604020202020204" pitchFamily="34" charset="0"/>
              </a:rPr>
              <a:t>```</a:t>
            </a:r>
            <a:endParaRPr lang="en-US" altLang="zh-CN" sz="1600" b="0">
              <a:solidFill>
                <a:schemeClr val="tx1"/>
              </a:solidFill>
              <a:latin typeface="Arial" panose="020B0604020202020204" pitchFamily="34" charset="0"/>
              <a:ea typeface="Consolas" panose="020B0609020204030204"/>
              <a:cs typeface="Arial" panose="020B0604020202020204" pitchFamily="34" charset="0"/>
            </a:endParaRPr>
          </a:p>
          <a:p>
            <a:pPr>
              <a:lnSpc>
                <a:spcPct val="100000"/>
              </a:lnSpc>
            </a:pPr>
            <a:r>
              <a:rPr lang="en-US" altLang="zh-CN" sz="1600" b="0">
                <a:solidFill>
                  <a:schemeClr val="tx1"/>
                </a:solidFill>
                <a:latin typeface="Arial" panose="020B0604020202020204" pitchFamily="34" charset="0"/>
                <a:ea typeface="Consolas" panose="020B0609020204030204"/>
                <a:cs typeface="Arial" panose="020B0604020202020204" pitchFamily="34" charset="0"/>
              </a:rPr>
              <a:t>If the installation completes without any errors, Pandas is now successfully installed on your system. You can start using it in your Python projects by importing the Pandas library.</a:t>
            </a:r>
            <a:endParaRPr lang="en-US" altLang="zh-CN" sz="1600" b="0">
              <a:solidFill>
                <a:schemeClr val="tx1"/>
              </a:solidFill>
              <a:latin typeface="Arial" panose="020B0604020202020204" pitchFamily="34" charset="0"/>
              <a:ea typeface="Consolas" panose="020B0609020204030204"/>
              <a:cs typeface="Arial" panose="020B0604020202020204" pitchFamily="34" charset="0"/>
            </a:endParaRPr>
          </a:p>
          <a:p>
            <a:pPr>
              <a:lnSpc>
                <a:spcPct val="100000"/>
              </a:lnSpc>
            </a:pPr>
            <a:r>
              <a:rPr lang="en-US" altLang="zh-CN" sz="1600" b="1">
                <a:solidFill>
                  <a:schemeClr val="tx1"/>
                </a:solidFill>
                <a:latin typeface="Arial" panose="020B0604020202020204" pitchFamily="34" charset="0"/>
                <a:ea typeface="Consolas" panose="020B0609020204030204"/>
                <a:cs typeface="Arial" panose="020B0604020202020204" pitchFamily="34" charset="0"/>
              </a:rPr>
              <a:t>### Import Pandas in Python</a:t>
            </a:r>
            <a:endParaRPr lang="en-US" altLang="zh-CN" sz="1600" b="1">
              <a:solidFill>
                <a:schemeClr val="tx1"/>
              </a:solidFill>
              <a:latin typeface="Arial" panose="020B0604020202020204" pitchFamily="34" charset="0"/>
              <a:ea typeface="Consolas" panose="020B0609020204030204"/>
              <a:cs typeface="Arial" panose="020B0604020202020204" pitchFamily="34" charset="0"/>
            </a:endParaRPr>
          </a:p>
          <a:p>
            <a:pPr>
              <a:lnSpc>
                <a:spcPct val="100000"/>
              </a:lnSpc>
            </a:pPr>
            <a:r>
              <a:rPr lang="en-US" altLang="zh-CN" sz="1600" b="0">
                <a:solidFill>
                  <a:schemeClr val="tx1"/>
                </a:solidFill>
                <a:latin typeface="Arial" panose="020B0604020202020204" pitchFamily="34" charset="0"/>
                <a:ea typeface="Consolas" panose="020B0609020204030204"/>
                <a:cs typeface="Arial" panose="020B0604020202020204" pitchFamily="34" charset="0"/>
              </a:rPr>
              <a:t>We can import Pandas in Python using the import statement:</a:t>
            </a:r>
            <a:endParaRPr lang="en-US" altLang="zh-CN" sz="1600" b="0">
              <a:solidFill>
                <a:schemeClr val="tx1"/>
              </a:solidFill>
              <a:latin typeface="Arial" panose="020B0604020202020204" pitchFamily="34" charset="0"/>
              <a:ea typeface="Consolas" panose="020B0609020204030204"/>
              <a:cs typeface="Arial" panose="020B0604020202020204" pitchFamily="34" charset="0"/>
            </a:endParaRPr>
          </a:p>
          <a:p>
            <a:pPr>
              <a:lnSpc>
                <a:spcPct val="100000"/>
              </a:lnSpc>
            </a:pPr>
            <a:r>
              <a:rPr lang="en-US" altLang="zh-CN" sz="1600" b="0">
                <a:solidFill>
                  <a:schemeClr val="tx1"/>
                </a:solidFill>
                <a:latin typeface="Arial" panose="020B0604020202020204" pitchFamily="34" charset="0"/>
                <a:ea typeface="Consolas" panose="020B0609020204030204"/>
                <a:cs typeface="Arial" panose="020B0604020202020204" pitchFamily="34" charset="0"/>
              </a:rPr>
              <a:t>```python</a:t>
            </a:r>
            <a:endParaRPr lang="en-US" altLang="zh-CN" sz="1600" b="0">
              <a:solidFill>
                <a:schemeClr val="tx1"/>
              </a:solidFill>
              <a:latin typeface="Arial" panose="020B0604020202020204" pitchFamily="34" charset="0"/>
              <a:ea typeface="Consolas" panose="020B0609020204030204"/>
              <a:cs typeface="Arial" panose="020B0604020202020204" pitchFamily="34" charset="0"/>
            </a:endParaRPr>
          </a:p>
          <a:p>
            <a:pPr>
              <a:lnSpc>
                <a:spcPct val="100000"/>
              </a:lnSpc>
            </a:pPr>
            <a:r>
              <a:rPr lang="en-US" altLang="zh-CN" sz="1600" b="0">
                <a:solidFill>
                  <a:schemeClr val="tx1"/>
                </a:solidFill>
                <a:latin typeface="Arial" panose="020B0604020202020204" pitchFamily="34" charset="0"/>
                <a:ea typeface="Consolas" panose="020B0609020204030204"/>
                <a:cs typeface="Arial" panose="020B0604020202020204" pitchFamily="34" charset="0"/>
              </a:rPr>
              <a:t>import pandas as pd</a:t>
            </a:r>
            <a:endParaRPr lang="en-US" altLang="zh-CN" sz="1600" b="0">
              <a:solidFill>
                <a:schemeClr val="tx1"/>
              </a:solidFill>
              <a:latin typeface="Arial" panose="020B0604020202020204" pitchFamily="34" charset="0"/>
              <a:ea typeface="Consolas" panose="020B0609020204030204"/>
              <a:cs typeface="Arial" panose="020B0604020202020204" pitchFamily="34" charset="0"/>
            </a:endParaRPr>
          </a:p>
          <a:p>
            <a:pPr>
              <a:lnSpc>
                <a:spcPct val="100000"/>
              </a:lnSpc>
            </a:pPr>
            <a:r>
              <a:rPr lang="en-US" altLang="zh-CN" sz="1600" b="0">
                <a:solidFill>
                  <a:schemeClr val="tx1"/>
                </a:solidFill>
                <a:latin typeface="Arial" panose="020B0604020202020204" pitchFamily="34" charset="0"/>
                <a:ea typeface="Consolas" panose="020B0609020204030204"/>
                <a:cs typeface="Arial" panose="020B0604020202020204" pitchFamily="34" charset="0"/>
              </a:rPr>
              <a:t>```</a:t>
            </a:r>
            <a:endParaRPr lang="en-US" altLang="zh-CN" sz="1600" b="0">
              <a:solidFill>
                <a:schemeClr val="tx1"/>
              </a:solidFill>
              <a:latin typeface="Arial" panose="020B0604020202020204" pitchFamily="34" charset="0"/>
              <a:ea typeface="Consolas" panose="020B0609020204030204"/>
              <a:cs typeface="Arial" panose="020B0604020202020204"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344170" y="229870"/>
            <a:ext cx="4228465" cy="5477510"/>
          </a:xfrm>
          <a:prstGeom prst="rect">
            <a:avLst/>
          </a:prstGeom>
          <a:noFill/>
        </p:spPr>
        <p:txBody>
          <a:bodyPr wrap="square" rtlCol="0">
            <a:spAutoFit/>
          </a:bodyPr>
          <a:p>
            <a:pPr marL="0" indent="0">
              <a:buNone/>
            </a:pPr>
            <a:r>
              <a:rPr lang="en-US" altLang="zh-CN">
                <a:solidFill>
                  <a:schemeClr val="tx1"/>
                </a:solidFill>
                <a:latin typeface="Consolas" panose="020B0609020204030204"/>
                <a:ea typeface="Consolas" panose="020B0609020204030204"/>
                <a:sym typeface="+mn-ea"/>
              </a:rPr>
              <a:t>data manipulation and data wrangling</a:t>
            </a:r>
            <a:endParaRPr lang="en-US" altLang="zh-CN" b="0">
              <a:solidFill>
                <a:schemeClr val="tx1"/>
              </a:solidFill>
              <a:latin typeface="Consolas" panose="020B0609020204030204"/>
              <a:ea typeface="Consolas" panose="020B0609020204030204"/>
            </a:endParaRPr>
          </a:p>
          <a:p>
            <a:pPr marL="0" indent="0">
              <a:buNone/>
            </a:pPr>
            <a:endParaRPr lang="en-US"/>
          </a:p>
          <a:p>
            <a:pPr marL="342900" indent="-342900">
              <a:buAutoNum type="arabicPeriod"/>
            </a:pPr>
            <a:r>
              <a:rPr lang="en-US"/>
              <a:t>Series and dataFrame</a:t>
            </a:r>
            <a:endParaRPr lang="en-US"/>
          </a:p>
          <a:p>
            <a:pPr marL="342900" indent="-342900">
              <a:buAutoNum type="arabicPeriod"/>
            </a:pPr>
            <a:r>
              <a:rPr lang="en-US"/>
              <a:t>indexing and slicing</a:t>
            </a:r>
            <a:endParaRPr lang="en-US"/>
          </a:p>
          <a:p>
            <a:pPr marL="342900" indent="-342900">
              <a:buAutoNum type="arabicPeriod"/>
            </a:pPr>
            <a:r>
              <a:rPr lang="en-US" altLang="en-US"/>
              <a:t>df.set_index</a:t>
            </a:r>
            <a:r>
              <a:rPr lang="en-US"/>
              <a:t>(0,1),</a:t>
            </a:r>
            <a:r>
              <a:rPr lang="en-US" altLang="en-US"/>
              <a:t>df.reset_index(drop=True, inplace=True)</a:t>
            </a:r>
            <a:endParaRPr lang="en-US" altLang="en-US"/>
          </a:p>
          <a:p>
            <a:pPr marL="342900" indent="-342900">
              <a:buAutoNum type="arabicPeriod"/>
            </a:pPr>
            <a:r>
              <a:rPr lang="en-US"/>
              <a:t>import files (csv,excel .sql , sql connection)</a:t>
            </a:r>
            <a:endParaRPr lang="en-US"/>
          </a:p>
          <a:p>
            <a:pPr marL="342900" indent="-342900">
              <a:buAutoNum type="arabicPeriod"/>
            </a:pPr>
            <a:r>
              <a:rPr lang="en-US"/>
              <a:t>Data overview</a:t>
            </a:r>
            <a:endParaRPr lang="en-US"/>
          </a:p>
          <a:p>
            <a:pPr marL="800100" lvl="1" indent="-342900">
              <a:buAutoNum type="arabicPeriod"/>
            </a:pPr>
            <a:r>
              <a:rPr lang="en-US"/>
              <a:t>head, tail, desc(o, all), info ,dtypes, df.columns, df.samples</a:t>
            </a:r>
            <a:endParaRPr lang="en-US"/>
          </a:p>
          <a:p>
            <a:pPr marL="800100" lvl="1" indent="-342900">
              <a:buAutoNum type="arabicPeriod"/>
            </a:pPr>
            <a:r>
              <a:rPr lang="en-US"/>
              <a:t>slicing indexing, loc &amp; iloc</a:t>
            </a:r>
            <a:endParaRPr lang="en-US"/>
          </a:p>
          <a:p>
            <a:pPr marL="342900" lvl="0" indent="-342900">
              <a:buAutoNum type="arabicPeriod"/>
            </a:pPr>
            <a:r>
              <a:rPr lang="en-US"/>
              <a:t>Data Cleaning</a:t>
            </a:r>
            <a:endParaRPr lang="en-US"/>
          </a:p>
          <a:p>
            <a:pPr marL="800100" lvl="1" indent="-342900">
              <a:buAutoNum type="arabicPeriod"/>
            </a:pPr>
            <a:r>
              <a:rPr lang="en-US" altLang="zh-CN">
                <a:solidFill>
                  <a:schemeClr val="tx1"/>
                </a:solidFill>
                <a:latin typeface="Consolas" panose="020B0609020204030204"/>
                <a:ea typeface="Consolas" panose="020B0609020204030204"/>
                <a:sym typeface="+mn-ea"/>
              </a:rPr>
              <a:t>check duplicate ,drop duplicate,inplace</a:t>
            </a:r>
            <a:endParaRPr lang="en-US" altLang="zh-CN">
              <a:solidFill>
                <a:schemeClr val="tx1"/>
              </a:solidFill>
              <a:latin typeface="Consolas" panose="020B0609020204030204"/>
              <a:ea typeface="Consolas" panose="020B0609020204030204"/>
              <a:sym typeface="+mn-ea"/>
            </a:endParaRPr>
          </a:p>
          <a:p>
            <a:pPr marL="800100" lvl="1" indent="-342900">
              <a:buAutoNum type="arabicPeriod"/>
            </a:pPr>
            <a:r>
              <a:rPr lang="en-US" altLang="zh-CN">
                <a:solidFill>
                  <a:schemeClr val="tx1"/>
                </a:solidFill>
                <a:latin typeface="Consolas" panose="020B0609020204030204"/>
                <a:ea typeface="Consolas" panose="020B0609020204030204"/>
                <a:sym typeface="+mn-ea"/>
              </a:rPr>
              <a:t>check null values, replace null, change value, drop null</a:t>
            </a:r>
            <a:endParaRPr lang="en-US" altLang="zh-CN">
              <a:solidFill>
                <a:schemeClr val="tx1"/>
              </a:solidFill>
              <a:latin typeface="Consolas" panose="020B0609020204030204"/>
              <a:ea typeface="Consolas" panose="020B0609020204030204"/>
              <a:sym typeface="+mn-ea"/>
            </a:endParaRPr>
          </a:p>
          <a:p>
            <a:pPr marL="800100" lvl="1" indent="-342900">
              <a:buAutoNum type="arabicPeriod"/>
            </a:pPr>
            <a:r>
              <a:rPr lang="en-US" altLang="zh-CN">
                <a:solidFill>
                  <a:schemeClr val="tx1"/>
                </a:solidFill>
                <a:latin typeface="Consolas" panose="020B0609020204030204"/>
                <a:ea typeface="Consolas" panose="020B0609020204030204"/>
                <a:sym typeface="+mn-ea"/>
              </a:rPr>
              <a:t>data type</a:t>
            </a:r>
            <a:endParaRPr lang="en-US" altLang="zh-CN">
              <a:solidFill>
                <a:schemeClr val="tx1"/>
              </a:solidFill>
              <a:latin typeface="Consolas" panose="020B0609020204030204"/>
              <a:ea typeface="Consolas" panose="020B0609020204030204"/>
              <a:sym typeface="+mn-ea"/>
            </a:endParaRPr>
          </a:p>
          <a:p>
            <a:pPr marL="800100" lvl="1" indent="-342900">
              <a:buAutoNum type="arabicPeriod"/>
            </a:pPr>
            <a:r>
              <a:rPr lang="en-US" altLang="zh-CN">
                <a:solidFill>
                  <a:schemeClr val="tx1"/>
                </a:solidFill>
                <a:latin typeface="Consolas" panose="020B0609020204030204"/>
                <a:ea typeface="Consolas" panose="020B0609020204030204"/>
                <a:sym typeface="+mn-ea"/>
              </a:rPr>
              <a:t>handle outliers</a:t>
            </a:r>
            <a:endParaRPr lang="en-US" altLang="zh-CN">
              <a:solidFill>
                <a:schemeClr val="tx1"/>
              </a:solidFill>
              <a:latin typeface="Consolas" panose="020B0609020204030204"/>
              <a:ea typeface="Consolas" panose="020B0609020204030204"/>
              <a:sym typeface="+mn-ea"/>
            </a:endParaRPr>
          </a:p>
          <a:p>
            <a:pPr marL="800100" lvl="1" indent="-342900">
              <a:buAutoNum type="arabicPeriod"/>
            </a:pPr>
            <a:r>
              <a:rPr lang="en-US" altLang="zh-CN">
                <a:solidFill>
                  <a:schemeClr val="tx1"/>
                </a:solidFill>
                <a:latin typeface="Consolas" panose="020B0609020204030204"/>
                <a:ea typeface="Consolas" panose="020B0609020204030204"/>
                <a:sym typeface="+mn-ea"/>
              </a:rPr>
              <a:t>create new columns (apply functions) ,delete columns</a:t>
            </a:r>
            <a:endParaRPr lang="en-US" altLang="zh-CN">
              <a:solidFill>
                <a:schemeClr val="tx1"/>
              </a:solidFill>
              <a:latin typeface="Consolas" panose="020B0609020204030204"/>
              <a:ea typeface="Consolas" panose="020B0609020204030204"/>
              <a:sym typeface="+mn-ea"/>
            </a:endParaRPr>
          </a:p>
          <a:p>
            <a:pPr marL="800100" lvl="1" indent="-342900">
              <a:buAutoNum type="arabicPeriod"/>
            </a:pPr>
            <a:r>
              <a:rPr lang="en-US" altLang="zh-CN">
                <a:solidFill>
                  <a:schemeClr val="tx1"/>
                </a:solidFill>
                <a:latin typeface="Consolas" panose="020B0609020204030204"/>
                <a:ea typeface="Consolas" panose="020B0609020204030204"/>
                <a:sym typeface="+mn-ea"/>
              </a:rPr>
              <a:t>save the data</a:t>
            </a:r>
            <a:endParaRPr lang="en-US" altLang="zh-CN">
              <a:solidFill>
                <a:schemeClr val="tx1"/>
              </a:solidFill>
              <a:latin typeface="Consolas" panose="020B0609020204030204"/>
              <a:ea typeface="Consolas" panose="020B0609020204030204"/>
              <a:sym typeface="+mn-ea"/>
            </a:endParaRPr>
          </a:p>
          <a:p>
            <a:pPr marL="342900" lvl="0" indent="-342900">
              <a:buAutoNum type="arabicPeriod"/>
            </a:pPr>
            <a:endParaRPr lang="en-US"/>
          </a:p>
          <a:p>
            <a:pPr marL="800100" lvl="1" indent="-342900">
              <a:buAutoNum type="arabicPeriod"/>
            </a:pPr>
            <a:endParaRPr lang="en-US"/>
          </a:p>
          <a:p>
            <a:pPr marL="342900" indent="-342900">
              <a:buAutoNum type="arabicPeriod"/>
            </a:pPr>
            <a:endParaRPr lang="en-US"/>
          </a:p>
          <a:p>
            <a:pPr marL="342900" indent="-342900">
              <a:buAutoNum type="arabicPeriod"/>
            </a:pPr>
            <a:endParaRPr lang="en-US"/>
          </a:p>
        </p:txBody>
      </p:sp>
      <p:sp>
        <p:nvSpPr>
          <p:cNvPr id="3" name="Text Box 2"/>
          <p:cNvSpPr txBox="1"/>
          <p:nvPr/>
        </p:nvSpPr>
        <p:spPr>
          <a:xfrm>
            <a:off x="4462145" y="134620"/>
            <a:ext cx="4681220" cy="4338320"/>
          </a:xfrm>
          <a:prstGeom prst="rect">
            <a:avLst/>
          </a:prstGeom>
        </p:spPr>
        <p:txBody>
          <a:bodyPr wrap="square">
            <a:spAutoFit/>
          </a:bodyPr>
          <a:p>
            <a:pPr>
              <a:lnSpc>
                <a:spcPct val="100000"/>
              </a:lnSpc>
            </a:pPr>
            <a:r>
              <a:rPr lang="en-US" altLang="zh-CN" sz="1200" b="1">
                <a:solidFill>
                  <a:schemeClr val="tx1"/>
                </a:solidFill>
                <a:latin typeface="Consolas" panose="020B0609020204030204"/>
                <a:ea typeface="Consolas" panose="020B0609020204030204"/>
              </a:rPr>
              <a:t># data transformation</a:t>
            </a:r>
            <a:endParaRPr lang="en-US" altLang="zh-CN" sz="1200" b="1">
              <a:solidFill>
                <a:schemeClr val="tx1"/>
              </a:solidFill>
              <a:latin typeface="Consolas" panose="020B0609020204030204"/>
              <a:ea typeface="Consolas" panose="020B0609020204030204"/>
            </a:endParaRPr>
          </a:p>
          <a:p>
            <a:pPr lvl="2" indent="457200">
              <a:lnSpc>
                <a:spcPct val="100000"/>
              </a:lnSpc>
            </a:pPr>
            <a:r>
              <a:rPr lang="en-US" altLang="zh-CN" sz="1200" b="0">
                <a:solidFill>
                  <a:schemeClr val="tx1"/>
                </a:solidFill>
                <a:latin typeface="Consolas" panose="020B0609020204030204"/>
                <a:ea typeface="Consolas" panose="020B0609020204030204"/>
              </a:rPr>
              <a:t># pivot, melt, groupby, sort, sortby, rank, quantile, shift,</a:t>
            </a:r>
            <a:endParaRPr lang="en-US" altLang="zh-CN" sz="1200" b="0">
              <a:solidFill>
                <a:schemeClr val="tx1"/>
              </a:solidFill>
              <a:latin typeface="Consolas" panose="020B0609020204030204"/>
              <a:ea typeface="Consolas" panose="020B0609020204030204"/>
            </a:endParaRPr>
          </a:p>
          <a:p>
            <a:pPr lvl="2" indent="457200">
              <a:lnSpc>
                <a:spcPct val="100000"/>
              </a:lnSpc>
            </a:pPr>
            <a:r>
              <a:rPr lang="en-US" altLang="zh-CN" sz="1200" b="0">
                <a:solidFill>
                  <a:schemeClr val="tx1"/>
                </a:solidFill>
                <a:latin typeface="Consolas" panose="020B0609020204030204"/>
                <a:ea typeface="Consolas" panose="020B0609020204030204"/>
              </a:rPr>
              <a:t>	</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1">
                <a:solidFill>
                  <a:schemeClr val="tx1"/>
                </a:solidFill>
                <a:latin typeface="Consolas" panose="020B0609020204030204"/>
                <a:ea typeface="Consolas" panose="020B0609020204030204"/>
              </a:rPr>
              <a:t># data merging</a:t>
            </a:r>
            <a:endParaRPr lang="en-US" altLang="zh-CN" sz="1200" b="1">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 </a:t>
            </a:r>
            <a:r>
              <a:rPr lang="en-US" altLang="zh-CN" sz="1200">
                <a:solidFill>
                  <a:schemeClr val="tx1"/>
                </a:solidFill>
                <a:latin typeface="Consolas" panose="020B0609020204030204"/>
                <a:ea typeface="Consolas" panose="020B0609020204030204"/>
                <a:sym typeface="+mn-ea"/>
              </a:rPr>
              <a:t> concat(row,col,</a:t>
            </a:r>
            <a:r>
              <a:rPr lang="en-US" altLang="en-US" sz="1200">
                <a:solidFill>
                  <a:schemeClr val="tx1"/>
                </a:solidFill>
                <a:latin typeface="Consolas" panose="020B0609020204030204"/>
                <a:ea typeface="Consolas" panose="020B0609020204030204"/>
                <a:sym typeface="+mn-ea"/>
              </a:rPr>
              <a:t>ignore_index=True</a:t>
            </a:r>
            <a:r>
              <a:rPr lang="en-US" altLang="zh-CN" sz="1200">
                <a:solidFill>
                  <a:schemeClr val="tx1"/>
                </a:solidFill>
                <a:latin typeface="Consolas" panose="020B0609020204030204"/>
                <a:ea typeface="Consolas" panose="020B0609020204030204"/>
                <a:sym typeface="+mn-ea"/>
              </a:rPr>
              <a:t>), append, </a:t>
            </a:r>
            <a:r>
              <a:rPr lang="en-US" altLang="zh-CN" sz="1200" b="0">
                <a:solidFill>
                  <a:schemeClr val="tx1"/>
                </a:solidFill>
                <a:latin typeface="Consolas" panose="020B0609020204030204"/>
                <a:ea typeface="Consolas" panose="020B0609020204030204"/>
              </a:rPr>
              <a:t>join, merge</a:t>
            </a:r>
            <a:endParaRPr lang="en-US" altLang="zh-CN" sz="1200" b="0">
              <a:solidFill>
                <a:schemeClr val="tx1"/>
              </a:solidFill>
              <a:latin typeface="Consolas" panose="020B0609020204030204"/>
              <a:ea typeface="Consolas" panose="020B0609020204030204"/>
            </a:endParaRPr>
          </a:p>
          <a:p>
            <a:pPr>
              <a:lnSpc>
                <a:spcPct val="100000"/>
              </a:lnSpc>
            </a:pPr>
            <a:endParaRPr lang="en-US" altLang="zh-CN" sz="1200" b="1">
              <a:solidFill>
                <a:schemeClr val="tx1"/>
              </a:solidFill>
              <a:latin typeface="Consolas" panose="020B0609020204030204"/>
              <a:ea typeface="Consolas" panose="020B0609020204030204"/>
            </a:endParaRPr>
          </a:p>
          <a:p>
            <a:pPr>
              <a:lnSpc>
                <a:spcPct val="100000"/>
              </a:lnSpc>
            </a:pPr>
            <a:r>
              <a:rPr lang="en-US" altLang="zh-CN" sz="1200" b="1">
                <a:solidFill>
                  <a:schemeClr val="tx1"/>
                </a:solidFill>
                <a:latin typeface="Consolas" panose="020B0609020204030204"/>
                <a:ea typeface="Consolas" panose="020B0609020204030204"/>
              </a:rPr>
              <a:t># data analysis</a:t>
            </a:r>
            <a:endParaRPr lang="en-US" altLang="zh-CN" sz="1200" b="1">
              <a:solidFill>
                <a:schemeClr val="tx1"/>
              </a:solidFill>
              <a:latin typeface="Consolas" panose="020B0609020204030204"/>
              <a:ea typeface="Consolas" panose="020B0609020204030204"/>
            </a:endParaRPr>
          </a:p>
          <a:p>
            <a:pPr indent="457200">
              <a:lnSpc>
                <a:spcPct val="100000"/>
              </a:lnSpc>
            </a:pPr>
            <a:endParaRPr lang="en-US" altLang="zh-CN" sz="1200" b="1">
              <a:solidFill>
                <a:schemeClr val="tx1"/>
              </a:solidFill>
              <a:latin typeface="Consolas" panose="020B0609020204030204"/>
              <a:ea typeface="Consolas" panose="020B0609020204030204"/>
            </a:endParaRPr>
          </a:p>
          <a:p>
            <a:pPr indent="457200">
              <a:lnSpc>
                <a:spcPct val="100000"/>
              </a:lnSpc>
            </a:pPr>
            <a:r>
              <a:rPr lang="en-US" altLang="zh-CN" sz="1200" b="0">
                <a:solidFill>
                  <a:schemeClr val="tx1"/>
                </a:solidFill>
                <a:latin typeface="Consolas" panose="020B0609020204030204"/>
                <a:ea typeface="Consolas" panose="020B0609020204030204"/>
              </a:rPr>
              <a:t># summary statistics, count,unique,nunique,boolean indexing</a:t>
            </a:r>
            <a:endParaRPr lang="en-US" altLang="zh-CN" sz="1200" b="0">
              <a:solidFill>
                <a:schemeClr val="tx1"/>
              </a:solidFill>
              <a:latin typeface="Consolas" panose="020B0609020204030204"/>
              <a:ea typeface="Consolas" panose="020B0609020204030204"/>
            </a:endParaRPr>
          </a:p>
          <a:p>
            <a:pPr indent="457200">
              <a:lnSpc>
                <a:spcPct val="100000"/>
              </a:lnSpc>
            </a:pPr>
            <a:r>
              <a:rPr lang="en-US" altLang="zh-CN" sz="1200" b="0">
                <a:solidFill>
                  <a:schemeClr val="tx1"/>
                </a:solidFill>
                <a:latin typeface="Consolas" panose="020B0609020204030204"/>
                <a:ea typeface="Consolas" panose="020B0609020204030204"/>
              </a:rPr>
              <a:t>descriptive statistics(mean,sum)</a:t>
            </a:r>
            <a:endParaRPr lang="en-US" altLang="zh-CN" sz="1200" b="0">
              <a:solidFill>
                <a:schemeClr val="tx1"/>
              </a:solidFill>
              <a:latin typeface="Consolas" panose="020B0609020204030204"/>
              <a:ea typeface="Consolas" panose="020B0609020204030204"/>
            </a:endParaRPr>
          </a:p>
          <a:p>
            <a:pPr indent="457200">
              <a:lnSpc>
                <a:spcPct val="100000"/>
              </a:lnSpc>
            </a:pPr>
            <a:r>
              <a:rPr lang="en-US" altLang="zh-CN" sz="1200" b="0">
                <a:solidFill>
                  <a:schemeClr val="tx1"/>
                </a:solidFill>
                <a:latin typeface="Consolas" panose="020B0609020204030204"/>
                <a:ea typeface="Consolas" panose="020B0609020204030204"/>
              </a:rPr>
              <a:t>argmax,</a:t>
            </a:r>
            <a:r>
              <a:rPr lang="en-US" altLang="en-US" sz="1200" b="0">
                <a:solidFill>
                  <a:schemeClr val="tx1"/>
                </a:solidFill>
                <a:latin typeface="Consolas" panose="020B0609020204030204"/>
                <a:ea typeface="Consolas" panose="020B0609020204030204"/>
              </a:rPr>
              <a:t>df[["Sex","Fare"]].groupby("Sex").aggregate(['mean','min','max','sum'])</a:t>
            </a:r>
            <a:endParaRPr lang="en-US" altLang="en-US" sz="1200" b="0">
              <a:solidFill>
                <a:schemeClr val="tx1"/>
              </a:solidFill>
              <a:latin typeface="Consolas" panose="020B0609020204030204"/>
              <a:ea typeface="Consolas" panose="020B0609020204030204"/>
            </a:endParaRPr>
          </a:p>
          <a:p>
            <a:pPr indent="457200">
              <a:lnSpc>
                <a:spcPct val="100000"/>
              </a:lnSpc>
            </a:pPr>
            <a:endParaRPr lang="en-US" altLang="en-US" sz="1200" b="0">
              <a:solidFill>
                <a:schemeClr val="tx1"/>
              </a:solidFill>
              <a:latin typeface="Consolas" panose="020B0609020204030204"/>
              <a:ea typeface="Consolas" panose="020B0609020204030204"/>
            </a:endParaRPr>
          </a:p>
          <a:p>
            <a:pPr indent="457200">
              <a:lnSpc>
                <a:spcPct val="100000"/>
              </a:lnSpc>
            </a:pPr>
            <a:r>
              <a:rPr lang="en-US" altLang="zh-CN" sz="1200" b="0">
                <a:solidFill>
                  <a:schemeClr val="tx1"/>
                </a:solidFill>
                <a:latin typeface="Consolas" panose="020B0609020204030204"/>
                <a:ea typeface="Consolas" panose="020B0609020204030204"/>
              </a:rPr>
              <a:t>correlation, regression, time series analysis</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1">
                <a:solidFill>
                  <a:schemeClr val="tx1"/>
                </a:solidFill>
                <a:latin typeface="Consolas" panose="020B0609020204030204"/>
                <a:ea typeface="Consolas" panose="020B0609020204030204"/>
              </a:rPr>
              <a:t># data visualization</a:t>
            </a:r>
            <a:endParaRPr lang="en-US" altLang="zh-CN" sz="1200" b="1">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 plot, scatter plot, bar plot, histogram, box plot, violin plot, heatmap</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1">
                <a:solidFill>
                  <a:schemeClr val="tx1"/>
                </a:solidFill>
                <a:latin typeface="Consolas" panose="020B0609020204030204"/>
                <a:ea typeface="Consolas" panose="020B0609020204030204"/>
              </a:rPr>
              <a:t># data export</a:t>
            </a:r>
            <a:endParaRPr lang="en-US" altLang="zh-CN" sz="1200" b="1">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 to_csv, to_excel, to_json, to_pickle, to_sql</a:t>
            </a:r>
            <a:endParaRPr lang="en-US" altLang="zh-CN" sz="1200" b="0">
              <a:solidFill>
                <a:schemeClr val="tx1"/>
              </a:solidFill>
              <a:latin typeface="Consolas" panose="020B0609020204030204"/>
              <a:ea typeface="Consolas" panose="020B0609020204030204"/>
            </a:endParaRPr>
          </a:p>
          <a:p>
            <a:pPr>
              <a:lnSpc>
                <a:spcPct val="100000"/>
              </a:lnSpc>
            </a:pPr>
            <a:endParaRPr lang="en-US" altLang="zh-CN" sz="1200" b="0">
              <a:solidFill>
                <a:schemeClr val="tx1"/>
              </a:solidFill>
              <a:latin typeface="Consolas" panose="020B0609020204030204"/>
              <a:ea typeface="Consolas" panose="020B0609020204030204"/>
            </a:endParaRPr>
          </a:p>
        </p:txBody>
      </p:sp>
      <p:sp>
        <p:nvSpPr>
          <p:cNvPr id="4" name="Text Box 3"/>
          <p:cNvSpPr txBox="1"/>
          <p:nvPr/>
        </p:nvSpPr>
        <p:spPr>
          <a:xfrm>
            <a:off x="4761865" y="4408170"/>
            <a:ext cx="3048000" cy="306705"/>
          </a:xfrm>
          <a:prstGeom prst="rect">
            <a:avLst/>
          </a:prstGeom>
          <a:noFill/>
        </p:spPr>
        <p:txBody>
          <a:bodyPr wrap="square" rtlCol="0">
            <a:spAutoFit/>
          </a:bodyPr>
          <a:p>
            <a:r>
              <a:rPr lang="en-US"/>
              <a:t>convert json </a:t>
            </a:r>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379730" y="102870"/>
            <a:ext cx="2960370" cy="1599565"/>
          </a:xfrm>
          <a:prstGeom prst="rect">
            <a:avLst/>
          </a:prstGeom>
        </p:spPr>
        <p:txBody>
          <a:bodyPr wrap="square">
            <a:spAutoFit/>
          </a:bodyPr>
          <a:p>
            <a:pPr>
              <a:lnSpc>
                <a:spcPct val="100000"/>
              </a:lnSpc>
            </a:pPr>
            <a:r>
              <a:rPr lang="en-US" altLang="zh-CN" b="0">
                <a:solidFill>
                  <a:schemeClr val="tx1"/>
                </a:solidFill>
                <a:latin typeface="Consolas" panose="020B0609020204030204"/>
                <a:ea typeface="Consolas" panose="020B0609020204030204"/>
              </a:rPr>
              <a:t># pip install lxml</a:t>
            </a:r>
            <a:endParaRPr lang="en-US" altLang="zh-CN" b="0">
              <a:solidFill>
                <a:schemeClr val="tx1"/>
              </a:solidFill>
              <a:latin typeface="Consolas" panose="020B0609020204030204"/>
              <a:ea typeface="Consolas" panose="020B0609020204030204"/>
            </a:endParaRPr>
          </a:p>
          <a:p>
            <a:pPr>
              <a:lnSpc>
                <a:spcPct val="100000"/>
              </a:lnSpc>
            </a:pPr>
            <a:r>
              <a:rPr lang="en-US" altLang="zh-CN" b="0">
                <a:solidFill>
                  <a:schemeClr val="tx1"/>
                </a:solidFill>
                <a:latin typeface="Consolas" panose="020B0609020204030204"/>
                <a:ea typeface="Consolas" panose="020B0609020204030204"/>
              </a:rPr>
              <a:t>import lxml</a:t>
            </a:r>
            <a:endParaRPr lang="en-US" altLang="zh-CN" b="0">
              <a:solidFill>
                <a:schemeClr val="tx1"/>
              </a:solidFill>
              <a:latin typeface="Consolas" panose="020B0609020204030204"/>
              <a:ea typeface="Consolas" panose="020B0609020204030204"/>
            </a:endParaRPr>
          </a:p>
          <a:p>
            <a:pPr>
              <a:lnSpc>
                <a:spcPct val="100000"/>
              </a:lnSpc>
            </a:pPr>
            <a:r>
              <a:rPr lang="en-US" altLang="zh-CN" b="0">
                <a:solidFill>
                  <a:schemeClr val="tx1"/>
                </a:solidFill>
                <a:latin typeface="Consolas" panose="020B0609020204030204"/>
                <a:ea typeface="Consolas" panose="020B0609020204030204"/>
              </a:rPr>
              <a:t>url_df=pd.read_html("https://www.basketball-reference.com/leagues/NBA_2015_totals.html")</a:t>
            </a:r>
            <a:endParaRPr lang="en-US" altLang="zh-CN" b="0">
              <a:solidFill>
                <a:schemeClr val="tx1"/>
              </a:solidFill>
              <a:latin typeface="Consolas" panose="020B0609020204030204"/>
              <a:ea typeface="Consolas" panose="020B0609020204030204"/>
            </a:endParaRPr>
          </a:p>
          <a:p>
            <a:pPr>
              <a:lnSpc>
                <a:spcPct val="100000"/>
              </a:lnSpc>
            </a:pPr>
            <a:r>
              <a:rPr lang="en-US" altLang="zh-CN" b="0">
                <a:solidFill>
                  <a:schemeClr val="tx1"/>
                </a:solidFill>
                <a:latin typeface="Consolas" panose="020B0609020204030204"/>
                <a:ea typeface="Consolas" panose="020B0609020204030204"/>
              </a:rPr>
              <a:t>type(url_df)</a:t>
            </a:r>
            <a:endParaRPr lang="en-US" altLang="zh-CN" b="0">
              <a:solidFill>
                <a:schemeClr val="tx1"/>
              </a:solidFill>
              <a:latin typeface="Consolas" panose="020B0609020204030204"/>
              <a:ea typeface="Consolas" panose="020B0609020204030204"/>
            </a:endParaRPr>
          </a:p>
        </p:txBody>
      </p:sp>
      <p:sp>
        <p:nvSpPr>
          <p:cNvPr id="3" name="Text Box 2"/>
          <p:cNvSpPr txBox="1"/>
          <p:nvPr/>
        </p:nvSpPr>
        <p:spPr>
          <a:xfrm>
            <a:off x="167640" y="2054860"/>
            <a:ext cx="3269615" cy="1198880"/>
          </a:xfrm>
          <a:prstGeom prst="rect">
            <a:avLst/>
          </a:prstGeom>
        </p:spPr>
        <p:txBody>
          <a:bodyPr wrap="square">
            <a:spAutoFit/>
          </a:bodyPr>
          <a:p>
            <a:pPr>
              <a:lnSpc>
                <a:spcPct val="100000"/>
              </a:lnSpc>
            </a:pPr>
            <a:r>
              <a:rPr lang="en-US" altLang="zh-CN" sz="1200" b="0">
                <a:solidFill>
                  <a:schemeClr val="tx1"/>
                </a:solidFill>
                <a:latin typeface="Consolas" panose="020B0609020204030204"/>
                <a:ea typeface="Consolas" panose="020B0609020204030204"/>
              </a:rPr>
              <a:t>json="https://api.github.com/repos/pandas-dev/pandas/issues"</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foriinrange(len(df)):</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    print(df[i]['user']['node_id'])</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df=pd.DataFrame(df, columns= ['user', 'timeline_url'])</a:t>
            </a:r>
            <a:endParaRPr lang="en-US" altLang="zh-CN" sz="1200" b="0">
              <a:solidFill>
                <a:schemeClr val="tx1"/>
              </a:solidFill>
              <a:latin typeface="Consolas" panose="020B0609020204030204"/>
              <a:ea typeface="Consolas" panose="020B0609020204030204"/>
            </a:endParaRPr>
          </a:p>
        </p:txBody>
      </p:sp>
      <p:sp>
        <p:nvSpPr>
          <p:cNvPr id="4" name="Text Box 3"/>
          <p:cNvSpPr txBox="1"/>
          <p:nvPr/>
        </p:nvSpPr>
        <p:spPr>
          <a:xfrm>
            <a:off x="3701415" y="190500"/>
            <a:ext cx="5080000" cy="4154170"/>
          </a:xfrm>
          <a:prstGeom prst="rect">
            <a:avLst/>
          </a:prstGeom>
        </p:spPr>
        <p:txBody>
          <a:bodyPr>
            <a:spAutoFit/>
          </a:bodyPr>
          <a:p>
            <a:pPr>
              <a:lnSpc>
                <a:spcPct val="100000"/>
              </a:lnSpc>
            </a:pPr>
            <a:r>
              <a:rPr lang="en-US" altLang="zh-CN" sz="1200" b="0">
                <a:solidFill>
                  <a:schemeClr val="tx1"/>
                </a:solidFill>
                <a:latin typeface="Consolas" panose="020B0609020204030204"/>
                <a:ea typeface="Consolas" panose="020B0609020204030204"/>
              </a:rPr>
              <a:t># mysql connector</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importmysql.connector  </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#Create the connection object   </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myconn=mysql.connector.connect(host="127.0.0.1", user="root",passwd="@" ,database="mavenmovies")  </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  </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#creating the cursor object  </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cur=myconn.cursor()   </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try:  </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    #Reading the Employee data      </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    cur.execute("select * from Actor")  </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  </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    #fetching the rows from the cursor object  </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    result=cur.fetchall()  </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    #printing the result  </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  </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    forxinresult:  </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        print(x);  </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except:  </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    myconn.rollback()  </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  </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myconn.close()  </a:t>
            </a:r>
            <a:endParaRPr lang="en-US" altLang="zh-CN" sz="1200" b="0">
              <a:solidFill>
                <a:schemeClr val="tx1"/>
              </a:solidFill>
              <a:latin typeface="Consolas" panose="020B0609020204030204"/>
              <a:ea typeface="Consolas" panose="020B0609020204030204"/>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3825240" y="439420"/>
            <a:ext cx="5080000" cy="1599565"/>
          </a:xfrm>
          <a:prstGeom prst="rect">
            <a:avLst/>
          </a:prstGeom>
        </p:spPr>
        <p:txBody>
          <a:bodyPr>
            <a:spAutoFit/>
          </a:bodyPr>
          <a:p>
            <a:pPr>
              <a:lnSpc>
                <a:spcPct val="100000"/>
              </a:lnSpc>
            </a:pPr>
            <a:r>
              <a:rPr lang="en-US" altLang="zh-CN" b="0">
                <a:solidFill>
                  <a:schemeClr val="tx1"/>
                </a:solidFill>
                <a:latin typeface="Consolas" panose="020B0609020204030204"/>
                <a:ea typeface="Consolas" panose="020B0609020204030204"/>
              </a:rPr>
              <a:t># 2d slicing </a:t>
            </a:r>
            <a:endParaRPr lang="en-US" altLang="zh-CN" b="0">
              <a:solidFill>
                <a:schemeClr val="tx1"/>
              </a:solidFill>
              <a:latin typeface="Consolas" panose="020B0609020204030204"/>
              <a:ea typeface="Consolas" panose="020B0609020204030204"/>
            </a:endParaRPr>
          </a:p>
          <a:p>
            <a:pPr>
              <a:lnSpc>
                <a:spcPct val="100000"/>
              </a:lnSpc>
            </a:pPr>
            <a:r>
              <a:rPr lang="en-US" altLang="zh-CN" b="0">
                <a:solidFill>
                  <a:schemeClr val="tx1"/>
                </a:solidFill>
                <a:latin typeface="Consolas" panose="020B0609020204030204"/>
                <a:ea typeface="Consolas" panose="020B0609020204030204"/>
              </a:rPr>
              <a:t>df2[["a","c"]][1:]   #but not using slicing in 2d</a:t>
            </a:r>
            <a:endParaRPr lang="en-US" altLang="zh-CN" b="0">
              <a:solidFill>
                <a:schemeClr val="tx1"/>
              </a:solidFill>
              <a:latin typeface="Consolas" panose="020B0609020204030204"/>
              <a:ea typeface="Consolas" panose="020B0609020204030204"/>
            </a:endParaRPr>
          </a:p>
          <a:p>
            <a:pPr>
              <a:lnSpc>
                <a:spcPct val="100000"/>
              </a:lnSpc>
            </a:pPr>
            <a:r>
              <a:rPr lang="en-US" altLang="zh-CN" b="0">
                <a:solidFill>
                  <a:schemeClr val="tx1"/>
                </a:solidFill>
                <a:latin typeface="Consolas" panose="020B0609020204030204"/>
                <a:ea typeface="Consolas" panose="020B0609020204030204"/>
              </a:rPr>
              <a:t># loc </a:t>
            </a:r>
            <a:endParaRPr lang="en-US" altLang="zh-CN" b="0">
              <a:solidFill>
                <a:schemeClr val="tx1"/>
              </a:solidFill>
              <a:latin typeface="Consolas" panose="020B0609020204030204"/>
              <a:ea typeface="Consolas" panose="020B0609020204030204"/>
            </a:endParaRPr>
          </a:p>
          <a:p>
            <a:pPr>
              <a:lnSpc>
                <a:spcPct val="100000"/>
              </a:lnSpc>
            </a:pPr>
            <a:r>
              <a:rPr lang="en-US" altLang="zh-CN" b="0">
                <a:solidFill>
                  <a:schemeClr val="tx1"/>
                </a:solidFill>
                <a:latin typeface="Consolas" panose="020B0609020204030204"/>
                <a:ea typeface="Consolas" panose="020B0609020204030204"/>
              </a:rPr>
              <a:t># df.loc[rows , columns]</a:t>
            </a:r>
            <a:endParaRPr lang="en-US" altLang="zh-CN" b="0">
              <a:solidFill>
                <a:schemeClr val="tx1"/>
              </a:solidFill>
              <a:latin typeface="Consolas" panose="020B0609020204030204"/>
              <a:ea typeface="Consolas" panose="020B0609020204030204"/>
            </a:endParaRPr>
          </a:p>
          <a:p>
            <a:pPr>
              <a:lnSpc>
                <a:spcPct val="100000"/>
              </a:lnSpc>
            </a:pPr>
            <a:r>
              <a:rPr lang="en-US" altLang="zh-CN" b="0">
                <a:solidFill>
                  <a:schemeClr val="tx1"/>
                </a:solidFill>
                <a:latin typeface="Consolas" panose="020B0609020204030204"/>
                <a:ea typeface="Consolas" panose="020B0609020204030204"/>
              </a:rPr>
              <a:t>df2.loc["y"]</a:t>
            </a:r>
            <a:endParaRPr lang="en-US" altLang="zh-CN" b="0">
              <a:solidFill>
                <a:schemeClr val="tx1"/>
              </a:solidFill>
              <a:latin typeface="Consolas" panose="020B0609020204030204"/>
              <a:ea typeface="Consolas" panose="020B0609020204030204"/>
            </a:endParaRPr>
          </a:p>
          <a:p>
            <a:pPr>
              <a:lnSpc>
                <a:spcPct val="100000"/>
              </a:lnSpc>
            </a:pPr>
            <a:r>
              <a:rPr lang="en-US" altLang="zh-CN" b="0">
                <a:solidFill>
                  <a:schemeClr val="tx1"/>
                </a:solidFill>
                <a:latin typeface="Consolas" panose="020B0609020204030204"/>
                <a:ea typeface="Consolas" panose="020B0609020204030204"/>
              </a:rPr>
              <a:t># df.iloc[rows , columns]</a:t>
            </a:r>
            <a:endParaRPr lang="en-US" altLang="zh-CN" b="0">
              <a:solidFill>
                <a:schemeClr val="tx1"/>
              </a:solidFill>
              <a:latin typeface="Consolas" panose="020B0609020204030204"/>
              <a:ea typeface="Consolas" panose="020B0609020204030204"/>
            </a:endParaRPr>
          </a:p>
          <a:p>
            <a:pPr>
              <a:lnSpc>
                <a:spcPct val="100000"/>
              </a:lnSpc>
            </a:pPr>
            <a:r>
              <a:rPr lang="en-US" altLang="zh-CN" b="0">
                <a:solidFill>
                  <a:schemeClr val="tx1"/>
                </a:solidFill>
                <a:latin typeface="Consolas" panose="020B0609020204030204"/>
                <a:ea typeface="Consolas" panose="020B0609020204030204"/>
              </a:rPr>
              <a:t>df2.iloc[1: ,1:3]  # index base slicing </a:t>
            </a:r>
            <a:endParaRPr lang="en-US" altLang="zh-CN" b="0">
              <a:solidFill>
                <a:schemeClr val="tx1"/>
              </a:solidFill>
              <a:latin typeface="Consolas" panose="020B0609020204030204"/>
              <a:ea typeface="Consolas" panose="020B0609020204030204"/>
            </a:endParaRPr>
          </a:p>
        </p:txBody>
      </p:sp>
      <p:sp>
        <p:nvSpPr>
          <p:cNvPr id="3" name="Text Box 2"/>
          <p:cNvSpPr txBox="1"/>
          <p:nvPr/>
        </p:nvSpPr>
        <p:spPr>
          <a:xfrm>
            <a:off x="264795" y="93663"/>
            <a:ext cx="5080000" cy="3322955"/>
          </a:xfrm>
          <a:prstGeom prst="rect">
            <a:avLst/>
          </a:prstGeom>
        </p:spPr>
        <p:txBody>
          <a:bodyPr>
            <a:spAutoFit/>
          </a:bodyPr>
          <a:p>
            <a:pPr>
              <a:lnSpc>
                <a:spcPct val="100000"/>
              </a:lnSpc>
            </a:pPr>
            <a:r>
              <a:rPr lang="en-US" altLang="zh-CN" b="0">
                <a:solidFill>
                  <a:schemeClr val="tx1"/>
                </a:solidFill>
                <a:latin typeface="Consolas" panose="020B0609020204030204"/>
                <a:ea typeface="Consolas" panose="020B0609020204030204"/>
              </a:rPr>
              <a:t>df=pd.read_csv("https://raw.githubusercontent.com/datasciencedojo/datasets/master/titanic.csv")</a:t>
            </a:r>
            <a:endParaRPr lang="en-US" altLang="zh-CN" b="0">
              <a:solidFill>
                <a:schemeClr val="tx1"/>
              </a:solidFill>
              <a:latin typeface="Consolas" panose="020B0609020204030204"/>
              <a:ea typeface="Consolas" panose="020B0609020204030204"/>
            </a:endParaRPr>
          </a:p>
          <a:p>
            <a:pPr>
              <a:lnSpc>
                <a:spcPct val="100000"/>
              </a:lnSpc>
            </a:pPr>
            <a:r>
              <a:rPr lang="en-US" altLang="zh-CN" b="0">
                <a:solidFill>
                  <a:schemeClr val="tx1"/>
                </a:solidFill>
                <a:latin typeface="Consolas" panose="020B0609020204030204"/>
                <a:ea typeface="Consolas" panose="020B0609020204030204"/>
              </a:rPr>
              <a:t>df</a:t>
            </a:r>
            <a:endParaRPr lang="en-US" altLang="zh-CN" b="0">
              <a:solidFill>
                <a:schemeClr val="tx1"/>
              </a:solidFill>
              <a:latin typeface="Consolas" panose="020B0609020204030204"/>
              <a:ea typeface="Consolas" panose="020B0609020204030204"/>
            </a:endParaRPr>
          </a:p>
          <a:p>
            <a:pPr>
              <a:lnSpc>
                <a:spcPct val="100000"/>
              </a:lnSpc>
            </a:pPr>
            <a:r>
              <a:rPr lang="en-US" altLang="zh-CN" b="0">
                <a:solidFill>
                  <a:schemeClr val="tx1"/>
                </a:solidFill>
                <a:latin typeface="Consolas" panose="020B0609020204030204"/>
                <a:ea typeface="Consolas" panose="020B0609020204030204"/>
              </a:rPr>
              <a:t>df.columns</a:t>
            </a:r>
            <a:endParaRPr lang="en-US" altLang="zh-CN" b="0">
              <a:solidFill>
                <a:schemeClr val="tx1"/>
              </a:solidFill>
              <a:latin typeface="Consolas" panose="020B0609020204030204"/>
              <a:ea typeface="Consolas" panose="020B0609020204030204"/>
            </a:endParaRPr>
          </a:p>
          <a:p>
            <a:pPr>
              <a:lnSpc>
                <a:spcPct val="100000"/>
              </a:lnSpc>
            </a:pPr>
            <a:r>
              <a:rPr lang="en-US" altLang="zh-CN" b="0">
                <a:solidFill>
                  <a:schemeClr val="tx1"/>
                </a:solidFill>
                <a:latin typeface="Consolas" panose="020B0609020204030204"/>
                <a:ea typeface="Consolas" panose="020B0609020204030204"/>
              </a:rPr>
              <a:t>df.head()</a:t>
            </a:r>
            <a:endParaRPr lang="en-US" altLang="zh-CN" b="0">
              <a:solidFill>
                <a:schemeClr val="tx1"/>
              </a:solidFill>
              <a:latin typeface="Consolas" panose="020B0609020204030204"/>
              <a:ea typeface="Consolas" panose="020B0609020204030204"/>
            </a:endParaRPr>
          </a:p>
          <a:p>
            <a:pPr>
              <a:lnSpc>
                <a:spcPct val="100000"/>
              </a:lnSpc>
            </a:pPr>
            <a:r>
              <a:rPr lang="en-US" altLang="zh-CN" b="0">
                <a:solidFill>
                  <a:schemeClr val="tx1"/>
                </a:solidFill>
                <a:latin typeface="Consolas" panose="020B0609020204030204"/>
                <a:ea typeface="Consolas" panose="020B0609020204030204"/>
              </a:rPr>
              <a:t>df.tail()</a:t>
            </a:r>
            <a:endParaRPr lang="en-US" altLang="zh-CN" b="0">
              <a:solidFill>
                <a:schemeClr val="tx1"/>
              </a:solidFill>
              <a:latin typeface="Consolas" panose="020B0609020204030204"/>
              <a:ea typeface="Consolas" panose="020B0609020204030204"/>
            </a:endParaRPr>
          </a:p>
          <a:p>
            <a:pPr>
              <a:lnSpc>
                <a:spcPct val="100000"/>
              </a:lnSpc>
            </a:pPr>
            <a:r>
              <a:rPr lang="en-US" altLang="zh-CN" b="0">
                <a:solidFill>
                  <a:schemeClr val="tx1"/>
                </a:solidFill>
                <a:latin typeface="Consolas" panose="020B0609020204030204"/>
                <a:ea typeface="Consolas" panose="020B0609020204030204"/>
              </a:rPr>
              <a:t>df.dtypes</a:t>
            </a:r>
            <a:endParaRPr lang="en-US" altLang="zh-CN" b="0">
              <a:solidFill>
                <a:schemeClr val="tx1"/>
              </a:solidFill>
              <a:latin typeface="Consolas" panose="020B0609020204030204"/>
              <a:ea typeface="Consolas" panose="020B0609020204030204"/>
            </a:endParaRPr>
          </a:p>
          <a:p>
            <a:pPr>
              <a:lnSpc>
                <a:spcPct val="100000"/>
              </a:lnSpc>
            </a:pPr>
            <a:r>
              <a:rPr lang="en-US" altLang="zh-CN" b="0">
                <a:solidFill>
                  <a:schemeClr val="tx1"/>
                </a:solidFill>
                <a:latin typeface="Consolas" panose="020B0609020204030204"/>
                <a:ea typeface="Consolas" panose="020B0609020204030204"/>
              </a:rPr>
              <a:t>df.size</a:t>
            </a:r>
            <a:endParaRPr lang="en-US" altLang="zh-CN" b="0">
              <a:solidFill>
                <a:schemeClr val="tx1"/>
              </a:solidFill>
              <a:latin typeface="Consolas" panose="020B0609020204030204"/>
              <a:ea typeface="Consolas" panose="020B0609020204030204"/>
            </a:endParaRPr>
          </a:p>
          <a:p>
            <a:pPr>
              <a:lnSpc>
                <a:spcPct val="100000"/>
              </a:lnSpc>
            </a:pPr>
            <a:r>
              <a:rPr lang="en-US" altLang="zh-CN" b="0">
                <a:solidFill>
                  <a:schemeClr val="tx1"/>
                </a:solidFill>
                <a:latin typeface="Consolas" panose="020B0609020204030204"/>
                <a:ea typeface="Consolas" panose="020B0609020204030204"/>
              </a:rPr>
              <a:t>df.sample(1)</a:t>
            </a:r>
            <a:endParaRPr lang="en-US" altLang="zh-CN" b="0">
              <a:solidFill>
                <a:schemeClr val="tx1"/>
              </a:solidFill>
              <a:latin typeface="Consolas" panose="020B0609020204030204"/>
              <a:ea typeface="Consolas" panose="020B0609020204030204"/>
            </a:endParaRPr>
          </a:p>
          <a:p>
            <a:pPr>
              <a:lnSpc>
                <a:spcPct val="100000"/>
              </a:lnSpc>
            </a:pPr>
            <a:r>
              <a:rPr lang="en-US" altLang="zh-CN" b="0">
                <a:solidFill>
                  <a:schemeClr val="tx1"/>
                </a:solidFill>
                <a:latin typeface="Consolas" panose="020B0609020204030204"/>
                <a:ea typeface="Consolas" panose="020B0609020204030204"/>
              </a:rPr>
              <a:t>df.columns</a:t>
            </a:r>
            <a:endParaRPr lang="en-US" altLang="zh-CN" b="0">
              <a:solidFill>
                <a:schemeClr val="tx1"/>
              </a:solidFill>
              <a:latin typeface="Consolas" panose="020B0609020204030204"/>
              <a:ea typeface="Consolas" panose="020B0609020204030204"/>
            </a:endParaRPr>
          </a:p>
          <a:p>
            <a:pPr>
              <a:lnSpc>
                <a:spcPct val="100000"/>
              </a:lnSpc>
            </a:pPr>
            <a:r>
              <a:rPr lang="en-US" altLang="zh-CN" b="0">
                <a:solidFill>
                  <a:schemeClr val="tx1"/>
                </a:solidFill>
                <a:latin typeface="Consolas" panose="020B0609020204030204"/>
                <a:ea typeface="Consolas" panose="020B0609020204030204"/>
              </a:rPr>
              <a:t>list(df.columns)</a:t>
            </a:r>
            <a:endParaRPr lang="en-US" altLang="zh-CN" b="0">
              <a:solidFill>
                <a:schemeClr val="tx1"/>
              </a:solidFill>
              <a:latin typeface="Consolas" panose="020B0609020204030204"/>
              <a:ea typeface="Consolas" panose="020B0609020204030204"/>
            </a:endParaRPr>
          </a:p>
          <a:p>
            <a:pPr>
              <a:lnSpc>
                <a:spcPct val="100000"/>
              </a:lnSpc>
            </a:pPr>
            <a:r>
              <a:rPr lang="en-US" altLang="zh-CN" b="0">
                <a:solidFill>
                  <a:schemeClr val="tx1"/>
                </a:solidFill>
                <a:latin typeface="Consolas" panose="020B0609020204030204"/>
                <a:ea typeface="Consolas" panose="020B0609020204030204"/>
              </a:rPr>
              <a:t>df.info()</a:t>
            </a:r>
            <a:endParaRPr lang="en-US" altLang="zh-CN" b="0">
              <a:solidFill>
                <a:schemeClr val="tx1"/>
              </a:solidFill>
              <a:latin typeface="Consolas" panose="020B0609020204030204"/>
              <a:ea typeface="Consolas" panose="020B0609020204030204"/>
            </a:endParaRPr>
          </a:p>
          <a:p>
            <a:pPr>
              <a:lnSpc>
                <a:spcPct val="100000"/>
              </a:lnSpc>
            </a:pPr>
            <a:r>
              <a:rPr lang="en-US" altLang="zh-CN" b="0">
                <a:solidFill>
                  <a:schemeClr val="tx1"/>
                </a:solidFill>
                <a:latin typeface="Consolas" panose="020B0609020204030204"/>
                <a:ea typeface="Consolas" panose="020B0609020204030204"/>
              </a:rPr>
              <a:t>df.dtypes</a:t>
            </a:r>
            <a:endParaRPr lang="en-US" altLang="zh-CN" b="0">
              <a:solidFill>
                <a:schemeClr val="tx1"/>
              </a:solidFill>
              <a:latin typeface="Consolas" panose="020B0609020204030204"/>
              <a:ea typeface="Consolas" panose="020B0609020204030204"/>
            </a:endParaRPr>
          </a:p>
          <a:p>
            <a:pPr>
              <a:lnSpc>
                <a:spcPct val="100000"/>
              </a:lnSpc>
            </a:pPr>
            <a:r>
              <a:rPr lang="en-US" altLang="zh-CN" b="0">
                <a:solidFill>
                  <a:schemeClr val="tx1"/>
                </a:solidFill>
                <a:latin typeface="Consolas" panose="020B0609020204030204"/>
                <a:ea typeface="Consolas" panose="020B0609020204030204"/>
              </a:rPr>
              <a:t>df.shape</a:t>
            </a:r>
            <a:endParaRPr lang="en-US" altLang="zh-CN" b="0">
              <a:solidFill>
                <a:schemeClr val="tx1"/>
              </a:solidFill>
              <a:latin typeface="Consolas" panose="020B0609020204030204"/>
              <a:ea typeface="Consolas" panose="020B0609020204030204"/>
            </a:endParaRPr>
          </a:p>
          <a:p>
            <a:pPr>
              <a:lnSpc>
                <a:spcPct val="100000"/>
              </a:lnSpc>
            </a:pPr>
            <a:r>
              <a:rPr lang="en-US" altLang="zh-CN" b="0">
                <a:solidFill>
                  <a:schemeClr val="tx1"/>
                </a:solidFill>
                <a:latin typeface="Consolas" panose="020B0609020204030204"/>
                <a:ea typeface="Consolas" panose="020B0609020204030204"/>
              </a:rPr>
              <a:t>df.describe() #numerical data</a:t>
            </a:r>
            <a:endParaRPr lang="en-US" altLang="zh-CN" b="0">
              <a:solidFill>
                <a:schemeClr val="tx1"/>
              </a:solidFill>
              <a:latin typeface="Consolas" panose="020B0609020204030204"/>
              <a:ea typeface="Consolas" panose="020B0609020204030204"/>
            </a:endParaRPr>
          </a:p>
        </p:txBody>
      </p:sp>
      <p:sp>
        <p:nvSpPr>
          <p:cNvPr id="4" name="Text Box 3"/>
          <p:cNvSpPr txBox="1"/>
          <p:nvPr/>
        </p:nvSpPr>
        <p:spPr>
          <a:xfrm>
            <a:off x="4337685" y="2409190"/>
            <a:ext cx="3808095" cy="1383665"/>
          </a:xfrm>
          <a:prstGeom prst="rect">
            <a:avLst/>
          </a:prstGeom>
        </p:spPr>
        <p:txBody>
          <a:bodyPr wrap="square">
            <a:spAutoFit/>
          </a:bodyPr>
          <a:p>
            <a:pPr>
              <a:lnSpc>
                <a:spcPct val="100000"/>
              </a:lnSpc>
            </a:pPr>
            <a:r>
              <a:rPr lang="en-US" altLang="zh-CN" b="0">
                <a:solidFill>
                  <a:schemeClr val="tx1"/>
                </a:solidFill>
                <a:latin typeface="Consolas" panose="020B0609020204030204"/>
                <a:ea typeface="Consolas" panose="020B0609020204030204"/>
              </a:rPr>
              <a:t>pd.Categorical(df['Cabin'])</a:t>
            </a:r>
            <a:endParaRPr lang="en-US" altLang="zh-CN" b="0">
              <a:solidFill>
                <a:schemeClr val="tx1"/>
              </a:solidFill>
              <a:latin typeface="Consolas" panose="020B0609020204030204"/>
              <a:ea typeface="Consolas" panose="020B0609020204030204"/>
            </a:endParaRPr>
          </a:p>
          <a:p>
            <a:pPr>
              <a:lnSpc>
                <a:spcPct val="100000"/>
              </a:lnSpc>
            </a:pPr>
            <a:r>
              <a:rPr lang="en-US" altLang="zh-CN" b="0">
                <a:solidFill>
                  <a:schemeClr val="tx1"/>
                </a:solidFill>
                <a:latin typeface="Consolas" panose="020B0609020204030204"/>
                <a:ea typeface="Consolas" panose="020B0609020204030204"/>
              </a:rPr>
              <a:t>df['Cabin'].unique()</a:t>
            </a:r>
            <a:endParaRPr lang="en-US" altLang="zh-CN" b="0">
              <a:solidFill>
                <a:schemeClr val="tx1"/>
              </a:solidFill>
              <a:latin typeface="Consolas" panose="020B0609020204030204"/>
              <a:ea typeface="Consolas" panose="020B0609020204030204"/>
            </a:endParaRPr>
          </a:p>
          <a:p>
            <a:pPr>
              <a:lnSpc>
                <a:spcPct val="100000"/>
              </a:lnSpc>
            </a:pPr>
            <a:r>
              <a:rPr lang="en-US" altLang="zh-CN" b="0">
                <a:solidFill>
                  <a:schemeClr val="tx1"/>
                </a:solidFill>
                <a:latin typeface="Consolas" panose="020B0609020204030204"/>
                <a:ea typeface="Consolas" panose="020B0609020204030204"/>
              </a:rPr>
              <a:t>df['Cabin'].nunique()</a:t>
            </a:r>
            <a:endParaRPr lang="en-US" altLang="zh-CN" b="0">
              <a:solidFill>
                <a:schemeClr val="tx1"/>
              </a:solidFill>
              <a:latin typeface="Consolas" panose="020B0609020204030204"/>
              <a:ea typeface="Consolas" panose="020B0609020204030204"/>
            </a:endParaRPr>
          </a:p>
          <a:p>
            <a:pPr>
              <a:lnSpc>
                <a:spcPct val="100000"/>
              </a:lnSpc>
            </a:pPr>
            <a:r>
              <a:rPr lang="en-US" altLang="zh-CN" b="0">
                <a:solidFill>
                  <a:schemeClr val="tx1"/>
                </a:solidFill>
                <a:latin typeface="Consolas" panose="020B0609020204030204"/>
                <a:ea typeface="Consolas" panose="020B0609020204030204"/>
              </a:rPr>
              <a:t>df['Cabin'].value_counts()</a:t>
            </a:r>
            <a:endParaRPr lang="en-US" altLang="zh-CN" b="0">
              <a:solidFill>
                <a:schemeClr val="tx1"/>
              </a:solidFill>
              <a:latin typeface="Consolas" panose="020B0609020204030204"/>
              <a:ea typeface="Consolas" panose="020B0609020204030204"/>
            </a:endParaRPr>
          </a:p>
          <a:p>
            <a:pPr>
              <a:lnSpc>
                <a:spcPct val="100000"/>
              </a:lnSpc>
            </a:pPr>
            <a:r>
              <a:rPr lang="en-US" altLang="zh-CN" b="0">
                <a:solidFill>
                  <a:schemeClr val="tx1"/>
                </a:solidFill>
                <a:latin typeface="Consolas" panose="020B0609020204030204"/>
                <a:ea typeface="Consolas" panose="020B0609020204030204"/>
              </a:rPr>
              <a:t>df</a:t>
            </a:r>
            <a:endParaRPr lang="en-US" altLang="zh-CN" b="0">
              <a:solidFill>
                <a:schemeClr val="tx1"/>
              </a:solidFill>
              <a:latin typeface="Consolas" panose="020B0609020204030204"/>
              <a:ea typeface="Consolas" panose="020B0609020204030204"/>
            </a:endParaRPr>
          </a:p>
          <a:p>
            <a:pPr>
              <a:lnSpc>
                <a:spcPct val="100000"/>
              </a:lnSpc>
            </a:pPr>
            <a:r>
              <a:rPr lang="en-US" altLang="zh-CN" b="0">
                <a:solidFill>
                  <a:schemeClr val="tx1"/>
                </a:solidFill>
                <a:latin typeface="Consolas" panose="020B0609020204030204"/>
                <a:ea typeface="Consolas" panose="020B0609020204030204"/>
              </a:rPr>
              <a:t>df.head()</a:t>
            </a:r>
            <a:endParaRPr lang="en-US" altLang="zh-CN" b="0">
              <a:solidFill>
                <a:schemeClr val="tx1"/>
              </a:solidFill>
              <a:latin typeface="Consolas" panose="020B0609020204030204"/>
              <a:ea typeface="Consolas" panose="020B0609020204030204"/>
            </a:endParaRPr>
          </a:p>
        </p:txBody>
      </p:sp>
      <p:sp>
        <p:nvSpPr>
          <p:cNvPr id="5" name="Text Box 4"/>
          <p:cNvSpPr txBox="1"/>
          <p:nvPr/>
        </p:nvSpPr>
        <p:spPr>
          <a:xfrm>
            <a:off x="3454400" y="3626168"/>
            <a:ext cx="5080000" cy="1568450"/>
          </a:xfrm>
          <a:prstGeom prst="rect">
            <a:avLst/>
          </a:prstGeom>
        </p:spPr>
        <p:txBody>
          <a:bodyPr>
            <a:spAutoFit/>
          </a:bodyPr>
          <a:p>
            <a:pPr>
              <a:lnSpc>
                <a:spcPct val="100000"/>
              </a:lnSpc>
            </a:pPr>
            <a:r>
              <a:rPr lang="en-US" altLang="zh-CN" sz="1200" b="0">
                <a:solidFill>
                  <a:schemeClr val="tx1"/>
                </a:solidFill>
                <a:latin typeface="Consolas" panose="020B0609020204030204"/>
                <a:ea typeface="Consolas" panose="020B0609020204030204"/>
              </a:rPr>
              <a:t># group by for single columns</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df.groupby(["customer segment"])["Fare"].sum()</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df.groupby('Survived').mean(numeric_only=True) #for recent pandas version</a:t>
            </a:r>
            <a:endParaRPr lang="en-US" altLang="zh-CN" sz="1200" b="0">
              <a:solidFill>
                <a:schemeClr val="tx1"/>
              </a:solidFill>
              <a:latin typeface="Consolas" panose="020B0609020204030204"/>
              <a:ea typeface="Consolas" panose="020B0609020204030204"/>
            </a:endParaRPr>
          </a:p>
          <a:p>
            <a:pPr>
              <a:lnSpc>
                <a:spcPct val="100000"/>
              </a:lnSpc>
            </a:pPr>
            <a:r>
              <a:rPr lang="en-US" altLang="en-US" sz="1200" b="0">
                <a:solidFill>
                  <a:schemeClr val="tx1"/>
                </a:solidFill>
                <a:latin typeface="Consolas" panose="020B0609020204030204"/>
                <a:ea typeface="Consolas" panose="020B0609020204030204"/>
              </a:rPr>
              <a:t>df.groupby('Survived').describe()</a:t>
            </a:r>
            <a:endParaRPr lang="en-US" altLang="en-US" sz="1200" b="0">
              <a:solidFill>
                <a:schemeClr val="tx1"/>
              </a:solidFill>
              <a:latin typeface="Consolas" panose="020B0609020204030204"/>
              <a:ea typeface="Consolas" panose="020B0609020204030204"/>
            </a:endParaRPr>
          </a:p>
          <a:p>
            <a:pPr>
              <a:lnSpc>
                <a:spcPct val="100000"/>
              </a:lnSpc>
            </a:pPr>
            <a:r>
              <a:rPr lang="en-US" altLang="en-US" sz="1200" b="0">
                <a:solidFill>
                  <a:schemeClr val="tx1"/>
                </a:solidFill>
                <a:latin typeface="Consolas" panose="020B0609020204030204"/>
                <a:ea typeface="Consolas" panose="020B0609020204030204"/>
              </a:rPr>
              <a:t>df.groupby('Survived').aggregate([min, 'max', 'mean', 'median', 'count', 'var'])</a:t>
            </a:r>
            <a:endParaRPr lang="en-US" altLang="en-US" sz="1200" b="0">
              <a:solidFill>
                <a:schemeClr val="tx1"/>
              </a:solidFill>
              <a:latin typeface="Consolas" panose="020B0609020204030204"/>
              <a:ea typeface="Consolas" panose="020B0609020204030204"/>
            </a:endParaRPr>
          </a:p>
          <a:p>
            <a:pPr>
              <a:lnSpc>
                <a:spcPct val="100000"/>
              </a:lnSpc>
            </a:pPr>
            <a:endParaRPr lang="en-US" altLang="en-US" sz="1200" b="0">
              <a:solidFill>
                <a:schemeClr val="tx1"/>
              </a:solidFill>
              <a:latin typeface="Consolas" panose="020B0609020204030204"/>
              <a:ea typeface="Consolas" panose="020B0609020204030204"/>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132715" y="0"/>
            <a:ext cx="4267200" cy="5262245"/>
          </a:xfrm>
          <a:prstGeom prst="rect">
            <a:avLst/>
          </a:prstGeom>
        </p:spPr>
        <p:txBody>
          <a:bodyPr wrap="square">
            <a:spAutoFit/>
          </a:bodyPr>
          <a:p>
            <a:pPr>
              <a:lnSpc>
                <a:spcPct val="100000"/>
              </a:lnSpc>
            </a:pPr>
            <a:r>
              <a:rPr lang="en-US" altLang="zh-CN" sz="1200" b="0">
                <a:solidFill>
                  <a:schemeClr val="tx1"/>
                </a:solidFill>
                <a:latin typeface="Consolas" panose="020B0609020204030204"/>
                <a:ea typeface="Consolas" panose="020B0609020204030204"/>
              </a:rPr>
              <a:t># Data Cleaning</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df4.duplicated()</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df4.duplicated().sum()</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df4.drop_duplicates()</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df4.isna()</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df4.isna().sum()</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df4.drop(columns=["Unnamed: 0","Cabin"] ,axis=1) </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df4.drop(columns=["Unnamed: 0","Cabin"] ,axis=1,inplace=True)</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df4.isnull().sum()</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df.drop(1, inplace=True)</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df</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df.set_index('Name', inplace=True) #time series data&gt;&gt;you will be making date time column as index</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df</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df.reset_index(inplace=True)</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df</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 use aggrigate funtions</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df4["Age"].mean()   # for replace value find mean</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  fill null age value # replace missing values with 0</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df4["Age"].fillna(df4["Age"].mean(),  inplace=True)</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df4.dropna(inplace=True)</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 change the datatypes</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df4["SibSp"].astype("float32")</a:t>
            </a:r>
            <a:endParaRPr lang="en-US" altLang="zh-CN" sz="1200" b="0">
              <a:solidFill>
                <a:schemeClr val="tx1"/>
              </a:solidFill>
              <a:latin typeface="Consolas" panose="020B0609020204030204"/>
              <a:ea typeface="Consolas" panose="020B0609020204030204"/>
            </a:endParaRPr>
          </a:p>
        </p:txBody>
      </p:sp>
      <p:sp>
        <p:nvSpPr>
          <p:cNvPr id="3" name="Text Box 2"/>
          <p:cNvSpPr txBox="1"/>
          <p:nvPr/>
        </p:nvSpPr>
        <p:spPr>
          <a:xfrm>
            <a:off x="4267835" y="88265"/>
            <a:ext cx="4744720" cy="2491740"/>
          </a:xfrm>
          <a:prstGeom prst="rect">
            <a:avLst/>
          </a:prstGeom>
        </p:spPr>
        <p:txBody>
          <a:bodyPr wrap="square">
            <a:spAutoFit/>
          </a:bodyPr>
          <a:p>
            <a:pPr>
              <a:lnSpc>
                <a:spcPct val="100000"/>
              </a:lnSpc>
            </a:pPr>
            <a:r>
              <a:rPr lang="en-US" altLang="zh-CN" sz="1200" b="0">
                <a:solidFill>
                  <a:schemeClr val="tx1"/>
                </a:solidFill>
                <a:latin typeface="Consolas" panose="020B0609020204030204"/>
                <a:ea typeface="Consolas" panose="020B0609020204030204"/>
              </a:rPr>
              <a:t># remove duplicates based on column 'A'</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df.drop_duplicates(subset=['A'], keep='first', inplace=True)</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 rename columns</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df.rename(columns={'A': 'Age', 'B': 'Name', 'C': 'Salary'}, inplace=True)</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 remove rows with missing values</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df.dropna(inplace=True)</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  How to remove columns containing only NaN values?</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 check which columns contain only NaN values</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columns_with_nan=df.columns[df.isnull().all()]</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 drop the columns containing only NaN values</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df=df.drop(columns=columns_with_nan)</a:t>
            </a:r>
            <a:endParaRPr lang="en-US" altLang="zh-CN" sz="1200" b="0">
              <a:solidFill>
                <a:schemeClr val="tx1"/>
              </a:solidFill>
              <a:latin typeface="Consolas" panose="020B0609020204030204"/>
              <a:ea typeface="Consolas" panose="020B0609020204030204"/>
            </a:endParaRPr>
          </a:p>
        </p:txBody>
      </p:sp>
      <p:sp>
        <p:nvSpPr>
          <p:cNvPr id="4" name="Text Box 3"/>
          <p:cNvSpPr txBox="1"/>
          <p:nvPr/>
        </p:nvSpPr>
        <p:spPr>
          <a:xfrm>
            <a:off x="4196715" y="2755900"/>
            <a:ext cx="4815840" cy="1753235"/>
          </a:xfrm>
          <a:prstGeom prst="rect">
            <a:avLst/>
          </a:prstGeom>
        </p:spPr>
        <p:txBody>
          <a:bodyPr wrap="square">
            <a:spAutoFit/>
          </a:bodyPr>
          <a:p>
            <a:pPr>
              <a:lnSpc>
                <a:spcPct val="100000"/>
              </a:lnSpc>
            </a:pPr>
            <a:r>
              <a:rPr lang="en-US" altLang="zh-CN" sz="1200" b="0">
                <a:solidFill>
                  <a:schemeClr val="tx1"/>
                </a:solidFill>
                <a:latin typeface="Consolas" panose="020B0609020204030204"/>
                <a:ea typeface="Consolas" panose="020B0609020204030204"/>
              </a:rPr>
              <a:t># 2. Handle Error Values</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df=pd.DataFrame({</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    'Name': ['Alice', 'Bob', 'Charlie'],</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    'Score': [85, 'error', 92]</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 Replace 'error' with NaN and convert column to numeric</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df['Score'] =pd.to_numeric(df['Score'], errors='coerce')</a:t>
            </a:r>
            <a:endParaRPr lang="en-US" altLang="zh-CN" sz="1200" b="0">
              <a:solidFill>
                <a:schemeClr val="tx1"/>
              </a:solidFill>
              <a:latin typeface="Consolas" panose="020B0609020204030204"/>
              <a:ea typeface="Consolas" panose="020B0609020204030204"/>
            </a:endParaRPr>
          </a:p>
        </p:txBody>
      </p:sp>
      <p:sp>
        <p:nvSpPr>
          <p:cNvPr id="5" name="Text Box 4"/>
          <p:cNvSpPr txBox="1"/>
          <p:nvPr/>
        </p:nvSpPr>
        <p:spPr>
          <a:xfrm>
            <a:off x="4399915" y="4509135"/>
            <a:ext cx="4487545" cy="460375"/>
          </a:xfrm>
          <a:prstGeom prst="rect">
            <a:avLst/>
          </a:prstGeom>
        </p:spPr>
        <p:txBody>
          <a:bodyPr wrap="square">
            <a:spAutoFit/>
          </a:bodyPr>
          <a:p>
            <a:pPr>
              <a:lnSpc>
                <a:spcPct val="100000"/>
              </a:lnSpc>
            </a:pPr>
            <a:r>
              <a:rPr lang="en-US" altLang="zh-CN" sz="1200" b="0">
                <a:solidFill>
                  <a:schemeClr val="tx1"/>
                </a:solidFill>
                <a:latin typeface="Consolas" panose="020B0609020204030204"/>
                <a:ea typeface="Consolas" panose="020B0609020204030204"/>
              </a:rPr>
              <a:t># Rename columns</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df.rename(columns={'A': 'Age'}, inplace=True)</a:t>
            </a:r>
            <a:endParaRPr lang="en-US" altLang="zh-CN" sz="1200" b="0">
              <a:solidFill>
                <a:schemeClr val="tx1"/>
              </a:solidFill>
              <a:latin typeface="Consolas" panose="020B0609020204030204"/>
              <a:ea typeface="Consolas" panose="020B0609020204030204"/>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185420" y="0"/>
            <a:ext cx="4311650" cy="5323205"/>
          </a:xfrm>
          <a:prstGeom prst="rect">
            <a:avLst/>
          </a:prstGeom>
        </p:spPr>
        <p:txBody>
          <a:bodyPr wrap="square">
            <a:spAutoFit/>
          </a:bodyPr>
          <a:p>
            <a:pPr>
              <a:lnSpc>
                <a:spcPct val="100000"/>
              </a:lnSpc>
            </a:pPr>
            <a:r>
              <a:rPr lang="en-US" altLang="zh-CN" sz="1000" b="0">
                <a:solidFill>
                  <a:srgbClr val="6A9955"/>
                </a:solidFill>
                <a:latin typeface="Consolas" panose="020B0609020204030204"/>
                <a:ea typeface="Consolas" panose="020B0609020204030204"/>
              </a:rPr>
              <a:t># Questions form dataset</a:t>
            </a:r>
            <a:endParaRPr lang="en-US" altLang="zh-CN" sz="1000" b="0">
              <a:solidFill>
                <a:srgbClr val="6A9955"/>
              </a:solidFill>
              <a:latin typeface="Consolas" panose="020B0609020204030204"/>
              <a:ea typeface="Consolas" panose="020B0609020204030204"/>
            </a:endParaRPr>
          </a:p>
          <a:p>
            <a:pPr>
              <a:lnSpc>
                <a:spcPct val="100000"/>
              </a:lnSpc>
            </a:pPr>
            <a:r>
              <a:rPr lang="en-US" altLang="zh-CN" sz="1000" b="0">
                <a:solidFill>
                  <a:srgbClr val="6A9955"/>
                </a:solidFill>
                <a:latin typeface="Consolas" panose="020B0609020204030204"/>
                <a:ea typeface="Consolas" panose="020B0609020204030204"/>
              </a:rPr>
              <a:t>#Q. How many passengers are less than 5 years old</a:t>
            </a:r>
            <a:endParaRPr lang="en-US" altLang="zh-CN" sz="1000" b="0">
              <a:solidFill>
                <a:srgbClr val="6A9955"/>
              </a:solidFill>
              <a:latin typeface="Consolas" panose="020B0609020204030204"/>
              <a:ea typeface="Consolas" panose="020B0609020204030204"/>
            </a:endParaRPr>
          </a:p>
          <a:p>
            <a:pPr>
              <a:lnSpc>
                <a:spcPct val="100000"/>
              </a:lnSpc>
            </a:pPr>
            <a:r>
              <a:rPr lang="en-US" altLang="zh-CN" sz="1000" b="0">
                <a:solidFill>
                  <a:srgbClr val="9CDCFE"/>
                </a:solidFill>
                <a:latin typeface="Consolas" panose="020B0609020204030204"/>
                <a:ea typeface="Consolas" panose="020B0609020204030204"/>
              </a:rPr>
              <a:t>df2</a:t>
            </a:r>
            <a:r>
              <a:rPr lang="en-US" altLang="zh-CN" sz="1000" b="0">
                <a:solidFill>
                  <a:srgbClr val="CCCCCC"/>
                </a:solidFill>
                <a:latin typeface="Consolas" panose="020B0609020204030204"/>
                <a:ea typeface="Consolas" panose="020B0609020204030204"/>
              </a:rPr>
              <a:t>.</a:t>
            </a:r>
            <a:r>
              <a:rPr lang="en-US" altLang="zh-CN" sz="1000" b="0">
                <a:solidFill>
                  <a:srgbClr val="DCDCAA"/>
                </a:solidFill>
                <a:latin typeface="Consolas" panose="020B0609020204030204"/>
                <a:ea typeface="Consolas" panose="020B0609020204030204"/>
              </a:rPr>
              <a:t>drop</a:t>
            </a:r>
            <a:r>
              <a:rPr lang="en-US" altLang="zh-CN" sz="1000" b="0">
                <a:solidFill>
                  <a:srgbClr val="CCCCCC"/>
                </a:solidFill>
                <a:latin typeface="Consolas" panose="020B0609020204030204"/>
                <a:ea typeface="Consolas" panose="020B0609020204030204"/>
              </a:rPr>
              <a:t>([</a:t>
            </a:r>
            <a:r>
              <a:rPr lang="en-US" altLang="zh-CN" sz="1000" b="0">
                <a:solidFill>
                  <a:srgbClr val="CE9178"/>
                </a:solidFill>
                <a:latin typeface="Consolas" panose="020B0609020204030204"/>
                <a:ea typeface="Consolas" panose="020B0609020204030204"/>
              </a:rPr>
              <a:t>"Unnamed: 0"</a:t>
            </a:r>
            <a:r>
              <a:rPr lang="en-US" altLang="zh-CN" sz="1000" b="0">
                <a:solidFill>
                  <a:srgbClr val="CCCCCC"/>
                </a:solidFill>
                <a:latin typeface="Consolas" panose="020B0609020204030204"/>
                <a:ea typeface="Consolas" panose="020B0609020204030204"/>
              </a:rPr>
              <a:t>], </a:t>
            </a:r>
            <a:r>
              <a:rPr lang="en-US" altLang="zh-CN" sz="1000" b="0">
                <a:solidFill>
                  <a:srgbClr val="9CDCFE"/>
                </a:solidFill>
                <a:latin typeface="Consolas" panose="020B0609020204030204"/>
                <a:ea typeface="Consolas" panose="020B0609020204030204"/>
              </a:rPr>
              <a:t>inplace</a:t>
            </a:r>
            <a:r>
              <a:rPr lang="en-US" altLang="zh-CN" sz="1000" b="0">
                <a:solidFill>
                  <a:srgbClr val="D4D4D4"/>
                </a:solidFill>
                <a:latin typeface="Consolas" panose="020B0609020204030204"/>
                <a:ea typeface="Consolas" panose="020B0609020204030204"/>
              </a:rPr>
              <a:t>=</a:t>
            </a:r>
            <a:r>
              <a:rPr lang="en-US" altLang="zh-CN" sz="1000" b="0">
                <a:solidFill>
                  <a:srgbClr val="569CD6"/>
                </a:solidFill>
                <a:latin typeface="Consolas" panose="020B0609020204030204"/>
                <a:ea typeface="Consolas" panose="020B0609020204030204"/>
              </a:rPr>
              <a:t>True</a:t>
            </a:r>
            <a:r>
              <a:rPr lang="en-US" altLang="zh-CN" sz="1000" b="0">
                <a:solidFill>
                  <a:srgbClr val="CCCCCC"/>
                </a:solidFill>
                <a:latin typeface="Consolas" panose="020B0609020204030204"/>
                <a:ea typeface="Consolas" panose="020B0609020204030204"/>
              </a:rPr>
              <a:t>,</a:t>
            </a:r>
            <a:r>
              <a:rPr lang="en-US" altLang="zh-CN" sz="1000" b="0">
                <a:solidFill>
                  <a:srgbClr val="9CDCFE"/>
                </a:solidFill>
                <a:latin typeface="Consolas" panose="020B0609020204030204"/>
                <a:ea typeface="Consolas" panose="020B0609020204030204"/>
              </a:rPr>
              <a:t>axis</a:t>
            </a:r>
            <a:r>
              <a:rPr lang="en-US" altLang="zh-CN" sz="1000" b="0">
                <a:solidFill>
                  <a:srgbClr val="D4D4D4"/>
                </a:solidFill>
                <a:latin typeface="Consolas" panose="020B0609020204030204"/>
                <a:ea typeface="Consolas" panose="020B0609020204030204"/>
              </a:rPr>
              <a:t>=</a:t>
            </a:r>
            <a:r>
              <a:rPr lang="en-US" altLang="zh-CN" sz="1000" b="0">
                <a:solidFill>
                  <a:srgbClr val="B5CEA8"/>
                </a:solidFill>
                <a:latin typeface="Consolas" panose="020B0609020204030204"/>
                <a:ea typeface="Consolas" panose="020B0609020204030204"/>
              </a:rPr>
              <a:t>1</a:t>
            </a:r>
            <a:r>
              <a:rPr lang="en-US" altLang="zh-CN" sz="1000" b="0">
                <a:solidFill>
                  <a:srgbClr val="CCCCCC"/>
                </a:solidFill>
                <a:latin typeface="Consolas" panose="020B0609020204030204"/>
                <a:ea typeface="Consolas" panose="020B0609020204030204"/>
              </a:rPr>
              <a:t>)</a:t>
            </a:r>
            <a:endParaRPr lang="en-US" altLang="zh-CN" sz="1000" b="0">
              <a:solidFill>
                <a:srgbClr val="CCCCCC"/>
              </a:solidFill>
              <a:latin typeface="Consolas" panose="020B0609020204030204"/>
              <a:ea typeface="Consolas" panose="020B0609020204030204"/>
            </a:endParaRPr>
          </a:p>
          <a:p>
            <a:pPr>
              <a:lnSpc>
                <a:spcPct val="100000"/>
              </a:lnSpc>
            </a:pPr>
            <a:r>
              <a:rPr lang="en-US" altLang="zh-CN" sz="1000" b="0">
                <a:solidFill>
                  <a:srgbClr val="6A9955"/>
                </a:solidFill>
                <a:latin typeface="Consolas" panose="020B0609020204030204"/>
                <a:ea typeface="Consolas" panose="020B0609020204030204"/>
              </a:rPr>
              <a:t># unique value count  of age</a:t>
            </a:r>
            <a:endParaRPr lang="en-US" altLang="zh-CN" sz="1000" b="0">
              <a:solidFill>
                <a:srgbClr val="6A9955"/>
              </a:solidFill>
              <a:latin typeface="Consolas" panose="020B0609020204030204"/>
              <a:ea typeface="Consolas" panose="020B0609020204030204"/>
            </a:endParaRPr>
          </a:p>
          <a:p>
            <a:pPr>
              <a:lnSpc>
                <a:spcPct val="100000"/>
              </a:lnSpc>
            </a:pPr>
            <a:r>
              <a:rPr lang="en-US" altLang="zh-CN" sz="1000" b="0">
                <a:solidFill>
                  <a:srgbClr val="9CDCFE"/>
                </a:solidFill>
                <a:latin typeface="Consolas" panose="020B0609020204030204"/>
                <a:ea typeface="Consolas" panose="020B0609020204030204"/>
              </a:rPr>
              <a:t>df2</a:t>
            </a:r>
            <a:r>
              <a:rPr lang="en-US" altLang="zh-CN" sz="1000" b="0">
                <a:solidFill>
                  <a:srgbClr val="CCCCCC"/>
                </a:solidFill>
                <a:latin typeface="Consolas" panose="020B0609020204030204"/>
                <a:ea typeface="Consolas" panose="020B0609020204030204"/>
              </a:rPr>
              <a:t>[</a:t>
            </a:r>
            <a:r>
              <a:rPr lang="en-US" altLang="zh-CN" sz="1000" b="0">
                <a:solidFill>
                  <a:srgbClr val="CE9178"/>
                </a:solidFill>
                <a:latin typeface="Consolas" panose="020B0609020204030204"/>
                <a:ea typeface="Consolas" panose="020B0609020204030204"/>
              </a:rPr>
              <a:t>'Age'</a:t>
            </a:r>
            <a:r>
              <a:rPr lang="en-US" altLang="zh-CN" sz="1000" b="0">
                <a:solidFill>
                  <a:srgbClr val="CCCCCC"/>
                </a:solidFill>
                <a:latin typeface="Consolas" panose="020B0609020204030204"/>
                <a:ea typeface="Consolas" panose="020B0609020204030204"/>
              </a:rPr>
              <a:t>].</a:t>
            </a:r>
            <a:r>
              <a:rPr lang="en-US" altLang="zh-CN" sz="1000" b="0">
                <a:solidFill>
                  <a:srgbClr val="DCDCAA"/>
                </a:solidFill>
                <a:latin typeface="Consolas" panose="020B0609020204030204"/>
                <a:ea typeface="Consolas" panose="020B0609020204030204"/>
              </a:rPr>
              <a:t>value_counts</a:t>
            </a:r>
            <a:r>
              <a:rPr lang="en-US" altLang="zh-CN" sz="1000" b="0">
                <a:solidFill>
                  <a:srgbClr val="CCCCCC"/>
                </a:solidFill>
                <a:latin typeface="Consolas" panose="020B0609020204030204"/>
                <a:ea typeface="Consolas" panose="020B0609020204030204"/>
              </a:rPr>
              <a:t>()</a:t>
            </a:r>
            <a:endParaRPr lang="en-US" altLang="zh-CN" sz="1000" b="0">
              <a:solidFill>
                <a:srgbClr val="CCCCCC"/>
              </a:solidFill>
              <a:latin typeface="Consolas" panose="020B0609020204030204"/>
              <a:ea typeface="Consolas" panose="020B0609020204030204"/>
            </a:endParaRPr>
          </a:p>
          <a:p>
            <a:pPr>
              <a:lnSpc>
                <a:spcPct val="100000"/>
              </a:lnSpc>
            </a:pPr>
            <a:r>
              <a:rPr lang="en-US" altLang="zh-CN" sz="1000" b="0">
                <a:solidFill>
                  <a:srgbClr val="9CDCFE"/>
                </a:solidFill>
                <a:latin typeface="Consolas" panose="020B0609020204030204"/>
                <a:ea typeface="Consolas" panose="020B0609020204030204"/>
              </a:rPr>
              <a:t>df</a:t>
            </a:r>
            <a:r>
              <a:rPr lang="en-US" altLang="zh-CN" sz="1000" b="0">
                <a:solidFill>
                  <a:srgbClr val="CCCCCC"/>
                </a:solidFill>
                <a:latin typeface="Consolas" panose="020B0609020204030204"/>
                <a:ea typeface="Consolas" panose="020B0609020204030204"/>
              </a:rPr>
              <a:t>[</a:t>
            </a:r>
            <a:r>
              <a:rPr lang="en-US" altLang="zh-CN" sz="1000" b="0">
                <a:solidFill>
                  <a:srgbClr val="CE9178"/>
                </a:solidFill>
                <a:latin typeface="Consolas" panose="020B0609020204030204"/>
                <a:ea typeface="Consolas" panose="020B0609020204030204"/>
              </a:rPr>
              <a:t>'Age'</a:t>
            </a:r>
            <a:r>
              <a:rPr lang="en-US" altLang="zh-CN" sz="1000" b="0">
                <a:solidFill>
                  <a:srgbClr val="CCCCCC"/>
                </a:solidFill>
                <a:latin typeface="Consolas" panose="020B0609020204030204"/>
                <a:ea typeface="Consolas" panose="020B0609020204030204"/>
              </a:rPr>
              <a:t>] </a:t>
            </a:r>
            <a:r>
              <a:rPr lang="en-US" altLang="zh-CN" sz="1000" b="0">
                <a:solidFill>
                  <a:srgbClr val="DCDCAA"/>
                </a:solidFill>
                <a:latin typeface="Consolas" panose="020B0609020204030204"/>
                <a:ea typeface="Consolas" panose="020B0609020204030204"/>
              </a:rPr>
              <a:t>&lt;</a:t>
            </a:r>
            <a:r>
              <a:rPr lang="en-US" altLang="zh-CN" sz="1000" b="0">
                <a:solidFill>
                  <a:srgbClr val="B5CEA8"/>
                </a:solidFill>
                <a:latin typeface="Consolas" panose="020B0609020204030204"/>
                <a:ea typeface="Consolas" panose="020B0609020204030204"/>
              </a:rPr>
              <a:t>5</a:t>
            </a:r>
            <a:endParaRPr lang="en-US" altLang="zh-CN" sz="1000" b="0">
              <a:solidFill>
                <a:srgbClr val="B5CEA8"/>
              </a:solidFill>
              <a:latin typeface="Consolas" panose="020B0609020204030204"/>
              <a:ea typeface="Consolas" panose="020B0609020204030204"/>
            </a:endParaRPr>
          </a:p>
          <a:p>
            <a:pPr>
              <a:lnSpc>
                <a:spcPct val="100000"/>
              </a:lnSpc>
            </a:pPr>
            <a:r>
              <a:rPr lang="en-US" altLang="zh-CN" sz="1000" b="0">
                <a:solidFill>
                  <a:srgbClr val="9CDCFE"/>
                </a:solidFill>
                <a:latin typeface="Consolas" panose="020B0609020204030204"/>
                <a:ea typeface="Consolas" panose="020B0609020204030204"/>
              </a:rPr>
              <a:t>df</a:t>
            </a:r>
            <a:r>
              <a:rPr lang="en-US" altLang="zh-CN" sz="1000" b="0">
                <a:solidFill>
                  <a:srgbClr val="CCCCCC"/>
                </a:solidFill>
                <a:latin typeface="Consolas" panose="020B0609020204030204"/>
                <a:ea typeface="Consolas" panose="020B0609020204030204"/>
              </a:rPr>
              <a:t>[</a:t>
            </a:r>
            <a:r>
              <a:rPr lang="en-US" altLang="zh-CN" sz="1000" b="0">
                <a:solidFill>
                  <a:srgbClr val="9CDCFE"/>
                </a:solidFill>
                <a:latin typeface="Consolas" panose="020B0609020204030204"/>
                <a:ea typeface="Consolas" panose="020B0609020204030204"/>
              </a:rPr>
              <a:t>df</a:t>
            </a:r>
            <a:r>
              <a:rPr lang="en-US" altLang="zh-CN" sz="1000" b="0">
                <a:solidFill>
                  <a:srgbClr val="CCCCCC"/>
                </a:solidFill>
                <a:latin typeface="Consolas" panose="020B0609020204030204"/>
                <a:ea typeface="Consolas" panose="020B0609020204030204"/>
              </a:rPr>
              <a:t>[</a:t>
            </a:r>
            <a:r>
              <a:rPr lang="en-US" altLang="zh-CN" sz="1000" b="0">
                <a:solidFill>
                  <a:srgbClr val="CE9178"/>
                </a:solidFill>
                <a:latin typeface="Consolas" panose="020B0609020204030204"/>
                <a:ea typeface="Consolas" panose="020B0609020204030204"/>
              </a:rPr>
              <a:t>'Age'</a:t>
            </a:r>
            <a:r>
              <a:rPr lang="en-US" altLang="zh-CN" sz="1000" b="0">
                <a:solidFill>
                  <a:srgbClr val="CCCCCC"/>
                </a:solidFill>
                <a:latin typeface="Consolas" panose="020B0609020204030204"/>
                <a:ea typeface="Consolas" panose="020B0609020204030204"/>
              </a:rPr>
              <a:t>] </a:t>
            </a:r>
            <a:r>
              <a:rPr lang="en-US" altLang="zh-CN" sz="1000" b="0">
                <a:solidFill>
                  <a:srgbClr val="DCDCAA"/>
                </a:solidFill>
                <a:latin typeface="Consolas" panose="020B0609020204030204"/>
                <a:ea typeface="Consolas" panose="020B0609020204030204"/>
              </a:rPr>
              <a:t>&lt;</a:t>
            </a:r>
            <a:r>
              <a:rPr lang="en-US" altLang="zh-CN" sz="1000" b="0">
                <a:solidFill>
                  <a:srgbClr val="B5CEA8"/>
                </a:solidFill>
                <a:latin typeface="Consolas" panose="020B0609020204030204"/>
                <a:ea typeface="Consolas" panose="020B0609020204030204"/>
              </a:rPr>
              <a:t>5</a:t>
            </a:r>
            <a:r>
              <a:rPr lang="en-US" altLang="zh-CN" sz="1000" b="0">
                <a:solidFill>
                  <a:srgbClr val="CCCCCC"/>
                </a:solidFill>
                <a:latin typeface="Consolas" panose="020B0609020204030204"/>
                <a:ea typeface="Consolas" panose="020B0609020204030204"/>
              </a:rPr>
              <a:t>]</a:t>
            </a:r>
            <a:endParaRPr lang="en-US" altLang="zh-CN" sz="1000" b="0">
              <a:solidFill>
                <a:srgbClr val="CCCCCC"/>
              </a:solidFill>
              <a:latin typeface="Consolas" panose="020B0609020204030204"/>
              <a:ea typeface="Consolas" panose="020B0609020204030204"/>
            </a:endParaRPr>
          </a:p>
          <a:p>
            <a:pPr>
              <a:lnSpc>
                <a:spcPct val="100000"/>
              </a:lnSpc>
            </a:pPr>
            <a:r>
              <a:rPr lang="en-US" altLang="zh-CN" sz="1000" b="0">
                <a:solidFill>
                  <a:srgbClr val="DCDCAA"/>
                </a:solidFill>
                <a:latin typeface="Consolas" panose="020B0609020204030204"/>
                <a:ea typeface="Consolas" panose="020B0609020204030204"/>
              </a:rPr>
              <a:t>len</a:t>
            </a:r>
            <a:r>
              <a:rPr lang="en-US" altLang="zh-CN" sz="1000" b="0">
                <a:solidFill>
                  <a:srgbClr val="CCCCCC"/>
                </a:solidFill>
                <a:latin typeface="Consolas" panose="020B0609020204030204"/>
                <a:ea typeface="Consolas" panose="020B0609020204030204"/>
              </a:rPr>
              <a:t>(</a:t>
            </a:r>
            <a:r>
              <a:rPr lang="en-US" altLang="zh-CN" sz="1000" b="0">
                <a:solidFill>
                  <a:srgbClr val="9CDCFE"/>
                </a:solidFill>
                <a:latin typeface="Consolas" panose="020B0609020204030204"/>
                <a:ea typeface="Consolas" panose="020B0609020204030204"/>
              </a:rPr>
              <a:t>df</a:t>
            </a:r>
            <a:r>
              <a:rPr lang="en-US" altLang="zh-CN" sz="1000" b="0">
                <a:solidFill>
                  <a:srgbClr val="CCCCCC"/>
                </a:solidFill>
                <a:latin typeface="Consolas" panose="020B0609020204030204"/>
                <a:ea typeface="Consolas" panose="020B0609020204030204"/>
              </a:rPr>
              <a:t>[</a:t>
            </a:r>
            <a:r>
              <a:rPr lang="en-US" altLang="zh-CN" sz="1000" b="0">
                <a:solidFill>
                  <a:srgbClr val="9CDCFE"/>
                </a:solidFill>
                <a:latin typeface="Consolas" panose="020B0609020204030204"/>
                <a:ea typeface="Consolas" panose="020B0609020204030204"/>
              </a:rPr>
              <a:t>df</a:t>
            </a:r>
            <a:r>
              <a:rPr lang="en-US" altLang="zh-CN" sz="1000" b="0">
                <a:solidFill>
                  <a:srgbClr val="CCCCCC"/>
                </a:solidFill>
                <a:latin typeface="Consolas" panose="020B0609020204030204"/>
                <a:ea typeface="Consolas" panose="020B0609020204030204"/>
              </a:rPr>
              <a:t>[</a:t>
            </a:r>
            <a:r>
              <a:rPr lang="en-US" altLang="zh-CN" sz="1000" b="0">
                <a:solidFill>
                  <a:srgbClr val="CE9178"/>
                </a:solidFill>
                <a:latin typeface="Consolas" panose="020B0609020204030204"/>
                <a:ea typeface="Consolas" panose="020B0609020204030204"/>
              </a:rPr>
              <a:t>'Age'</a:t>
            </a:r>
            <a:r>
              <a:rPr lang="en-US" altLang="zh-CN" sz="1000" b="0">
                <a:solidFill>
                  <a:srgbClr val="CCCCCC"/>
                </a:solidFill>
                <a:latin typeface="Consolas" panose="020B0609020204030204"/>
                <a:ea typeface="Consolas" panose="020B0609020204030204"/>
              </a:rPr>
              <a:t>] </a:t>
            </a:r>
            <a:r>
              <a:rPr lang="en-US" altLang="zh-CN" sz="1000" b="0">
                <a:solidFill>
                  <a:srgbClr val="DCDCAA"/>
                </a:solidFill>
                <a:latin typeface="Consolas" panose="020B0609020204030204"/>
                <a:ea typeface="Consolas" panose="020B0609020204030204"/>
              </a:rPr>
              <a:t>&lt;</a:t>
            </a:r>
            <a:r>
              <a:rPr lang="en-US" altLang="zh-CN" sz="1000" b="0">
                <a:solidFill>
                  <a:srgbClr val="B5CEA8"/>
                </a:solidFill>
                <a:latin typeface="Consolas" panose="020B0609020204030204"/>
                <a:ea typeface="Consolas" panose="020B0609020204030204"/>
              </a:rPr>
              <a:t>5</a:t>
            </a:r>
            <a:r>
              <a:rPr lang="en-US" altLang="zh-CN" sz="1000" b="0">
                <a:solidFill>
                  <a:srgbClr val="CCCCCC"/>
                </a:solidFill>
                <a:latin typeface="Consolas" panose="020B0609020204030204"/>
                <a:ea typeface="Consolas" panose="020B0609020204030204"/>
              </a:rPr>
              <a:t>])</a:t>
            </a:r>
            <a:endParaRPr lang="en-US" altLang="zh-CN" sz="1000" b="0">
              <a:solidFill>
                <a:srgbClr val="CCCCCC"/>
              </a:solidFill>
              <a:latin typeface="Consolas" panose="020B0609020204030204"/>
              <a:ea typeface="Consolas" panose="020B0609020204030204"/>
            </a:endParaRPr>
          </a:p>
          <a:p>
            <a:pPr>
              <a:lnSpc>
                <a:spcPct val="100000"/>
              </a:lnSpc>
            </a:pPr>
            <a:r>
              <a:rPr lang="en-US" altLang="zh-CN" sz="1000" b="0">
                <a:solidFill>
                  <a:srgbClr val="6A9955"/>
                </a:solidFill>
                <a:latin typeface="Consolas" panose="020B0609020204030204"/>
                <a:ea typeface="Consolas" panose="020B0609020204030204"/>
              </a:rPr>
              <a:t>#no of passenger &gt;18</a:t>
            </a:r>
            <a:endParaRPr lang="en-US" altLang="zh-CN" sz="1000" b="0">
              <a:solidFill>
                <a:srgbClr val="6A9955"/>
              </a:solidFill>
              <a:latin typeface="Consolas" panose="020B0609020204030204"/>
              <a:ea typeface="Consolas" panose="020B0609020204030204"/>
            </a:endParaRPr>
          </a:p>
          <a:p>
            <a:pPr>
              <a:lnSpc>
                <a:spcPct val="100000"/>
              </a:lnSpc>
            </a:pPr>
            <a:r>
              <a:rPr lang="en-US" altLang="zh-CN" sz="1000" b="0">
                <a:solidFill>
                  <a:srgbClr val="DCDCAA"/>
                </a:solidFill>
                <a:latin typeface="Consolas" panose="020B0609020204030204"/>
                <a:ea typeface="Consolas" panose="020B0609020204030204"/>
              </a:rPr>
              <a:t>len</a:t>
            </a:r>
            <a:r>
              <a:rPr lang="en-US" altLang="zh-CN" sz="1000" b="0">
                <a:solidFill>
                  <a:srgbClr val="CCCCCC"/>
                </a:solidFill>
                <a:latin typeface="Consolas" panose="020B0609020204030204"/>
                <a:ea typeface="Consolas" panose="020B0609020204030204"/>
              </a:rPr>
              <a:t>(</a:t>
            </a:r>
            <a:r>
              <a:rPr lang="en-US" altLang="zh-CN" sz="1000" b="0">
                <a:solidFill>
                  <a:srgbClr val="9CDCFE"/>
                </a:solidFill>
                <a:latin typeface="Consolas" panose="020B0609020204030204"/>
                <a:ea typeface="Consolas" panose="020B0609020204030204"/>
              </a:rPr>
              <a:t>df</a:t>
            </a:r>
            <a:r>
              <a:rPr lang="en-US" altLang="zh-CN" sz="1000" b="0">
                <a:solidFill>
                  <a:srgbClr val="CCCCCC"/>
                </a:solidFill>
                <a:latin typeface="Consolas" panose="020B0609020204030204"/>
                <a:ea typeface="Consolas" panose="020B0609020204030204"/>
              </a:rPr>
              <a:t>[</a:t>
            </a:r>
            <a:r>
              <a:rPr lang="en-US" altLang="zh-CN" sz="1000" b="0">
                <a:solidFill>
                  <a:srgbClr val="9CDCFE"/>
                </a:solidFill>
                <a:latin typeface="Consolas" panose="020B0609020204030204"/>
                <a:ea typeface="Consolas" panose="020B0609020204030204"/>
              </a:rPr>
              <a:t>df</a:t>
            </a:r>
            <a:r>
              <a:rPr lang="en-US" altLang="zh-CN" sz="1000" b="0">
                <a:solidFill>
                  <a:srgbClr val="CCCCCC"/>
                </a:solidFill>
                <a:latin typeface="Consolas" panose="020B0609020204030204"/>
                <a:ea typeface="Consolas" panose="020B0609020204030204"/>
              </a:rPr>
              <a:t>[</a:t>
            </a:r>
            <a:r>
              <a:rPr lang="en-US" altLang="zh-CN" sz="1000" b="0">
                <a:solidFill>
                  <a:srgbClr val="CE9178"/>
                </a:solidFill>
                <a:latin typeface="Consolas" panose="020B0609020204030204"/>
                <a:ea typeface="Consolas" panose="020B0609020204030204"/>
              </a:rPr>
              <a:t>'Age'</a:t>
            </a:r>
            <a:r>
              <a:rPr lang="en-US" altLang="zh-CN" sz="1000" b="0">
                <a:solidFill>
                  <a:srgbClr val="CCCCCC"/>
                </a:solidFill>
                <a:latin typeface="Consolas" panose="020B0609020204030204"/>
                <a:ea typeface="Consolas" panose="020B0609020204030204"/>
              </a:rPr>
              <a:t>] </a:t>
            </a:r>
            <a:r>
              <a:rPr lang="en-US" altLang="zh-CN" sz="1000" b="0">
                <a:solidFill>
                  <a:srgbClr val="DCDCAA"/>
                </a:solidFill>
                <a:latin typeface="Consolas" panose="020B0609020204030204"/>
                <a:ea typeface="Consolas" panose="020B0609020204030204"/>
              </a:rPr>
              <a:t>&gt;</a:t>
            </a:r>
            <a:r>
              <a:rPr lang="en-US" altLang="zh-CN" sz="1000" b="0">
                <a:solidFill>
                  <a:srgbClr val="B5CEA8"/>
                </a:solidFill>
                <a:latin typeface="Consolas" panose="020B0609020204030204"/>
                <a:ea typeface="Consolas" panose="020B0609020204030204"/>
              </a:rPr>
              <a:t>18</a:t>
            </a:r>
            <a:r>
              <a:rPr lang="en-US" altLang="zh-CN" sz="1000" b="0">
                <a:solidFill>
                  <a:srgbClr val="CCCCCC"/>
                </a:solidFill>
                <a:latin typeface="Consolas" panose="020B0609020204030204"/>
                <a:ea typeface="Consolas" panose="020B0609020204030204"/>
              </a:rPr>
              <a:t>])</a:t>
            </a:r>
            <a:endParaRPr lang="en-US" altLang="zh-CN" sz="1000" b="0">
              <a:solidFill>
                <a:srgbClr val="CCCCCC"/>
              </a:solidFill>
              <a:latin typeface="Consolas" panose="020B0609020204030204"/>
              <a:ea typeface="Consolas" panose="020B0609020204030204"/>
            </a:endParaRPr>
          </a:p>
          <a:p>
            <a:pPr>
              <a:lnSpc>
                <a:spcPct val="100000"/>
              </a:lnSpc>
            </a:pPr>
            <a:r>
              <a:rPr lang="en-US" altLang="zh-CN" sz="1000" b="0">
                <a:solidFill>
                  <a:srgbClr val="6A9955"/>
                </a:solidFill>
                <a:latin typeface="Consolas" panose="020B0609020204030204"/>
                <a:ea typeface="Consolas" panose="020B0609020204030204"/>
              </a:rPr>
              <a:t>#how many passengers are less than 18 years old</a:t>
            </a:r>
            <a:endParaRPr lang="en-US" altLang="zh-CN" sz="1000" b="0">
              <a:solidFill>
                <a:srgbClr val="6A9955"/>
              </a:solidFill>
              <a:latin typeface="Consolas" panose="020B0609020204030204"/>
              <a:ea typeface="Consolas" panose="020B0609020204030204"/>
            </a:endParaRPr>
          </a:p>
          <a:p>
            <a:pPr>
              <a:lnSpc>
                <a:spcPct val="100000"/>
              </a:lnSpc>
            </a:pPr>
            <a:r>
              <a:rPr lang="en-US" altLang="zh-CN" sz="1000" b="0">
                <a:solidFill>
                  <a:srgbClr val="DCDCAA"/>
                </a:solidFill>
                <a:latin typeface="Consolas" panose="020B0609020204030204"/>
                <a:ea typeface="Consolas" panose="020B0609020204030204"/>
              </a:rPr>
              <a:t>len</a:t>
            </a:r>
            <a:r>
              <a:rPr lang="en-US" altLang="zh-CN" sz="1000" b="0">
                <a:solidFill>
                  <a:srgbClr val="CCCCCC"/>
                </a:solidFill>
                <a:latin typeface="Consolas" panose="020B0609020204030204"/>
                <a:ea typeface="Consolas" panose="020B0609020204030204"/>
              </a:rPr>
              <a:t>(</a:t>
            </a:r>
            <a:r>
              <a:rPr lang="en-US" altLang="zh-CN" sz="1000" b="0">
                <a:solidFill>
                  <a:srgbClr val="9CDCFE"/>
                </a:solidFill>
                <a:latin typeface="Consolas" panose="020B0609020204030204"/>
                <a:ea typeface="Consolas" panose="020B0609020204030204"/>
              </a:rPr>
              <a:t>df</a:t>
            </a:r>
            <a:r>
              <a:rPr lang="en-US" altLang="zh-CN" sz="1000" b="0">
                <a:solidFill>
                  <a:srgbClr val="CCCCCC"/>
                </a:solidFill>
                <a:latin typeface="Consolas" panose="020B0609020204030204"/>
                <a:ea typeface="Consolas" panose="020B0609020204030204"/>
              </a:rPr>
              <a:t>) </a:t>
            </a:r>
            <a:r>
              <a:rPr lang="en-US" altLang="zh-CN" sz="1000" b="0">
                <a:solidFill>
                  <a:srgbClr val="D4D4D4"/>
                </a:solidFill>
                <a:latin typeface="Consolas" panose="020B0609020204030204"/>
                <a:ea typeface="Consolas" panose="020B0609020204030204"/>
              </a:rPr>
              <a:t>-</a:t>
            </a:r>
            <a:r>
              <a:rPr lang="en-US" altLang="zh-CN" sz="1000" b="0">
                <a:solidFill>
                  <a:srgbClr val="DCDCAA"/>
                </a:solidFill>
                <a:latin typeface="Consolas" panose="020B0609020204030204"/>
                <a:ea typeface="Consolas" panose="020B0609020204030204"/>
              </a:rPr>
              <a:t>len</a:t>
            </a:r>
            <a:r>
              <a:rPr lang="en-US" altLang="zh-CN" sz="1000" b="0">
                <a:solidFill>
                  <a:srgbClr val="CCCCCC"/>
                </a:solidFill>
                <a:latin typeface="Consolas" panose="020B0609020204030204"/>
                <a:ea typeface="Consolas" panose="020B0609020204030204"/>
              </a:rPr>
              <a:t>(</a:t>
            </a:r>
            <a:r>
              <a:rPr lang="en-US" altLang="zh-CN" sz="1000" b="0">
                <a:solidFill>
                  <a:srgbClr val="9CDCFE"/>
                </a:solidFill>
                <a:latin typeface="Consolas" panose="020B0609020204030204"/>
                <a:ea typeface="Consolas" panose="020B0609020204030204"/>
              </a:rPr>
              <a:t>df</a:t>
            </a:r>
            <a:r>
              <a:rPr lang="en-US" altLang="zh-CN" sz="1000" b="0">
                <a:solidFill>
                  <a:srgbClr val="CCCCCC"/>
                </a:solidFill>
                <a:latin typeface="Consolas" panose="020B0609020204030204"/>
                <a:ea typeface="Consolas" panose="020B0609020204030204"/>
              </a:rPr>
              <a:t>[</a:t>
            </a:r>
            <a:r>
              <a:rPr lang="en-US" altLang="zh-CN" sz="1000" b="0">
                <a:solidFill>
                  <a:srgbClr val="9CDCFE"/>
                </a:solidFill>
                <a:latin typeface="Consolas" panose="020B0609020204030204"/>
                <a:ea typeface="Consolas" panose="020B0609020204030204"/>
              </a:rPr>
              <a:t>df</a:t>
            </a:r>
            <a:r>
              <a:rPr lang="en-US" altLang="zh-CN" sz="1000" b="0">
                <a:solidFill>
                  <a:srgbClr val="CCCCCC"/>
                </a:solidFill>
                <a:latin typeface="Consolas" panose="020B0609020204030204"/>
                <a:ea typeface="Consolas" panose="020B0609020204030204"/>
              </a:rPr>
              <a:t>[</a:t>
            </a:r>
            <a:r>
              <a:rPr lang="en-US" altLang="zh-CN" sz="1000" b="0">
                <a:solidFill>
                  <a:srgbClr val="CE9178"/>
                </a:solidFill>
                <a:latin typeface="Consolas" panose="020B0609020204030204"/>
                <a:ea typeface="Consolas" panose="020B0609020204030204"/>
              </a:rPr>
              <a:t>'Age'</a:t>
            </a:r>
            <a:r>
              <a:rPr lang="en-US" altLang="zh-CN" sz="1000" b="0">
                <a:solidFill>
                  <a:srgbClr val="CCCCCC"/>
                </a:solidFill>
                <a:latin typeface="Consolas" panose="020B0609020204030204"/>
                <a:ea typeface="Consolas" panose="020B0609020204030204"/>
              </a:rPr>
              <a:t>] </a:t>
            </a:r>
            <a:r>
              <a:rPr lang="en-US" altLang="zh-CN" sz="1000" b="0">
                <a:solidFill>
                  <a:srgbClr val="DCDCAA"/>
                </a:solidFill>
                <a:latin typeface="Consolas" panose="020B0609020204030204"/>
                <a:ea typeface="Consolas" panose="020B0609020204030204"/>
              </a:rPr>
              <a:t>&gt;</a:t>
            </a:r>
            <a:r>
              <a:rPr lang="en-US" altLang="zh-CN" sz="1000" b="0">
                <a:solidFill>
                  <a:srgbClr val="B5CEA8"/>
                </a:solidFill>
                <a:latin typeface="Consolas" panose="020B0609020204030204"/>
                <a:ea typeface="Consolas" panose="020B0609020204030204"/>
              </a:rPr>
              <a:t>18</a:t>
            </a:r>
            <a:r>
              <a:rPr lang="en-US" altLang="zh-CN" sz="1000" b="0">
                <a:solidFill>
                  <a:srgbClr val="CCCCCC"/>
                </a:solidFill>
                <a:latin typeface="Consolas" panose="020B0609020204030204"/>
                <a:ea typeface="Consolas" panose="020B0609020204030204"/>
              </a:rPr>
              <a:t>])</a:t>
            </a:r>
            <a:endParaRPr lang="en-US" altLang="zh-CN" sz="1000" b="0">
              <a:solidFill>
                <a:srgbClr val="CCCCCC"/>
              </a:solidFill>
              <a:latin typeface="Consolas" panose="020B0609020204030204"/>
              <a:ea typeface="Consolas" panose="020B0609020204030204"/>
            </a:endParaRPr>
          </a:p>
          <a:p>
            <a:pPr>
              <a:lnSpc>
                <a:spcPct val="100000"/>
              </a:lnSpc>
            </a:pPr>
            <a:r>
              <a:rPr lang="en-US" altLang="zh-CN" sz="1000" b="0">
                <a:solidFill>
                  <a:srgbClr val="DCDCAA"/>
                </a:solidFill>
                <a:latin typeface="Consolas" panose="020B0609020204030204"/>
                <a:ea typeface="Consolas" panose="020B0609020204030204"/>
              </a:rPr>
              <a:t>len</a:t>
            </a:r>
            <a:r>
              <a:rPr lang="en-US" altLang="zh-CN" sz="1000" b="0">
                <a:solidFill>
                  <a:srgbClr val="CCCCCC"/>
                </a:solidFill>
                <a:latin typeface="Consolas" panose="020B0609020204030204"/>
                <a:ea typeface="Consolas" panose="020B0609020204030204"/>
              </a:rPr>
              <a:t>(</a:t>
            </a:r>
            <a:r>
              <a:rPr lang="en-US" altLang="zh-CN" sz="1000" b="0">
                <a:solidFill>
                  <a:srgbClr val="9CDCFE"/>
                </a:solidFill>
                <a:latin typeface="Consolas" panose="020B0609020204030204"/>
                <a:ea typeface="Consolas" panose="020B0609020204030204"/>
              </a:rPr>
              <a:t>df</a:t>
            </a:r>
            <a:r>
              <a:rPr lang="en-US" altLang="zh-CN" sz="1000" b="0">
                <a:solidFill>
                  <a:srgbClr val="CCCCCC"/>
                </a:solidFill>
                <a:latin typeface="Consolas" panose="020B0609020204030204"/>
                <a:ea typeface="Consolas" panose="020B0609020204030204"/>
              </a:rPr>
              <a:t>[</a:t>
            </a:r>
            <a:r>
              <a:rPr lang="en-US" altLang="zh-CN" sz="1000" b="0">
                <a:solidFill>
                  <a:srgbClr val="9CDCFE"/>
                </a:solidFill>
                <a:latin typeface="Consolas" panose="020B0609020204030204"/>
                <a:ea typeface="Consolas" panose="020B0609020204030204"/>
              </a:rPr>
              <a:t>df</a:t>
            </a:r>
            <a:r>
              <a:rPr lang="en-US" altLang="zh-CN" sz="1000" b="0">
                <a:solidFill>
                  <a:srgbClr val="CCCCCC"/>
                </a:solidFill>
                <a:latin typeface="Consolas" panose="020B0609020204030204"/>
                <a:ea typeface="Consolas" panose="020B0609020204030204"/>
              </a:rPr>
              <a:t>[</a:t>
            </a:r>
            <a:r>
              <a:rPr lang="en-US" altLang="zh-CN" sz="1000" b="0">
                <a:solidFill>
                  <a:srgbClr val="CE9178"/>
                </a:solidFill>
                <a:latin typeface="Consolas" panose="020B0609020204030204"/>
                <a:ea typeface="Consolas" panose="020B0609020204030204"/>
              </a:rPr>
              <a:t>'Age'</a:t>
            </a:r>
            <a:r>
              <a:rPr lang="en-US" altLang="zh-CN" sz="1000" b="0">
                <a:solidFill>
                  <a:srgbClr val="CCCCCC"/>
                </a:solidFill>
                <a:latin typeface="Consolas" panose="020B0609020204030204"/>
                <a:ea typeface="Consolas" panose="020B0609020204030204"/>
              </a:rPr>
              <a:t>] </a:t>
            </a:r>
            <a:r>
              <a:rPr lang="en-US" altLang="zh-CN" sz="1000" b="0">
                <a:solidFill>
                  <a:srgbClr val="DCDCAA"/>
                </a:solidFill>
                <a:latin typeface="Consolas" panose="020B0609020204030204"/>
                <a:ea typeface="Consolas" panose="020B0609020204030204"/>
              </a:rPr>
              <a:t>&lt;=</a:t>
            </a:r>
            <a:r>
              <a:rPr lang="en-US" altLang="zh-CN" sz="1000" b="0">
                <a:solidFill>
                  <a:srgbClr val="B5CEA8"/>
                </a:solidFill>
                <a:latin typeface="Consolas" panose="020B0609020204030204"/>
                <a:ea typeface="Consolas" panose="020B0609020204030204"/>
              </a:rPr>
              <a:t>18</a:t>
            </a:r>
            <a:r>
              <a:rPr lang="en-US" altLang="zh-CN" sz="1000" b="0">
                <a:solidFill>
                  <a:srgbClr val="CCCCCC"/>
                </a:solidFill>
                <a:latin typeface="Consolas" panose="020B0609020204030204"/>
                <a:ea typeface="Consolas" panose="020B0609020204030204"/>
              </a:rPr>
              <a:t>]) </a:t>
            </a:r>
            <a:r>
              <a:rPr lang="en-US" altLang="zh-CN" sz="1000" b="0">
                <a:solidFill>
                  <a:srgbClr val="6A9955"/>
                </a:solidFill>
                <a:latin typeface="Consolas" panose="020B0609020204030204"/>
                <a:ea typeface="Consolas" panose="020B0609020204030204"/>
              </a:rPr>
              <a:t>#missing value in age column</a:t>
            </a:r>
            <a:endParaRPr lang="en-US" altLang="zh-CN" sz="1000" b="0">
              <a:solidFill>
                <a:srgbClr val="6A9955"/>
              </a:solidFill>
              <a:latin typeface="Consolas" panose="020B0609020204030204"/>
              <a:ea typeface="Consolas" panose="020B0609020204030204"/>
            </a:endParaRPr>
          </a:p>
          <a:p>
            <a:pPr>
              <a:lnSpc>
                <a:spcPct val="100000"/>
              </a:lnSpc>
            </a:pPr>
            <a:r>
              <a:rPr lang="en-US" altLang="zh-CN" sz="1000" b="0">
                <a:solidFill>
                  <a:srgbClr val="6A9955"/>
                </a:solidFill>
                <a:latin typeface="Consolas" panose="020B0609020204030204"/>
                <a:ea typeface="Consolas" panose="020B0609020204030204"/>
              </a:rPr>
              <a:t>#Q. How many passengers have paid less than avg fare</a:t>
            </a:r>
            <a:endParaRPr lang="en-US" altLang="zh-CN" sz="1000" b="0">
              <a:solidFill>
                <a:srgbClr val="6A9955"/>
              </a:solidFill>
              <a:latin typeface="Consolas" panose="020B0609020204030204"/>
              <a:ea typeface="Consolas" panose="020B0609020204030204"/>
            </a:endParaRPr>
          </a:p>
          <a:p>
            <a:pPr>
              <a:lnSpc>
                <a:spcPct val="100000"/>
              </a:lnSpc>
            </a:pPr>
            <a:r>
              <a:rPr lang="en-US" altLang="zh-CN" sz="1000" b="0">
                <a:solidFill>
                  <a:srgbClr val="9CDCFE"/>
                </a:solidFill>
                <a:latin typeface="Consolas" panose="020B0609020204030204"/>
                <a:ea typeface="Consolas" panose="020B0609020204030204"/>
              </a:rPr>
              <a:t>df</a:t>
            </a:r>
            <a:r>
              <a:rPr lang="en-US" altLang="zh-CN" sz="1000" b="0">
                <a:solidFill>
                  <a:srgbClr val="CCCCCC"/>
                </a:solidFill>
                <a:latin typeface="Consolas" panose="020B0609020204030204"/>
                <a:ea typeface="Consolas" panose="020B0609020204030204"/>
              </a:rPr>
              <a:t>[</a:t>
            </a:r>
            <a:r>
              <a:rPr lang="en-US" altLang="zh-CN" sz="1000" b="0">
                <a:solidFill>
                  <a:srgbClr val="CE9178"/>
                </a:solidFill>
                <a:latin typeface="Consolas" panose="020B0609020204030204"/>
                <a:ea typeface="Consolas" panose="020B0609020204030204"/>
              </a:rPr>
              <a:t>'Fare'</a:t>
            </a:r>
            <a:r>
              <a:rPr lang="en-US" altLang="zh-CN" sz="1000" b="0">
                <a:solidFill>
                  <a:srgbClr val="CCCCCC"/>
                </a:solidFill>
                <a:latin typeface="Consolas" panose="020B0609020204030204"/>
                <a:ea typeface="Consolas" panose="020B0609020204030204"/>
              </a:rPr>
              <a:t>].</a:t>
            </a:r>
            <a:r>
              <a:rPr lang="en-US" altLang="zh-CN" sz="1000" b="0">
                <a:solidFill>
                  <a:srgbClr val="DCDCAA"/>
                </a:solidFill>
                <a:latin typeface="Consolas" panose="020B0609020204030204"/>
                <a:ea typeface="Consolas" panose="020B0609020204030204"/>
              </a:rPr>
              <a:t>mean</a:t>
            </a:r>
            <a:r>
              <a:rPr lang="en-US" altLang="zh-CN" sz="1000" b="0">
                <a:solidFill>
                  <a:srgbClr val="CCCCCC"/>
                </a:solidFill>
                <a:latin typeface="Consolas" panose="020B0609020204030204"/>
                <a:ea typeface="Consolas" panose="020B0609020204030204"/>
              </a:rPr>
              <a:t>()</a:t>
            </a:r>
            <a:endParaRPr lang="en-US" altLang="zh-CN" sz="1000" b="0">
              <a:solidFill>
                <a:srgbClr val="CCCCCC"/>
              </a:solidFill>
              <a:latin typeface="Consolas" panose="020B0609020204030204"/>
              <a:ea typeface="Consolas" panose="020B0609020204030204"/>
            </a:endParaRPr>
          </a:p>
          <a:p>
            <a:pPr>
              <a:lnSpc>
                <a:spcPct val="100000"/>
              </a:lnSpc>
            </a:pPr>
            <a:r>
              <a:rPr lang="en-US" altLang="zh-CN" sz="1000" b="0">
                <a:solidFill>
                  <a:srgbClr val="9CDCFE"/>
                </a:solidFill>
                <a:latin typeface="Consolas" panose="020B0609020204030204"/>
                <a:ea typeface="Consolas" panose="020B0609020204030204"/>
              </a:rPr>
              <a:t>df</a:t>
            </a:r>
            <a:r>
              <a:rPr lang="en-US" altLang="zh-CN" sz="1000" b="0">
                <a:solidFill>
                  <a:srgbClr val="CCCCCC"/>
                </a:solidFill>
                <a:latin typeface="Consolas" panose="020B0609020204030204"/>
                <a:ea typeface="Consolas" panose="020B0609020204030204"/>
              </a:rPr>
              <a:t>[</a:t>
            </a:r>
            <a:r>
              <a:rPr lang="en-US" altLang="zh-CN" sz="1000" b="0">
                <a:solidFill>
                  <a:srgbClr val="9CDCFE"/>
                </a:solidFill>
                <a:latin typeface="Consolas" panose="020B0609020204030204"/>
                <a:ea typeface="Consolas" panose="020B0609020204030204"/>
              </a:rPr>
              <a:t>df</a:t>
            </a:r>
            <a:r>
              <a:rPr lang="en-US" altLang="zh-CN" sz="1000" b="0">
                <a:solidFill>
                  <a:srgbClr val="CCCCCC"/>
                </a:solidFill>
                <a:latin typeface="Consolas" panose="020B0609020204030204"/>
                <a:ea typeface="Consolas" panose="020B0609020204030204"/>
              </a:rPr>
              <a:t>[</a:t>
            </a:r>
            <a:r>
              <a:rPr lang="en-US" altLang="zh-CN" sz="1000" b="0">
                <a:solidFill>
                  <a:srgbClr val="CE9178"/>
                </a:solidFill>
                <a:latin typeface="Consolas" panose="020B0609020204030204"/>
                <a:ea typeface="Consolas" panose="020B0609020204030204"/>
              </a:rPr>
              <a:t>'Fare'</a:t>
            </a:r>
            <a:r>
              <a:rPr lang="en-US" altLang="zh-CN" sz="1000" b="0">
                <a:solidFill>
                  <a:srgbClr val="CCCCCC"/>
                </a:solidFill>
                <a:latin typeface="Consolas" panose="020B0609020204030204"/>
                <a:ea typeface="Consolas" panose="020B0609020204030204"/>
              </a:rPr>
              <a:t>]</a:t>
            </a:r>
            <a:r>
              <a:rPr lang="en-US" altLang="zh-CN" sz="1000" b="0">
                <a:solidFill>
                  <a:srgbClr val="DCDCAA"/>
                </a:solidFill>
                <a:latin typeface="Consolas" panose="020B0609020204030204"/>
                <a:ea typeface="Consolas" panose="020B0609020204030204"/>
              </a:rPr>
              <a:t>&lt;</a:t>
            </a:r>
            <a:r>
              <a:rPr lang="en-US" altLang="zh-CN" sz="1000" b="0">
                <a:solidFill>
                  <a:srgbClr val="9CDCFE"/>
                </a:solidFill>
                <a:latin typeface="Consolas" panose="020B0609020204030204"/>
                <a:ea typeface="Consolas" panose="020B0609020204030204"/>
              </a:rPr>
              <a:t>df</a:t>
            </a:r>
            <a:r>
              <a:rPr lang="en-US" altLang="zh-CN" sz="1000" b="0">
                <a:solidFill>
                  <a:srgbClr val="CCCCCC"/>
                </a:solidFill>
                <a:latin typeface="Consolas" panose="020B0609020204030204"/>
                <a:ea typeface="Consolas" panose="020B0609020204030204"/>
              </a:rPr>
              <a:t>[</a:t>
            </a:r>
            <a:r>
              <a:rPr lang="en-US" altLang="zh-CN" sz="1000" b="0">
                <a:solidFill>
                  <a:srgbClr val="CE9178"/>
                </a:solidFill>
                <a:latin typeface="Consolas" panose="020B0609020204030204"/>
                <a:ea typeface="Consolas" panose="020B0609020204030204"/>
              </a:rPr>
              <a:t>'Fare'</a:t>
            </a:r>
            <a:r>
              <a:rPr lang="en-US" altLang="zh-CN" sz="1000" b="0">
                <a:solidFill>
                  <a:srgbClr val="CCCCCC"/>
                </a:solidFill>
                <a:latin typeface="Consolas" panose="020B0609020204030204"/>
                <a:ea typeface="Consolas" panose="020B0609020204030204"/>
              </a:rPr>
              <a:t>].</a:t>
            </a:r>
            <a:r>
              <a:rPr lang="en-US" altLang="zh-CN" sz="1000" b="0">
                <a:solidFill>
                  <a:srgbClr val="DCDCAA"/>
                </a:solidFill>
                <a:latin typeface="Consolas" panose="020B0609020204030204"/>
                <a:ea typeface="Consolas" panose="020B0609020204030204"/>
              </a:rPr>
              <a:t>mean</a:t>
            </a:r>
            <a:r>
              <a:rPr lang="en-US" altLang="zh-CN" sz="1000" b="0">
                <a:solidFill>
                  <a:srgbClr val="CCCCCC"/>
                </a:solidFill>
                <a:latin typeface="Consolas" panose="020B0609020204030204"/>
                <a:ea typeface="Consolas" panose="020B0609020204030204"/>
              </a:rPr>
              <a:t>()]</a:t>
            </a:r>
            <a:endParaRPr lang="en-US" altLang="zh-CN" sz="1000" b="0">
              <a:solidFill>
                <a:srgbClr val="CCCCCC"/>
              </a:solidFill>
              <a:latin typeface="Consolas" panose="020B0609020204030204"/>
              <a:ea typeface="Consolas" panose="020B0609020204030204"/>
            </a:endParaRPr>
          </a:p>
          <a:p>
            <a:pPr>
              <a:lnSpc>
                <a:spcPct val="100000"/>
              </a:lnSpc>
            </a:pPr>
            <a:r>
              <a:rPr lang="en-US" altLang="zh-CN" sz="1000" b="0">
                <a:solidFill>
                  <a:srgbClr val="DCDCAA"/>
                </a:solidFill>
                <a:latin typeface="Consolas" panose="020B0609020204030204"/>
                <a:ea typeface="Consolas" panose="020B0609020204030204"/>
              </a:rPr>
              <a:t>len</a:t>
            </a:r>
            <a:r>
              <a:rPr lang="en-US" altLang="zh-CN" sz="1000" b="0">
                <a:solidFill>
                  <a:srgbClr val="CCCCCC"/>
                </a:solidFill>
                <a:latin typeface="Consolas" panose="020B0609020204030204"/>
                <a:ea typeface="Consolas" panose="020B0609020204030204"/>
              </a:rPr>
              <a:t>(</a:t>
            </a:r>
            <a:r>
              <a:rPr lang="en-US" altLang="zh-CN" sz="1000" b="0">
                <a:solidFill>
                  <a:srgbClr val="9CDCFE"/>
                </a:solidFill>
                <a:latin typeface="Consolas" panose="020B0609020204030204"/>
                <a:ea typeface="Consolas" panose="020B0609020204030204"/>
              </a:rPr>
              <a:t>df</a:t>
            </a:r>
            <a:r>
              <a:rPr lang="en-US" altLang="zh-CN" sz="1000" b="0">
                <a:solidFill>
                  <a:srgbClr val="CCCCCC"/>
                </a:solidFill>
                <a:latin typeface="Consolas" panose="020B0609020204030204"/>
                <a:ea typeface="Consolas" panose="020B0609020204030204"/>
              </a:rPr>
              <a:t>[</a:t>
            </a:r>
            <a:r>
              <a:rPr lang="en-US" altLang="zh-CN" sz="1000" b="0">
                <a:solidFill>
                  <a:srgbClr val="9CDCFE"/>
                </a:solidFill>
                <a:latin typeface="Consolas" panose="020B0609020204030204"/>
                <a:ea typeface="Consolas" panose="020B0609020204030204"/>
              </a:rPr>
              <a:t>df</a:t>
            </a:r>
            <a:r>
              <a:rPr lang="en-US" altLang="zh-CN" sz="1000" b="0">
                <a:solidFill>
                  <a:srgbClr val="CCCCCC"/>
                </a:solidFill>
                <a:latin typeface="Consolas" panose="020B0609020204030204"/>
                <a:ea typeface="Consolas" panose="020B0609020204030204"/>
              </a:rPr>
              <a:t>[</a:t>
            </a:r>
            <a:r>
              <a:rPr lang="en-US" altLang="zh-CN" sz="1000" b="0">
                <a:solidFill>
                  <a:srgbClr val="CE9178"/>
                </a:solidFill>
                <a:latin typeface="Consolas" panose="020B0609020204030204"/>
                <a:ea typeface="Consolas" panose="020B0609020204030204"/>
              </a:rPr>
              <a:t>'Fare'</a:t>
            </a:r>
            <a:r>
              <a:rPr lang="en-US" altLang="zh-CN" sz="1000" b="0">
                <a:solidFill>
                  <a:srgbClr val="CCCCCC"/>
                </a:solidFill>
                <a:latin typeface="Consolas" panose="020B0609020204030204"/>
                <a:ea typeface="Consolas" panose="020B0609020204030204"/>
              </a:rPr>
              <a:t>] </a:t>
            </a:r>
            <a:r>
              <a:rPr lang="en-US" altLang="zh-CN" sz="1000" b="0">
                <a:solidFill>
                  <a:srgbClr val="DCDCAA"/>
                </a:solidFill>
                <a:latin typeface="Consolas" panose="020B0609020204030204"/>
                <a:ea typeface="Consolas" panose="020B0609020204030204"/>
              </a:rPr>
              <a:t>&gt;</a:t>
            </a:r>
            <a:r>
              <a:rPr lang="en-US" altLang="zh-CN" sz="1000" b="0">
                <a:solidFill>
                  <a:srgbClr val="9CDCFE"/>
                </a:solidFill>
                <a:latin typeface="Consolas" panose="020B0609020204030204"/>
                <a:ea typeface="Consolas" panose="020B0609020204030204"/>
              </a:rPr>
              <a:t>df</a:t>
            </a:r>
            <a:r>
              <a:rPr lang="en-US" altLang="zh-CN" sz="1000" b="0">
                <a:solidFill>
                  <a:srgbClr val="CCCCCC"/>
                </a:solidFill>
                <a:latin typeface="Consolas" panose="020B0609020204030204"/>
                <a:ea typeface="Consolas" panose="020B0609020204030204"/>
              </a:rPr>
              <a:t>[</a:t>
            </a:r>
            <a:r>
              <a:rPr lang="en-US" altLang="zh-CN" sz="1000" b="0">
                <a:solidFill>
                  <a:srgbClr val="CE9178"/>
                </a:solidFill>
                <a:latin typeface="Consolas" panose="020B0609020204030204"/>
                <a:ea typeface="Consolas" panose="020B0609020204030204"/>
              </a:rPr>
              <a:t>'Fare'</a:t>
            </a:r>
            <a:r>
              <a:rPr lang="en-US" altLang="zh-CN" sz="1000" b="0">
                <a:solidFill>
                  <a:srgbClr val="CCCCCC"/>
                </a:solidFill>
                <a:latin typeface="Consolas" panose="020B0609020204030204"/>
                <a:ea typeface="Consolas" panose="020B0609020204030204"/>
              </a:rPr>
              <a:t>].</a:t>
            </a:r>
            <a:r>
              <a:rPr lang="en-US" altLang="zh-CN" sz="1000" b="0">
                <a:solidFill>
                  <a:srgbClr val="DCDCAA"/>
                </a:solidFill>
                <a:latin typeface="Consolas" panose="020B0609020204030204"/>
                <a:ea typeface="Consolas" panose="020B0609020204030204"/>
              </a:rPr>
              <a:t>mean</a:t>
            </a:r>
            <a:r>
              <a:rPr lang="en-US" altLang="zh-CN" sz="1000" b="0">
                <a:solidFill>
                  <a:srgbClr val="CCCCCC"/>
                </a:solidFill>
                <a:latin typeface="Consolas" panose="020B0609020204030204"/>
                <a:ea typeface="Consolas" panose="020B0609020204030204"/>
              </a:rPr>
              <a:t>()])</a:t>
            </a:r>
            <a:endParaRPr lang="en-US" altLang="zh-CN" sz="1000" b="0">
              <a:solidFill>
                <a:srgbClr val="CCCCCC"/>
              </a:solidFill>
              <a:latin typeface="Consolas" panose="020B0609020204030204"/>
              <a:ea typeface="Consolas" panose="020B0609020204030204"/>
            </a:endParaRPr>
          </a:p>
          <a:p>
            <a:pPr>
              <a:lnSpc>
                <a:spcPct val="100000"/>
              </a:lnSpc>
            </a:pPr>
            <a:r>
              <a:rPr lang="en-US" altLang="zh-CN" sz="1000" b="0">
                <a:solidFill>
                  <a:srgbClr val="6A9955"/>
                </a:solidFill>
                <a:latin typeface="Consolas" panose="020B0609020204030204"/>
                <a:ea typeface="Consolas" panose="020B0609020204030204"/>
              </a:rPr>
              <a:t>#How many passengers paid 0 fare</a:t>
            </a:r>
            <a:endParaRPr lang="en-US" altLang="zh-CN" sz="1000" b="0">
              <a:solidFill>
                <a:srgbClr val="6A9955"/>
              </a:solidFill>
              <a:latin typeface="Consolas" panose="020B0609020204030204"/>
              <a:ea typeface="Consolas" panose="020B0609020204030204"/>
            </a:endParaRPr>
          </a:p>
          <a:p>
            <a:pPr>
              <a:lnSpc>
                <a:spcPct val="100000"/>
              </a:lnSpc>
            </a:pPr>
            <a:r>
              <a:rPr lang="en-US" altLang="zh-CN" sz="1000" b="0">
                <a:solidFill>
                  <a:srgbClr val="4EC9B0"/>
                </a:solidFill>
                <a:latin typeface="Consolas" panose="020B0609020204030204"/>
                <a:ea typeface="Consolas" panose="020B0609020204030204"/>
              </a:rPr>
              <a:t>list</a:t>
            </a:r>
            <a:r>
              <a:rPr lang="en-US" altLang="zh-CN" sz="1000" b="0">
                <a:solidFill>
                  <a:srgbClr val="CCCCCC"/>
                </a:solidFill>
                <a:latin typeface="Consolas" panose="020B0609020204030204"/>
                <a:ea typeface="Consolas" panose="020B0609020204030204"/>
              </a:rPr>
              <a:t>(</a:t>
            </a:r>
            <a:r>
              <a:rPr lang="en-US" altLang="zh-CN" sz="1000" b="0">
                <a:solidFill>
                  <a:srgbClr val="9CDCFE"/>
                </a:solidFill>
                <a:latin typeface="Consolas" panose="020B0609020204030204"/>
                <a:ea typeface="Consolas" panose="020B0609020204030204"/>
              </a:rPr>
              <a:t>df</a:t>
            </a:r>
            <a:r>
              <a:rPr lang="en-US" altLang="zh-CN" sz="1000" b="0">
                <a:solidFill>
                  <a:srgbClr val="CCCCCC"/>
                </a:solidFill>
                <a:latin typeface="Consolas" panose="020B0609020204030204"/>
                <a:ea typeface="Consolas" panose="020B0609020204030204"/>
              </a:rPr>
              <a:t>[</a:t>
            </a:r>
            <a:r>
              <a:rPr lang="en-US" altLang="zh-CN" sz="1000" b="0">
                <a:solidFill>
                  <a:srgbClr val="9CDCFE"/>
                </a:solidFill>
                <a:latin typeface="Consolas" panose="020B0609020204030204"/>
                <a:ea typeface="Consolas" panose="020B0609020204030204"/>
              </a:rPr>
              <a:t>df</a:t>
            </a:r>
            <a:r>
              <a:rPr lang="en-US" altLang="zh-CN" sz="1000" b="0">
                <a:solidFill>
                  <a:srgbClr val="CCCCCC"/>
                </a:solidFill>
                <a:latin typeface="Consolas" panose="020B0609020204030204"/>
                <a:ea typeface="Consolas" panose="020B0609020204030204"/>
              </a:rPr>
              <a:t>[</a:t>
            </a:r>
            <a:r>
              <a:rPr lang="en-US" altLang="zh-CN" sz="1000" b="0">
                <a:solidFill>
                  <a:srgbClr val="CE9178"/>
                </a:solidFill>
                <a:latin typeface="Consolas" panose="020B0609020204030204"/>
                <a:ea typeface="Consolas" panose="020B0609020204030204"/>
              </a:rPr>
              <a:t>'Fare'</a:t>
            </a:r>
            <a:r>
              <a:rPr lang="en-US" altLang="zh-CN" sz="1000" b="0">
                <a:solidFill>
                  <a:srgbClr val="CCCCCC"/>
                </a:solidFill>
                <a:latin typeface="Consolas" panose="020B0609020204030204"/>
                <a:ea typeface="Consolas" panose="020B0609020204030204"/>
              </a:rPr>
              <a:t>] </a:t>
            </a:r>
            <a:r>
              <a:rPr lang="en-US" altLang="zh-CN" sz="1000" b="0">
                <a:solidFill>
                  <a:srgbClr val="DCDCAA"/>
                </a:solidFill>
                <a:latin typeface="Consolas" panose="020B0609020204030204"/>
                <a:ea typeface="Consolas" panose="020B0609020204030204"/>
              </a:rPr>
              <a:t>==</a:t>
            </a:r>
            <a:r>
              <a:rPr lang="en-US" altLang="zh-CN" sz="1000" b="0">
                <a:solidFill>
                  <a:srgbClr val="B5CEA8"/>
                </a:solidFill>
                <a:latin typeface="Consolas" panose="020B0609020204030204"/>
                <a:ea typeface="Consolas" panose="020B0609020204030204"/>
              </a:rPr>
              <a:t>0</a:t>
            </a:r>
            <a:r>
              <a:rPr lang="en-US" altLang="zh-CN" sz="1000" b="0">
                <a:solidFill>
                  <a:srgbClr val="CCCCCC"/>
                </a:solidFill>
                <a:latin typeface="Consolas" panose="020B0609020204030204"/>
                <a:ea typeface="Consolas" panose="020B0609020204030204"/>
              </a:rPr>
              <a:t>].</a:t>
            </a:r>
            <a:r>
              <a:rPr lang="en-US" altLang="zh-CN" sz="1000" b="0">
                <a:solidFill>
                  <a:srgbClr val="9CDCFE"/>
                </a:solidFill>
                <a:latin typeface="Consolas" panose="020B0609020204030204"/>
                <a:ea typeface="Consolas" panose="020B0609020204030204"/>
              </a:rPr>
              <a:t>Name</a:t>
            </a:r>
            <a:r>
              <a:rPr lang="en-US" altLang="zh-CN" sz="1000" b="0">
                <a:solidFill>
                  <a:srgbClr val="CCCCCC"/>
                </a:solidFill>
                <a:latin typeface="Consolas" panose="020B0609020204030204"/>
                <a:ea typeface="Consolas" panose="020B0609020204030204"/>
              </a:rPr>
              <a:t>)</a:t>
            </a:r>
            <a:endParaRPr lang="en-US" altLang="zh-CN" sz="1000" b="0">
              <a:solidFill>
                <a:srgbClr val="CCCCCC"/>
              </a:solidFill>
              <a:latin typeface="Consolas" panose="020B0609020204030204"/>
              <a:ea typeface="Consolas" panose="020B0609020204030204"/>
            </a:endParaRPr>
          </a:p>
          <a:p>
            <a:pPr>
              <a:lnSpc>
                <a:spcPct val="100000"/>
              </a:lnSpc>
            </a:pPr>
            <a:r>
              <a:rPr lang="en-US" altLang="zh-CN" sz="1000" b="0">
                <a:solidFill>
                  <a:srgbClr val="6A9955"/>
                </a:solidFill>
                <a:latin typeface="Consolas" panose="020B0609020204030204"/>
                <a:ea typeface="Consolas" panose="020B0609020204030204"/>
              </a:rPr>
              <a:t>#Qhow many passengers are male and female</a:t>
            </a:r>
            <a:endParaRPr lang="en-US" altLang="zh-CN" sz="1000" b="0">
              <a:solidFill>
                <a:srgbClr val="6A9955"/>
              </a:solidFill>
              <a:latin typeface="Consolas" panose="020B0609020204030204"/>
              <a:ea typeface="Consolas" panose="020B0609020204030204"/>
            </a:endParaRPr>
          </a:p>
          <a:p>
            <a:pPr>
              <a:lnSpc>
                <a:spcPct val="100000"/>
              </a:lnSpc>
            </a:pPr>
            <a:r>
              <a:rPr lang="en-US" altLang="zh-CN" sz="1000" b="0">
                <a:solidFill>
                  <a:srgbClr val="DCDCAA"/>
                </a:solidFill>
                <a:latin typeface="Consolas" panose="020B0609020204030204"/>
                <a:ea typeface="Consolas" panose="020B0609020204030204"/>
              </a:rPr>
              <a:t>len</a:t>
            </a:r>
            <a:r>
              <a:rPr lang="en-US" altLang="zh-CN" sz="1000" b="0">
                <a:solidFill>
                  <a:srgbClr val="CCCCCC"/>
                </a:solidFill>
                <a:latin typeface="Consolas" panose="020B0609020204030204"/>
                <a:ea typeface="Consolas" panose="020B0609020204030204"/>
              </a:rPr>
              <a:t>(</a:t>
            </a:r>
            <a:r>
              <a:rPr lang="en-US" altLang="zh-CN" sz="1000" b="0">
                <a:solidFill>
                  <a:srgbClr val="9CDCFE"/>
                </a:solidFill>
                <a:latin typeface="Consolas" panose="020B0609020204030204"/>
                <a:ea typeface="Consolas" panose="020B0609020204030204"/>
              </a:rPr>
              <a:t>df</a:t>
            </a:r>
            <a:r>
              <a:rPr lang="en-US" altLang="zh-CN" sz="1000" b="0">
                <a:solidFill>
                  <a:srgbClr val="CCCCCC"/>
                </a:solidFill>
                <a:latin typeface="Consolas" panose="020B0609020204030204"/>
                <a:ea typeface="Consolas" panose="020B0609020204030204"/>
              </a:rPr>
              <a:t>[</a:t>
            </a:r>
            <a:r>
              <a:rPr lang="en-US" altLang="zh-CN" sz="1000" b="0">
                <a:solidFill>
                  <a:srgbClr val="9CDCFE"/>
                </a:solidFill>
                <a:latin typeface="Consolas" panose="020B0609020204030204"/>
                <a:ea typeface="Consolas" panose="020B0609020204030204"/>
              </a:rPr>
              <a:t>df</a:t>
            </a:r>
            <a:r>
              <a:rPr lang="en-US" altLang="zh-CN" sz="1000" b="0">
                <a:solidFill>
                  <a:srgbClr val="CCCCCC"/>
                </a:solidFill>
                <a:latin typeface="Consolas" panose="020B0609020204030204"/>
                <a:ea typeface="Consolas" panose="020B0609020204030204"/>
              </a:rPr>
              <a:t>[</a:t>
            </a:r>
            <a:r>
              <a:rPr lang="en-US" altLang="zh-CN" sz="1000" b="0">
                <a:solidFill>
                  <a:srgbClr val="CE9178"/>
                </a:solidFill>
                <a:latin typeface="Consolas" panose="020B0609020204030204"/>
                <a:ea typeface="Consolas" panose="020B0609020204030204"/>
              </a:rPr>
              <a:t>'Sex'</a:t>
            </a:r>
            <a:r>
              <a:rPr lang="en-US" altLang="zh-CN" sz="1000" b="0">
                <a:solidFill>
                  <a:srgbClr val="CCCCCC"/>
                </a:solidFill>
                <a:latin typeface="Consolas" panose="020B0609020204030204"/>
                <a:ea typeface="Consolas" panose="020B0609020204030204"/>
              </a:rPr>
              <a:t>] </a:t>
            </a:r>
            <a:r>
              <a:rPr lang="en-US" altLang="zh-CN" sz="1000" b="0">
                <a:solidFill>
                  <a:srgbClr val="DCDCAA"/>
                </a:solidFill>
                <a:latin typeface="Consolas" panose="020B0609020204030204"/>
                <a:ea typeface="Consolas" panose="020B0609020204030204"/>
              </a:rPr>
              <a:t>==</a:t>
            </a:r>
            <a:r>
              <a:rPr lang="en-US" altLang="zh-CN" sz="1000" b="0">
                <a:solidFill>
                  <a:srgbClr val="CE9178"/>
                </a:solidFill>
                <a:latin typeface="Consolas" panose="020B0609020204030204"/>
                <a:ea typeface="Consolas" panose="020B0609020204030204"/>
              </a:rPr>
              <a:t>"male"</a:t>
            </a:r>
            <a:r>
              <a:rPr lang="en-US" altLang="zh-CN" sz="1000" b="0">
                <a:solidFill>
                  <a:srgbClr val="CCCCCC"/>
                </a:solidFill>
                <a:latin typeface="Consolas" panose="020B0609020204030204"/>
                <a:ea typeface="Consolas" panose="020B0609020204030204"/>
              </a:rPr>
              <a:t>])</a:t>
            </a:r>
            <a:endParaRPr lang="en-US" altLang="zh-CN" sz="1000" b="0">
              <a:solidFill>
                <a:srgbClr val="CCCCCC"/>
              </a:solidFill>
              <a:latin typeface="Consolas" panose="020B0609020204030204"/>
              <a:ea typeface="Consolas" panose="020B0609020204030204"/>
            </a:endParaRPr>
          </a:p>
          <a:p>
            <a:pPr>
              <a:lnSpc>
                <a:spcPct val="100000"/>
              </a:lnSpc>
            </a:pPr>
            <a:r>
              <a:rPr lang="en-US" altLang="zh-CN" sz="1000" b="0">
                <a:solidFill>
                  <a:srgbClr val="DCDCAA"/>
                </a:solidFill>
                <a:latin typeface="Consolas" panose="020B0609020204030204"/>
                <a:ea typeface="Consolas" panose="020B0609020204030204"/>
              </a:rPr>
              <a:t>len</a:t>
            </a:r>
            <a:r>
              <a:rPr lang="en-US" altLang="zh-CN" sz="1000" b="0">
                <a:solidFill>
                  <a:srgbClr val="CCCCCC"/>
                </a:solidFill>
                <a:latin typeface="Consolas" panose="020B0609020204030204"/>
                <a:ea typeface="Consolas" panose="020B0609020204030204"/>
              </a:rPr>
              <a:t>(</a:t>
            </a:r>
            <a:r>
              <a:rPr lang="en-US" altLang="zh-CN" sz="1000" b="0">
                <a:solidFill>
                  <a:srgbClr val="9CDCFE"/>
                </a:solidFill>
                <a:latin typeface="Consolas" panose="020B0609020204030204"/>
                <a:ea typeface="Consolas" panose="020B0609020204030204"/>
              </a:rPr>
              <a:t>df</a:t>
            </a:r>
            <a:r>
              <a:rPr lang="en-US" altLang="zh-CN" sz="1000" b="0">
                <a:solidFill>
                  <a:srgbClr val="CCCCCC"/>
                </a:solidFill>
                <a:latin typeface="Consolas" panose="020B0609020204030204"/>
                <a:ea typeface="Consolas" panose="020B0609020204030204"/>
              </a:rPr>
              <a:t>[</a:t>
            </a:r>
            <a:r>
              <a:rPr lang="en-US" altLang="zh-CN" sz="1000" b="0">
                <a:solidFill>
                  <a:srgbClr val="9CDCFE"/>
                </a:solidFill>
                <a:latin typeface="Consolas" panose="020B0609020204030204"/>
                <a:ea typeface="Consolas" panose="020B0609020204030204"/>
              </a:rPr>
              <a:t>df</a:t>
            </a:r>
            <a:r>
              <a:rPr lang="en-US" altLang="zh-CN" sz="1000" b="0">
                <a:solidFill>
                  <a:srgbClr val="CCCCCC"/>
                </a:solidFill>
                <a:latin typeface="Consolas" panose="020B0609020204030204"/>
                <a:ea typeface="Consolas" panose="020B0609020204030204"/>
              </a:rPr>
              <a:t>[</a:t>
            </a:r>
            <a:r>
              <a:rPr lang="en-US" altLang="zh-CN" sz="1000" b="0">
                <a:solidFill>
                  <a:srgbClr val="CE9178"/>
                </a:solidFill>
                <a:latin typeface="Consolas" panose="020B0609020204030204"/>
                <a:ea typeface="Consolas" panose="020B0609020204030204"/>
              </a:rPr>
              <a:t>'Sex'</a:t>
            </a:r>
            <a:r>
              <a:rPr lang="en-US" altLang="zh-CN" sz="1000" b="0">
                <a:solidFill>
                  <a:srgbClr val="CCCCCC"/>
                </a:solidFill>
                <a:latin typeface="Consolas" panose="020B0609020204030204"/>
                <a:ea typeface="Consolas" panose="020B0609020204030204"/>
              </a:rPr>
              <a:t>] </a:t>
            </a:r>
            <a:r>
              <a:rPr lang="en-US" altLang="zh-CN" sz="1000" b="0">
                <a:solidFill>
                  <a:srgbClr val="DCDCAA"/>
                </a:solidFill>
                <a:latin typeface="Consolas" panose="020B0609020204030204"/>
                <a:ea typeface="Consolas" panose="020B0609020204030204"/>
              </a:rPr>
              <a:t>==</a:t>
            </a:r>
            <a:r>
              <a:rPr lang="en-US" altLang="zh-CN" sz="1000" b="0">
                <a:solidFill>
                  <a:srgbClr val="CE9178"/>
                </a:solidFill>
                <a:latin typeface="Consolas" panose="020B0609020204030204"/>
                <a:ea typeface="Consolas" panose="020B0609020204030204"/>
              </a:rPr>
              <a:t>"female"</a:t>
            </a:r>
            <a:r>
              <a:rPr lang="en-US" altLang="zh-CN" sz="1000" b="0">
                <a:solidFill>
                  <a:srgbClr val="CCCCCC"/>
                </a:solidFill>
                <a:latin typeface="Consolas" panose="020B0609020204030204"/>
                <a:ea typeface="Consolas" panose="020B0609020204030204"/>
              </a:rPr>
              <a:t>])</a:t>
            </a:r>
            <a:endParaRPr lang="en-US" altLang="zh-CN" sz="1000" b="0">
              <a:solidFill>
                <a:srgbClr val="CCCCCC"/>
              </a:solidFill>
              <a:latin typeface="Consolas" panose="020B0609020204030204"/>
              <a:ea typeface="Consolas" panose="020B0609020204030204"/>
            </a:endParaRPr>
          </a:p>
          <a:p>
            <a:pPr>
              <a:lnSpc>
                <a:spcPct val="100000"/>
              </a:lnSpc>
            </a:pPr>
            <a:r>
              <a:rPr lang="en-US" altLang="zh-CN" sz="1000" b="0">
                <a:solidFill>
                  <a:srgbClr val="9CDCFE"/>
                </a:solidFill>
                <a:latin typeface="Consolas" panose="020B0609020204030204"/>
                <a:ea typeface="Consolas" panose="020B0609020204030204"/>
              </a:rPr>
              <a:t>df</a:t>
            </a:r>
            <a:r>
              <a:rPr lang="en-US" altLang="zh-CN" sz="1000" b="0">
                <a:solidFill>
                  <a:srgbClr val="CCCCCC"/>
                </a:solidFill>
                <a:latin typeface="Consolas" panose="020B0609020204030204"/>
                <a:ea typeface="Consolas" panose="020B0609020204030204"/>
              </a:rPr>
              <a:t>[</a:t>
            </a:r>
            <a:r>
              <a:rPr lang="en-US" altLang="zh-CN" sz="1000" b="0">
                <a:solidFill>
                  <a:srgbClr val="CE9178"/>
                </a:solidFill>
                <a:latin typeface="Consolas" panose="020B0609020204030204"/>
                <a:ea typeface="Consolas" panose="020B0609020204030204"/>
              </a:rPr>
              <a:t>'Sex'</a:t>
            </a:r>
            <a:r>
              <a:rPr lang="en-US" altLang="zh-CN" sz="1000" b="0">
                <a:solidFill>
                  <a:srgbClr val="CCCCCC"/>
                </a:solidFill>
                <a:latin typeface="Consolas" panose="020B0609020204030204"/>
                <a:ea typeface="Consolas" panose="020B0609020204030204"/>
              </a:rPr>
              <a:t>].</a:t>
            </a:r>
            <a:r>
              <a:rPr lang="en-US" altLang="zh-CN" sz="1000" b="0">
                <a:solidFill>
                  <a:srgbClr val="DCDCAA"/>
                </a:solidFill>
                <a:latin typeface="Consolas" panose="020B0609020204030204"/>
                <a:ea typeface="Consolas" panose="020B0609020204030204"/>
              </a:rPr>
              <a:t>value_counts</a:t>
            </a:r>
            <a:r>
              <a:rPr lang="en-US" altLang="zh-CN" sz="1000" b="0">
                <a:solidFill>
                  <a:srgbClr val="CCCCCC"/>
                </a:solidFill>
                <a:latin typeface="Consolas" panose="020B0609020204030204"/>
                <a:ea typeface="Consolas" panose="020B0609020204030204"/>
              </a:rPr>
              <a:t>(</a:t>
            </a:r>
            <a:r>
              <a:rPr lang="en-US" altLang="zh-CN" sz="1000" b="0">
                <a:solidFill>
                  <a:srgbClr val="9CDCFE"/>
                </a:solidFill>
                <a:latin typeface="Consolas" panose="020B0609020204030204"/>
                <a:ea typeface="Consolas" panose="020B0609020204030204"/>
              </a:rPr>
              <a:t>normalize</a:t>
            </a:r>
            <a:r>
              <a:rPr lang="en-US" altLang="zh-CN" sz="1000" b="0">
                <a:solidFill>
                  <a:srgbClr val="D4D4D4"/>
                </a:solidFill>
                <a:latin typeface="Consolas" panose="020B0609020204030204"/>
                <a:ea typeface="Consolas" panose="020B0609020204030204"/>
              </a:rPr>
              <a:t>=</a:t>
            </a:r>
            <a:r>
              <a:rPr lang="en-US" altLang="zh-CN" sz="1000" b="0">
                <a:solidFill>
                  <a:srgbClr val="569CD6"/>
                </a:solidFill>
                <a:latin typeface="Consolas" panose="020B0609020204030204"/>
                <a:ea typeface="Consolas" panose="020B0609020204030204"/>
              </a:rPr>
              <a:t>True</a:t>
            </a:r>
            <a:r>
              <a:rPr lang="en-US" altLang="zh-CN" sz="1000" b="0">
                <a:solidFill>
                  <a:srgbClr val="CCCCCC"/>
                </a:solidFill>
                <a:latin typeface="Consolas" panose="020B0609020204030204"/>
                <a:ea typeface="Consolas" panose="020B0609020204030204"/>
              </a:rPr>
              <a:t>)</a:t>
            </a:r>
            <a:endParaRPr lang="en-US" altLang="zh-CN" sz="1000" b="0">
              <a:solidFill>
                <a:srgbClr val="CCCCCC"/>
              </a:solidFill>
              <a:latin typeface="Consolas" panose="020B0609020204030204"/>
              <a:ea typeface="Consolas" panose="020B0609020204030204"/>
            </a:endParaRPr>
          </a:p>
          <a:p>
            <a:pPr>
              <a:lnSpc>
                <a:spcPct val="100000"/>
              </a:lnSpc>
            </a:pPr>
            <a:r>
              <a:rPr lang="en-US" altLang="zh-CN" sz="1000" b="0">
                <a:solidFill>
                  <a:srgbClr val="6A9955"/>
                </a:solidFill>
                <a:latin typeface="Consolas" panose="020B0609020204030204"/>
                <a:ea typeface="Consolas" panose="020B0609020204030204"/>
              </a:rPr>
              <a:t>#Q how many passengers of class 1</a:t>
            </a:r>
            <a:endParaRPr lang="en-US" altLang="zh-CN" sz="1000" b="0">
              <a:solidFill>
                <a:srgbClr val="6A9955"/>
              </a:solidFill>
              <a:latin typeface="Consolas" panose="020B0609020204030204"/>
              <a:ea typeface="Consolas" panose="020B0609020204030204"/>
            </a:endParaRPr>
          </a:p>
          <a:p>
            <a:pPr>
              <a:lnSpc>
                <a:spcPct val="100000"/>
              </a:lnSpc>
            </a:pPr>
            <a:r>
              <a:rPr lang="en-US" altLang="zh-CN" sz="1000" b="0">
                <a:solidFill>
                  <a:srgbClr val="9CDCFE"/>
                </a:solidFill>
                <a:latin typeface="Consolas" panose="020B0609020204030204"/>
                <a:ea typeface="Consolas" panose="020B0609020204030204"/>
              </a:rPr>
              <a:t>df</a:t>
            </a:r>
            <a:r>
              <a:rPr lang="en-US" altLang="zh-CN" sz="1000" b="0">
                <a:solidFill>
                  <a:srgbClr val="CCCCCC"/>
                </a:solidFill>
                <a:latin typeface="Consolas" panose="020B0609020204030204"/>
                <a:ea typeface="Consolas" panose="020B0609020204030204"/>
              </a:rPr>
              <a:t>[</a:t>
            </a:r>
            <a:r>
              <a:rPr lang="en-US" altLang="zh-CN" sz="1000" b="0">
                <a:solidFill>
                  <a:srgbClr val="9CDCFE"/>
                </a:solidFill>
                <a:latin typeface="Consolas" panose="020B0609020204030204"/>
                <a:ea typeface="Consolas" panose="020B0609020204030204"/>
              </a:rPr>
              <a:t>df</a:t>
            </a:r>
            <a:r>
              <a:rPr lang="en-US" altLang="zh-CN" sz="1000" b="0">
                <a:solidFill>
                  <a:srgbClr val="CCCCCC"/>
                </a:solidFill>
                <a:latin typeface="Consolas" panose="020B0609020204030204"/>
                <a:ea typeface="Consolas" panose="020B0609020204030204"/>
              </a:rPr>
              <a:t>[</a:t>
            </a:r>
            <a:r>
              <a:rPr lang="en-US" altLang="zh-CN" sz="1000" b="0">
                <a:solidFill>
                  <a:srgbClr val="CE9178"/>
                </a:solidFill>
                <a:latin typeface="Consolas" panose="020B0609020204030204"/>
                <a:ea typeface="Consolas" panose="020B0609020204030204"/>
              </a:rPr>
              <a:t>'Pclass'</a:t>
            </a:r>
            <a:r>
              <a:rPr lang="en-US" altLang="zh-CN" sz="1000" b="0">
                <a:solidFill>
                  <a:srgbClr val="CCCCCC"/>
                </a:solidFill>
                <a:latin typeface="Consolas" panose="020B0609020204030204"/>
                <a:ea typeface="Consolas" panose="020B0609020204030204"/>
              </a:rPr>
              <a:t>] </a:t>
            </a:r>
            <a:r>
              <a:rPr lang="en-US" altLang="zh-CN" sz="1000" b="0">
                <a:solidFill>
                  <a:srgbClr val="DCDCAA"/>
                </a:solidFill>
                <a:latin typeface="Consolas" panose="020B0609020204030204"/>
                <a:ea typeface="Consolas" panose="020B0609020204030204"/>
              </a:rPr>
              <a:t>==</a:t>
            </a:r>
            <a:r>
              <a:rPr lang="en-US" altLang="zh-CN" sz="1000" b="0">
                <a:solidFill>
                  <a:srgbClr val="B5CEA8"/>
                </a:solidFill>
                <a:latin typeface="Consolas" panose="020B0609020204030204"/>
                <a:ea typeface="Consolas" panose="020B0609020204030204"/>
              </a:rPr>
              <a:t>1</a:t>
            </a:r>
            <a:r>
              <a:rPr lang="en-US" altLang="zh-CN" sz="1000" b="0">
                <a:solidFill>
                  <a:srgbClr val="CCCCCC"/>
                </a:solidFill>
                <a:latin typeface="Consolas" panose="020B0609020204030204"/>
                <a:ea typeface="Consolas" panose="020B0609020204030204"/>
              </a:rPr>
              <a:t>]</a:t>
            </a:r>
            <a:endParaRPr lang="en-US" altLang="zh-CN" sz="1000" b="0">
              <a:solidFill>
                <a:srgbClr val="CCCCCC"/>
              </a:solidFill>
              <a:latin typeface="Consolas" panose="020B0609020204030204"/>
              <a:ea typeface="Consolas" panose="020B0609020204030204"/>
            </a:endParaRPr>
          </a:p>
          <a:p>
            <a:pPr>
              <a:lnSpc>
                <a:spcPct val="100000"/>
              </a:lnSpc>
            </a:pPr>
            <a:r>
              <a:rPr lang="en-US" altLang="zh-CN" sz="1000" b="0">
                <a:solidFill>
                  <a:srgbClr val="6A9955"/>
                </a:solidFill>
                <a:latin typeface="Consolas" panose="020B0609020204030204"/>
                <a:ea typeface="Consolas" panose="020B0609020204030204"/>
              </a:rPr>
              <a:t>#How many passengers survived</a:t>
            </a:r>
            <a:endParaRPr lang="en-US" altLang="zh-CN" sz="1000" b="0">
              <a:solidFill>
                <a:srgbClr val="6A9955"/>
              </a:solidFill>
              <a:latin typeface="Consolas" panose="020B0609020204030204"/>
              <a:ea typeface="Consolas" panose="020B0609020204030204"/>
            </a:endParaRPr>
          </a:p>
          <a:p>
            <a:pPr>
              <a:lnSpc>
                <a:spcPct val="100000"/>
              </a:lnSpc>
            </a:pPr>
            <a:r>
              <a:rPr lang="en-US" altLang="zh-CN" sz="1000" b="0">
                <a:solidFill>
                  <a:srgbClr val="9CDCFE"/>
                </a:solidFill>
                <a:latin typeface="Consolas" panose="020B0609020204030204"/>
                <a:ea typeface="Consolas" panose="020B0609020204030204"/>
              </a:rPr>
              <a:t>df</a:t>
            </a:r>
            <a:r>
              <a:rPr lang="en-US" altLang="zh-CN" sz="1000" b="0">
                <a:solidFill>
                  <a:srgbClr val="CCCCCC"/>
                </a:solidFill>
                <a:latin typeface="Consolas" panose="020B0609020204030204"/>
                <a:ea typeface="Consolas" panose="020B0609020204030204"/>
              </a:rPr>
              <a:t>[</a:t>
            </a:r>
            <a:r>
              <a:rPr lang="en-US" altLang="zh-CN" sz="1000" b="0">
                <a:solidFill>
                  <a:srgbClr val="9CDCFE"/>
                </a:solidFill>
                <a:latin typeface="Consolas" panose="020B0609020204030204"/>
                <a:ea typeface="Consolas" panose="020B0609020204030204"/>
              </a:rPr>
              <a:t>df</a:t>
            </a:r>
            <a:r>
              <a:rPr lang="en-US" altLang="zh-CN" sz="1000" b="0">
                <a:solidFill>
                  <a:srgbClr val="CCCCCC"/>
                </a:solidFill>
                <a:latin typeface="Consolas" panose="020B0609020204030204"/>
                <a:ea typeface="Consolas" panose="020B0609020204030204"/>
              </a:rPr>
              <a:t>[</a:t>
            </a:r>
            <a:r>
              <a:rPr lang="en-US" altLang="zh-CN" sz="1000" b="0">
                <a:solidFill>
                  <a:srgbClr val="CE9178"/>
                </a:solidFill>
                <a:latin typeface="Consolas" panose="020B0609020204030204"/>
                <a:ea typeface="Consolas" panose="020B0609020204030204"/>
              </a:rPr>
              <a:t>'Survived'</a:t>
            </a:r>
            <a:r>
              <a:rPr lang="en-US" altLang="zh-CN" sz="1000" b="0">
                <a:solidFill>
                  <a:srgbClr val="CCCCCC"/>
                </a:solidFill>
                <a:latin typeface="Consolas" panose="020B0609020204030204"/>
                <a:ea typeface="Consolas" panose="020B0609020204030204"/>
              </a:rPr>
              <a:t>] </a:t>
            </a:r>
            <a:r>
              <a:rPr lang="en-US" altLang="zh-CN" sz="1000" b="0">
                <a:solidFill>
                  <a:srgbClr val="DCDCAA"/>
                </a:solidFill>
                <a:latin typeface="Consolas" panose="020B0609020204030204"/>
                <a:ea typeface="Consolas" panose="020B0609020204030204"/>
              </a:rPr>
              <a:t>==</a:t>
            </a:r>
            <a:r>
              <a:rPr lang="en-US" altLang="zh-CN" sz="1000" b="0">
                <a:solidFill>
                  <a:srgbClr val="B5CEA8"/>
                </a:solidFill>
                <a:latin typeface="Consolas" panose="020B0609020204030204"/>
                <a:ea typeface="Consolas" panose="020B0609020204030204"/>
              </a:rPr>
              <a:t>1</a:t>
            </a:r>
            <a:r>
              <a:rPr lang="en-US" altLang="zh-CN" sz="1000" b="0">
                <a:solidFill>
                  <a:srgbClr val="CCCCCC"/>
                </a:solidFill>
                <a:latin typeface="Consolas" panose="020B0609020204030204"/>
                <a:ea typeface="Consolas" panose="020B0609020204030204"/>
              </a:rPr>
              <a:t>]</a:t>
            </a:r>
            <a:endParaRPr lang="en-US" altLang="zh-CN" sz="1000" b="0">
              <a:solidFill>
                <a:srgbClr val="CCCCCC"/>
              </a:solidFill>
              <a:latin typeface="Consolas" panose="020B0609020204030204"/>
              <a:ea typeface="Consolas" panose="020B0609020204030204"/>
            </a:endParaRPr>
          </a:p>
          <a:p>
            <a:pPr>
              <a:lnSpc>
                <a:spcPct val="100000"/>
              </a:lnSpc>
            </a:pPr>
            <a:r>
              <a:rPr lang="en-US" altLang="zh-CN" sz="1000" b="0">
                <a:solidFill>
                  <a:srgbClr val="9CDCFE"/>
                </a:solidFill>
                <a:latin typeface="Consolas" panose="020B0609020204030204"/>
                <a:ea typeface="Consolas" panose="020B0609020204030204"/>
              </a:rPr>
              <a:t>df</a:t>
            </a:r>
            <a:r>
              <a:rPr lang="en-US" altLang="zh-CN" sz="1000" b="0">
                <a:solidFill>
                  <a:srgbClr val="CCCCCC"/>
                </a:solidFill>
                <a:latin typeface="Consolas" panose="020B0609020204030204"/>
                <a:ea typeface="Consolas" panose="020B0609020204030204"/>
              </a:rPr>
              <a:t>[</a:t>
            </a:r>
            <a:r>
              <a:rPr lang="en-US" altLang="zh-CN" sz="1000" b="0">
                <a:solidFill>
                  <a:srgbClr val="CE9178"/>
                </a:solidFill>
                <a:latin typeface="Consolas" panose="020B0609020204030204"/>
                <a:ea typeface="Consolas" panose="020B0609020204030204"/>
              </a:rPr>
              <a:t>'Survived'</a:t>
            </a:r>
            <a:r>
              <a:rPr lang="en-US" altLang="zh-CN" sz="1000" b="0">
                <a:solidFill>
                  <a:srgbClr val="CCCCCC"/>
                </a:solidFill>
                <a:latin typeface="Consolas" panose="020B0609020204030204"/>
                <a:ea typeface="Consolas" panose="020B0609020204030204"/>
              </a:rPr>
              <a:t>].</a:t>
            </a:r>
            <a:r>
              <a:rPr lang="en-US" altLang="zh-CN" sz="1000" b="0">
                <a:solidFill>
                  <a:srgbClr val="DCDCAA"/>
                </a:solidFill>
                <a:latin typeface="Consolas" panose="020B0609020204030204"/>
                <a:ea typeface="Consolas" panose="020B0609020204030204"/>
              </a:rPr>
              <a:t>value_counts</a:t>
            </a:r>
            <a:r>
              <a:rPr lang="en-US" altLang="zh-CN" sz="1000" b="0">
                <a:solidFill>
                  <a:srgbClr val="CCCCCC"/>
                </a:solidFill>
                <a:latin typeface="Consolas" panose="020B0609020204030204"/>
                <a:ea typeface="Consolas" panose="020B0609020204030204"/>
              </a:rPr>
              <a:t>(</a:t>
            </a:r>
            <a:r>
              <a:rPr lang="en-US" altLang="zh-CN" sz="1000" b="0">
                <a:solidFill>
                  <a:srgbClr val="9CDCFE"/>
                </a:solidFill>
                <a:latin typeface="Consolas" panose="020B0609020204030204"/>
                <a:ea typeface="Consolas" panose="020B0609020204030204"/>
              </a:rPr>
              <a:t>normalize</a:t>
            </a:r>
            <a:r>
              <a:rPr lang="en-US" altLang="zh-CN" sz="1000" b="0">
                <a:solidFill>
                  <a:srgbClr val="D4D4D4"/>
                </a:solidFill>
                <a:latin typeface="Consolas" panose="020B0609020204030204"/>
                <a:ea typeface="Consolas" panose="020B0609020204030204"/>
              </a:rPr>
              <a:t>=</a:t>
            </a:r>
            <a:r>
              <a:rPr lang="en-US" altLang="zh-CN" sz="1000" b="0">
                <a:solidFill>
                  <a:srgbClr val="569CD6"/>
                </a:solidFill>
                <a:latin typeface="Consolas" panose="020B0609020204030204"/>
                <a:ea typeface="Consolas" panose="020B0609020204030204"/>
              </a:rPr>
              <a:t>True</a:t>
            </a:r>
            <a:r>
              <a:rPr lang="en-US" altLang="zh-CN" sz="1000" b="0">
                <a:solidFill>
                  <a:srgbClr val="CCCCCC"/>
                </a:solidFill>
                <a:latin typeface="Consolas" panose="020B0609020204030204"/>
                <a:ea typeface="Consolas" panose="020B0609020204030204"/>
              </a:rPr>
              <a:t>)</a:t>
            </a:r>
            <a:endParaRPr lang="en-US" altLang="zh-CN" sz="1000" b="0">
              <a:solidFill>
                <a:srgbClr val="CCCCCC"/>
              </a:solidFill>
              <a:latin typeface="Consolas" panose="020B0609020204030204"/>
              <a:ea typeface="Consolas" panose="020B0609020204030204"/>
            </a:endParaRPr>
          </a:p>
          <a:p>
            <a:pPr>
              <a:lnSpc>
                <a:spcPct val="100000"/>
              </a:lnSpc>
            </a:pPr>
            <a:r>
              <a:rPr lang="en-US" altLang="zh-CN" sz="1000" b="0">
                <a:solidFill>
                  <a:srgbClr val="6A9955"/>
                </a:solidFill>
                <a:latin typeface="Consolas" panose="020B0609020204030204"/>
                <a:ea typeface="Consolas" panose="020B0609020204030204"/>
              </a:rPr>
              <a:t>#How many females paid more than avg fare</a:t>
            </a:r>
            <a:endParaRPr lang="en-US" altLang="zh-CN" sz="1000" b="0">
              <a:solidFill>
                <a:srgbClr val="6A9955"/>
              </a:solidFill>
              <a:latin typeface="Consolas" panose="020B0609020204030204"/>
              <a:ea typeface="Consolas" panose="020B0609020204030204"/>
            </a:endParaRPr>
          </a:p>
          <a:p>
            <a:pPr>
              <a:lnSpc>
                <a:spcPct val="100000"/>
              </a:lnSpc>
            </a:pPr>
            <a:r>
              <a:rPr lang="en-US" altLang="zh-CN" sz="1000" b="0">
                <a:solidFill>
                  <a:srgbClr val="9CDCFE"/>
                </a:solidFill>
                <a:latin typeface="Consolas" panose="020B0609020204030204"/>
                <a:ea typeface="Consolas" panose="020B0609020204030204"/>
              </a:rPr>
              <a:t>df</a:t>
            </a:r>
            <a:r>
              <a:rPr lang="en-US" altLang="zh-CN" sz="1000" b="0">
                <a:solidFill>
                  <a:srgbClr val="CCCCCC"/>
                </a:solidFill>
                <a:latin typeface="Consolas" panose="020B0609020204030204"/>
                <a:ea typeface="Consolas" panose="020B0609020204030204"/>
              </a:rPr>
              <a:t>[</a:t>
            </a:r>
            <a:r>
              <a:rPr lang="en-US" altLang="zh-CN" sz="1000" b="0">
                <a:solidFill>
                  <a:srgbClr val="CE9178"/>
                </a:solidFill>
                <a:latin typeface="Consolas" panose="020B0609020204030204"/>
                <a:ea typeface="Consolas" panose="020B0609020204030204"/>
              </a:rPr>
              <a:t>'Sex'</a:t>
            </a:r>
            <a:r>
              <a:rPr lang="en-US" altLang="zh-CN" sz="1000" b="0">
                <a:solidFill>
                  <a:srgbClr val="CCCCCC"/>
                </a:solidFill>
                <a:latin typeface="Consolas" panose="020B0609020204030204"/>
                <a:ea typeface="Consolas" panose="020B0609020204030204"/>
              </a:rPr>
              <a:t>] </a:t>
            </a:r>
            <a:r>
              <a:rPr lang="en-US" altLang="zh-CN" sz="1000" b="0">
                <a:solidFill>
                  <a:srgbClr val="DCDCAA"/>
                </a:solidFill>
                <a:latin typeface="Consolas" panose="020B0609020204030204"/>
                <a:ea typeface="Consolas" panose="020B0609020204030204"/>
              </a:rPr>
              <a:t>==</a:t>
            </a:r>
            <a:r>
              <a:rPr lang="en-US" altLang="zh-CN" sz="1000" b="0">
                <a:solidFill>
                  <a:srgbClr val="CE9178"/>
                </a:solidFill>
                <a:latin typeface="Consolas" panose="020B0609020204030204"/>
                <a:ea typeface="Consolas" panose="020B0609020204030204"/>
              </a:rPr>
              <a:t>'female'</a:t>
            </a:r>
            <a:endParaRPr lang="en-US" altLang="zh-CN" sz="1000" b="0">
              <a:solidFill>
                <a:srgbClr val="CE9178"/>
              </a:solidFill>
              <a:latin typeface="Consolas" panose="020B0609020204030204"/>
              <a:ea typeface="Consolas" panose="020B0609020204030204"/>
            </a:endParaRPr>
          </a:p>
          <a:p>
            <a:pPr>
              <a:lnSpc>
                <a:spcPct val="100000"/>
              </a:lnSpc>
            </a:pPr>
            <a:r>
              <a:rPr lang="en-US" altLang="zh-CN" sz="1000" b="0">
                <a:solidFill>
                  <a:srgbClr val="9CDCFE"/>
                </a:solidFill>
                <a:latin typeface="Consolas" panose="020B0609020204030204"/>
                <a:ea typeface="Consolas" panose="020B0609020204030204"/>
              </a:rPr>
              <a:t>df</a:t>
            </a:r>
            <a:r>
              <a:rPr lang="en-US" altLang="zh-CN" sz="1000" b="0">
                <a:solidFill>
                  <a:srgbClr val="CCCCCC"/>
                </a:solidFill>
                <a:latin typeface="Consolas" panose="020B0609020204030204"/>
                <a:ea typeface="Consolas" panose="020B0609020204030204"/>
              </a:rPr>
              <a:t>[</a:t>
            </a:r>
            <a:r>
              <a:rPr lang="en-US" altLang="zh-CN" sz="1000" b="0">
                <a:solidFill>
                  <a:srgbClr val="CE9178"/>
                </a:solidFill>
                <a:latin typeface="Consolas" panose="020B0609020204030204"/>
                <a:ea typeface="Consolas" panose="020B0609020204030204"/>
              </a:rPr>
              <a:t>'Fare'</a:t>
            </a:r>
            <a:r>
              <a:rPr lang="en-US" altLang="zh-CN" sz="1000" b="0">
                <a:solidFill>
                  <a:srgbClr val="CCCCCC"/>
                </a:solidFill>
                <a:latin typeface="Consolas" panose="020B0609020204030204"/>
                <a:ea typeface="Consolas" panose="020B0609020204030204"/>
              </a:rPr>
              <a:t>].</a:t>
            </a:r>
            <a:r>
              <a:rPr lang="en-US" altLang="zh-CN" sz="1000" b="0">
                <a:solidFill>
                  <a:srgbClr val="DCDCAA"/>
                </a:solidFill>
                <a:latin typeface="Consolas" panose="020B0609020204030204"/>
                <a:ea typeface="Consolas" panose="020B0609020204030204"/>
              </a:rPr>
              <a:t>mean</a:t>
            </a:r>
            <a:r>
              <a:rPr lang="en-US" altLang="zh-CN" sz="1000" b="0">
                <a:solidFill>
                  <a:srgbClr val="CCCCCC"/>
                </a:solidFill>
                <a:latin typeface="Consolas" panose="020B0609020204030204"/>
                <a:ea typeface="Consolas" panose="020B0609020204030204"/>
              </a:rPr>
              <a:t>()</a:t>
            </a:r>
            <a:endParaRPr lang="en-US" altLang="zh-CN" sz="1000" b="0">
              <a:solidFill>
                <a:srgbClr val="CCCCCC"/>
              </a:solidFill>
              <a:latin typeface="Consolas" panose="020B0609020204030204"/>
              <a:ea typeface="Consolas" panose="020B0609020204030204"/>
            </a:endParaRPr>
          </a:p>
          <a:p>
            <a:pPr>
              <a:lnSpc>
                <a:spcPct val="100000"/>
              </a:lnSpc>
            </a:pPr>
            <a:r>
              <a:rPr lang="en-US" altLang="zh-CN" sz="1000" b="0">
                <a:solidFill>
                  <a:srgbClr val="9CDCFE"/>
                </a:solidFill>
                <a:latin typeface="Consolas" panose="020B0609020204030204"/>
                <a:ea typeface="Consolas" panose="020B0609020204030204"/>
              </a:rPr>
              <a:t>df</a:t>
            </a:r>
            <a:r>
              <a:rPr lang="en-US" altLang="zh-CN" sz="1000" b="0">
                <a:solidFill>
                  <a:srgbClr val="CCCCCC"/>
                </a:solidFill>
                <a:latin typeface="Consolas" panose="020B0609020204030204"/>
                <a:ea typeface="Consolas" panose="020B0609020204030204"/>
              </a:rPr>
              <a:t>[(</a:t>
            </a:r>
            <a:r>
              <a:rPr lang="en-US" altLang="zh-CN" sz="1000" b="0">
                <a:solidFill>
                  <a:srgbClr val="9CDCFE"/>
                </a:solidFill>
                <a:latin typeface="Consolas" panose="020B0609020204030204"/>
                <a:ea typeface="Consolas" panose="020B0609020204030204"/>
              </a:rPr>
              <a:t>df</a:t>
            </a:r>
            <a:r>
              <a:rPr lang="en-US" altLang="zh-CN" sz="1000" b="0">
                <a:solidFill>
                  <a:srgbClr val="CCCCCC"/>
                </a:solidFill>
                <a:latin typeface="Consolas" panose="020B0609020204030204"/>
                <a:ea typeface="Consolas" panose="020B0609020204030204"/>
              </a:rPr>
              <a:t>[</a:t>
            </a:r>
            <a:r>
              <a:rPr lang="en-US" altLang="zh-CN" sz="1000" b="0">
                <a:solidFill>
                  <a:srgbClr val="CE9178"/>
                </a:solidFill>
                <a:latin typeface="Consolas" panose="020B0609020204030204"/>
                <a:ea typeface="Consolas" panose="020B0609020204030204"/>
              </a:rPr>
              <a:t>'Sex'</a:t>
            </a:r>
            <a:r>
              <a:rPr lang="en-US" altLang="zh-CN" sz="1000" b="0">
                <a:solidFill>
                  <a:srgbClr val="CCCCCC"/>
                </a:solidFill>
                <a:latin typeface="Consolas" panose="020B0609020204030204"/>
                <a:ea typeface="Consolas" panose="020B0609020204030204"/>
              </a:rPr>
              <a:t>] </a:t>
            </a:r>
            <a:r>
              <a:rPr lang="en-US" altLang="zh-CN" sz="1000" b="0">
                <a:solidFill>
                  <a:srgbClr val="DCDCAA"/>
                </a:solidFill>
                <a:latin typeface="Consolas" panose="020B0609020204030204"/>
                <a:ea typeface="Consolas" panose="020B0609020204030204"/>
              </a:rPr>
              <a:t>==</a:t>
            </a:r>
            <a:r>
              <a:rPr lang="en-US" altLang="zh-CN" sz="1000" b="0">
                <a:solidFill>
                  <a:srgbClr val="CE9178"/>
                </a:solidFill>
                <a:latin typeface="Consolas" panose="020B0609020204030204"/>
                <a:ea typeface="Consolas" panose="020B0609020204030204"/>
              </a:rPr>
              <a:t>'female'</a:t>
            </a:r>
            <a:r>
              <a:rPr lang="en-US" altLang="zh-CN" sz="1000" b="0">
                <a:solidFill>
                  <a:srgbClr val="CCCCCC"/>
                </a:solidFill>
                <a:latin typeface="Consolas" panose="020B0609020204030204"/>
                <a:ea typeface="Consolas" panose="020B0609020204030204"/>
              </a:rPr>
              <a:t>) </a:t>
            </a:r>
            <a:r>
              <a:rPr lang="en-US" altLang="zh-CN" sz="1000" b="0">
                <a:solidFill>
                  <a:srgbClr val="DCDCAA"/>
                </a:solidFill>
                <a:latin typeface="Consolas" panose="020B0609020204030204"/>
                <a:ea typeface="Consolas" panose="020B0609020204030204"/>
              </a:rPr>
              <a:t>&amp;</a:t>
            </a:r>
            <a:r>
              <a:rPr lang="en-US" altLang="zh-CN" sz="1000" b="0">
                <a:solidFill>
                  <a:srgbClr val="CCCCCC"/>
                </a:solidFill>
                <a:latin typeface="Consolas" panose="020B0609020204030204"/>
                <a:ea typeface="Consolas" panose="020B0609020204030204"/>
              </a:rPr>
              <a:t> (</a:t>
            </a:r>
            <a:r>
              <a:rPr lang="en-US" altLang="zh-CN" sz="1000" b="0">
                <a:solidFill>
                  <a:srgbClr val="9CDCFE"/>
                </a:solidFill>
                <a:latin typeface="Consolas" panose="020B0609020204030204"/>
                <a:ea typeface="Consolas" panose="020B0609020204030204"/>
              </a:rPr>
              <a:t>df</a:t>
            </a:r>
            <a:r>
              <a:rPr lang="en-US" altLang="zh-CN" sz="1000" b="0">
                <a:solidFill>
                  <a:srgbClr val="CCCCCC"/>
                </a:solidFill>
                <a:latin typeface="Consolas" panose="020B0609020204030204"/>
                <a:ea typeface="Consolas" panose="020B0609020204030204"/>
              </a:rPr>
              <a:t>[</a:t>
            </a:r>
            <a:r>
              <a:rPr lang="en-US" altLang="zh-CN" sz="1000" b="0">
                <a:solidFill>
                  <a:srgbClr val="CE9178"/>
                </a:solidFill>
                <a:latin typeface="Consolas" panose="020B0609020204030204"/>
                <a:ea typeface="Consolas" panose="020B0609020204030204"/>
              </a:rPr>
              <a:t>'Fare'</a:t>
            </a:r>
            <a:r>
              <a:rPr lang="en-US" altLang="zh-CN" sz="1000" b="0">
                <a:solidFill>
                  <a:srgbClr val="CCCCCC"/>
                </a:solidFill>
                <a:latin typeface="Consolas" panose="020B0609020204030204"/>
                <a:ea typeface="Consolas" panose="020B0609020204030204"/>
              </a:rPr>
              <a:t>] </a:t>
            </a:r>
            <a:r>
              <a:rPr lang="en-US" altLang="zh-CN" sz="1000" b="0">
                <a:solidFill>
                  <a:srgbClr val="DCDCAA"/>
                </a:solidFill>
                <a:latin typeface="Consolas" panose="020B0609020204030204"/>
                <a:ea typeface="Consolas" panose="020B0609020204030204"/>
              </a:rPr>
              <a:t>&gt;</a:t>
            </a:r>
            <a:r>
              <a:rPr lang="en-US" altLang="zh-CN" sz="1000" b="0">
                <a:solidFill>
                  <a:srgbClr val="9CDCFE"/>
                </a:solidFill>
                <a:latin typeface="Consolas" panose="020B0609020204030204"/>
                <a:ea typeface="Consolas" panose="020B0609020204030204"/>
              </a:rPr>
              <a:t>df</a:t>
            </a:r>
            <a:r>
              <a:rPr lang="en-US" altLang="zh-CN" sz="1000" b="0">
                <a:solidFill>
                  <a:srgbClr val="CCCCCC"/>
                </a:solidFill>
                <a:latin typeface="Consolas" panose="020B0609020204030204"/>
                <a:ea typeface="Consolas" panose="020B0609020204030204"/>
              </a:rPr>
              <a:t>[</a:t>
            </a:r>
            <a:r>
              <a:rPr lang="en-US" altLang="zh-CN" sz="1000" b="0">
                <a:solidFill>
                  <a:srgbClr val="CE9178"/>
                </a:solidFill>
                <a:latin typeface="Consolas" panose="020B0609020204030204"/>
                <a:ea typeface="Consolas" panose="020B0609020204030204"/>
              </a:rPr>
              <a:t>'Fare'</a:t>
            </a:r>
            <a:r>
              <a:rPr lang="en-US" altLang="zh-CN" sz="1000" b="0">
                <a:solidFill>
                  <a:srgbClr val="CCCCCC"/>
                </a:solidFill>
                <a:latin typeface="Consolas" panose="020B0609020204030204"/>
                <a:ea typeface="Consolas" panose="020B0609020204030204"/>
              </a:rPr>
              <a:t>].</a:t>
            </a:r>
            <a:r>
              <a:rPr lang="en-US" altLang="zh-CN" sz="1000" b="0">
                <a:solidFill>
                  <a:srgbClr val="DCDCAA"/>
                </a:solidFill>
                <a:latin typeface="Consolas" panose="020B0609020204030204"/>
                <a:ea typeface="Consolas" panose="020B0609020204030204"/>
              </a:rPr>
              <a:t>mean</a:t>
            </a:r>
            <a:r>
              <a:rPr lang="en-US" altLang="zh-CN" sz="1000" b="0">
                <a:solidFill>
                  <a:srgbClr val="CCCCCC"/>
                </a:solidFill>
                <a:latin typeface="Consolas" panose="020B0609020204030204"/>
                <a:ea typeface="Consolas" panose="020B0609020204030204"/>
              </a:rPr>
              <a:t>())]</a:t>
            </a:r>
            <a:endParaRPr lang="en-US" altLang="zh-CN" sz="1000" b="0">
              <a:solidFill>
                <a:srgbClr val="CCCCCC"/>
              </a:solidFill>
              <a:latin typeface="Consolas" panose="020B0609020204030204"/>
              <a:ea typeface="Consolas" panose="020B0609020204030204"/>
            </a:endParaRPr>
          </a:p>
          <a:p>
            <a:pPr>
              <a:lnSpc>
                <a:spcPct val="100000"/>
              </a:lnSpc>
            </a:pPr>
            <a:endParaRPr lang="en-US" altLang="zh-CN" sz="1000" b="0">
              <a:solidFill>
                <a:srgbClr val="6A9955"/>
              </a:solidFill>
              <a:latin typeface="Consolas" panose="020B0609020204030204"/>
              <a:ea typeface="Consolas" panose="020B0609020204030204"/>
            </a:endParaRPr>
          </a:p>
        </p:txBody>
      </p:sp>
      <p:sp>
        <p:nvSpPr>
          <p:cNvPr id="3" name="Text Box 2"/>
          <p:cNvSpPr txBox="1"/>
          <p:nvPr/>
        </p:nvSpPr>
        <p:spPr>
          <a:xfrm>
            <a:off x="4371340" y="159385"/>
            <a:ext cx="4572000" cy="2245360"/>
          </a:xfrm>
          <a:prstGeom prst="rect">
            <a:avLst/>
          </a:prstGeom>
          <a:noFill/>
        </p:spPr>
        <p:txBody>
          <a:bodyPr wrap="square" rtlCol="0" anchor="t">
            <a:spAutoFit/>
          </a:bodyPr>
          <a:p>
            <a:pPr>
              <a:lnSpc>
                <a:spcPct val="100000"/>
              </a:lnSpc>
            </a:pPr>
            <a:r>
              <a:rPr lang="en-US" altLang="zh-CN" sz="1000">
                <a:solidFill>
                  <a:srgbClr val="6A9955"/>
                </a:solidFill>
                <a:latin typeface="Consolas" panose="020B0609020204030204"/>
                <a:ea typeface="Consolas" panose="020B0609020204030204"/>
                <a:sym typeface="+mn-ea"/>
              </a:rPr>
              <a:t>#Q how many passengers are male or who paid greater than avg fare &gt;&gt;or</a:t>
            </a:r>
            <a:endParaRPr lang="en-US" altLang="zh-CN" sz="1000" b="0">
              <a:solidFill>
                <a:srgbClr val="6A9955"/>
              </a:solidFill>
              <a:latin typeface="Consolas" panose="020B0609020204030204"/>
              <a:ea typeface="Consolas" panose="020B0609020204030204"/>
            </a:endParaRPr>
          </a:p>
          <a:p>
            <a:pPr>
              <a:lnSpc>
                <a:spcPct val="100000"/>
              </a:lnSpc>
            </a:pPr>
            <a:r>
              <a:rPr lang="en-US" altLang="zh-CN" sz="1000">
                <a:solidFill>
                  <a:srgbClr val="6A9955"/>
                </a:solidFill>
                <a:latin typeface="Consolas" panose="020B0609020204030204"/>
                <a:ea typeface="Consolas" panose="020B0609020204030204"/>
                <a:sym typeface="+mn-ea"/>
              </a:rPr>
              <a:t>#Qhow many male passenger paid more than avg &gt;&gt;and</a:t>
            </a:r>
            <a:endParaRPr lang="en-US" altLang="zh-CN" sz="1000" b="0">
              <a:solidFill>
                <a:srgbClr val="6A9955"/>
              </a:solidFill>
              <a:latin typeface="Consolas" panose="020B0609020204030204"/>
              <a:ea typeface="Consolas" panose="020B0609020204030204"/>
            </a:endParaRPr>
          </a:p>
          <a:p>
            <a:pPr>
              <a:lnSpc>
                <a:spcPct val="100000"/>
              </a:lnSpc>
            </a:pPr>
            <a:r>
              <a:rPr lang="en-US" altLang="zh-CN" sz="1000">
                <a:solidFill>
                  <a:srgbClr val="9CDCFE"/>
                </a:solidFill>
                <a:latin typeface="Consolas" panose="020B0609020204030204"/>
                <a:ea typeface="Consolas" panose="020B0609020204030204"/>
                <a:sym typeface="+mn-ea"/>
              </a:rPr>
              <a:t>df</a:t>
            </a:r>
            <a:r>
              <a:rPr lang="en-US" altLang="zh-CN" sz="1000">
                <a:solidFill>
                  <a:srgbClr val="CCCCCC"/>
                </a:solidFill>
                <a:latin typeface="Consolas" panose="020B0609020204030204"/>
                <a:ea typeface="Consolas" panose="020B0609020204030204"/>
                <a:sym typeface="+mn-ea"/>
              </a:rPr>
              <a:t>[(</a:t>
            </a:r>
            <a:r>
              <a:rPr lang="en-US" altLang="zh-CN" sz="1000">
                <a:solidFill>
                  <a:srgbClr val="9CDCFE"/>
                </a:solidFill>
                <a:latin typeface="Consolas" panose="020B0609020204030204"/>
                <a:ea typeface="Consolas" panose="020B0609020204030204"/>
                <a:sym typeface="+mn-ea"/>
              </a:rPr>
              <a:t>df</a:t>
            </a:r>
            <a:r>
              <a:rPr lang="en-US" altLang="zh-CN" sz="1000">
                <a:solidFill>
                  <a:srgbClr val="CCCCCC"/>
                </a:solidFill>
                <a:latin typeface="Consolas" panose="020B0609020204030204"/>
                <a:ea typeface="Consolas" panose="020B0609020204030204"/>
                <a:sym typeface="+mn-ea"/>
              </a:rPr>
              <a:t>[</a:t>
            </a:r>
            <a:r>
              <a:rPr lang="en-US" altLang="zh-CN" sz="1000">
                <a:solidFill>
                  <a:srgbClr val="CE9178"/>
                </a:solidFill>
                <a:latin typeface="Consolas" panose="020B0609020204030204"/>
                <a:ea typeface="Consolas" panose="020B0609020204030204"/>
                <a:sym typeface="+mn-ea"/>
              </a:rPr>
              <a:t>'Sex'</a:t>
            </a:r>
            <a:r>
              <a:rPr lang="en-US" altLang="zh-CN" sz="1000">
                <a:solidFill>
                  <a:srgbClr val="CCCCCC"/>
                </a:solidFill>
                <a:latin typeface="Consolas" panose="020B0609020204030204"/>
                <a:ea typeface="Consolas" panose="020B0609020204030204"/>
                <a:sym typeface="+mn-ea"/>
              </a:rPr>
              <a:t>] </a:t>
            </a:r>
            <a:r>
              <a:rPr lang="en-US" altLang="zh-CN" sz="1000">
                <a:solidFill>
                  <a:srgbClr val="DCDCAA"/>
                </a:solidFill>
                <a:latin typeface="Consolas" panose="020B0609020204030204"/>
                <a:ea typeface="Consolas" panose="020B0609020204030204"/>
                <a:sym typeface="+mn-ea"/>
              </a:rPr>
              <a:t>==</a:t>
            </a:r>
            <a:r>
              <a:rPr lang="en-US" altLang="zh-CN" sz="1000">
                <a:solidFill>
                  <a:srgbClr val="CE9178"/>
                </a:solidFill>
                <a:latin typeface="Consolas" panose="020B0609020204030204"/>
                <a:ea typeface="Consolas" panose="020B0609020204030204"/>
                <a:sym typeface="+mn-ea"/>
              </a:rPr>
              <a:t>'male'</a:t>
            </a:r>
            <a:r>
              <a:rPr lang="en-US" altLang="zh-CN" sz="1000">
                <a:solidFill>
                  <a:srgbClr val="CCCCCC"/>
                </a:solidFill>
                <a:latin typeface="Consolas" panose="020B0609020204030204"/>
                <a:ea typeface="Consolas" panose="020B0609020204030204"/>
                <a:sym typeface="+mn-ea"/>
              </a:rPr>
              <a:t>) </a:t>
            </a:r>
            <a:r>
              <a:rPr lang="en-US" altLang="zh-CN" sz="1000">
                <a:solidFill>
                  <a:srgbClr val="DCDCAA"/>
                </a:solidFill>
                <a:latin typeface="Consolas" panose="020B0609020204030204"/>
                <a:ea typeface="Consolas" panose="020B0609020204030204"/>
                <a:sym typeface="+mn-ea"/>
              </a:rPr>
              <a:t>|</a:t>
            </a:r>
            <a:r>
              <a:rPr lang="en-US" altLang="zh-CN" sz="1000">
                <a:solidFill>
                  <a:srgbClr val="CCCCCC"/>
                </a:solidFill>
                <a:latin typeface="Consolas" panose="020B0609020204030204"/>
                <a:ea typeface="Consolas" panose="020B0609020204030204"/>
                <a:sym typeface="+mn-ea"/>
              </a:rPr>
              <a:t> (</a:t>
            </a:r>
            <a:r>
              <a:rPr lang="en-US" altLang="zh-CN" sz="1000">
                <a:solidFill>
                  <a:srgbClr val="9CDCFE"/>
                </a:solidFill>
                <a:latin typeface="Consolas" panose="020B0609020204030204"/>
                <a:ea typeface="Consolas" panose="020B0609020204030204"/>
                <a:sym typeface="+mn-ea"/>
              </a:rPr>
              <a:t>df</a:t>
            </a:r>
            <a:r>
              <a:rPr lang="en-US" altLang="zh-CN" sz="1000">
                <a:solidFill>
                  <a:srgbClr val="CCCCCC"/>
                </a:solidFill>
                <a:latin typeface="Consolas" panose="020B0609020204030204"/>
                <a:ea typeface="Consolas" panose="020B0609020204030204"/>
                <a:sym typeface="+mn-ea"/>
              </a:rPr>
              <a:t>[</a:t>
            </a:r>
            <a:r>
              <a:rPr lang="en-US" altLang="zh-CN" sz="1000">
                <a:solidFill>
                  <a:srgbClr val="CE9178"/>
                </a:solidFill>
                <a:latin typeface="Consolas" panose="020B0609020204030204"/>
                <a:ea typeface="Consolas" panose="020B0609020204030204"/>
                <a:sym typeface="+mn-ea"/>
              </a:rPr>
              <a:t>'Fare'</a:t>
            </a:r>
            <a:r>
              <a:rPr lang="en-US" altLang="zh-CN" sz="1000">
                <a:solidFill>
                  <a:srgbClr val="CCCCCC"/>
                </a:solidFill>
                <a:latin typeface="Consolas" panose="020B0609020204030204"/>
                <a:ea typeface="Consolas" panose="020B0609020204030204"/>
                <a:sym typeface="+mn-ea"/>
              </a:rPr>
              <a:t>] </a:t>
            </a:r>
            <a:r>
              <a:rPr lang="en-US" altLang="zh-CN" sz="1000">
                <a:solidFill>
                  <a:srgbClr val="DCDCAA"/>
                </a:solidFill>
                <a:latin typeface="Consolas" panose="020B0609020204030204"/>
                <a:ea typeface="Consolas" panose="020B0609020204030204"/>
                <a:sym typeface="+mn-ea"/>
              </a:rPr>
              <a:t>&gt;</a:t>
            </a:r>
            <a:r>
              <a:rPr lang="en-US" altLang="zh-CN" sz="1000">
                <a:solidFill>
                  <a:srgbClr val="9CDCFE"/>
                </a:solidFill>
                <a:latin typeface="Consolas" panose="020B0609020204030204"/>
                <a:ea typeface="Consolas" panose="020B0609020204030204"/>
                <a:sym typeface="+mn-ea"/>
              </a:rPr>
              <a:t>df</a:t>
            </a:r>
            <a:r>
              <a:rPr lang="en-US" altLang="zh-CN" sz="1000">
                <a:solidFill>
                  <a:srgbClr val="CCCCCC"/>
                </a:solidFill>
                <a:latin typeface="Consolas" panose="020B0609020204030204"/>
                <a:ea typeface="Consolas" panose="020B0609020204030204"/>
                <a:sym typeface="+mn-ea"/>
              </a:rPr>
              <a:t>[</a:t>
            </a:r>
            <a:r>
              <a:rPr lang="en-US" altLang="zh-CN" sz="1000">
                <a:solidFill>
                  <a:srgbClr val="CE9178"/>
                </a:solidFill>
                <a:latin typeface="Consolas" panose="020B0609020204030204"/>
                <a:ea typeface="Consolas" panose="020B0609020204030204"/>
                <a:sym typeface="+mn-ea"/>
              </a:rPr>
              <a:t>'Fare'</a:t>
            </a:r>
            <a:r>
              <a:rPr lang="en-US" altLang="zh-CN" sz="1000">
                <a:solidFill>
                  <a:srgbClr val="CCCCCC"/>
                </a:solidFill>
                <a:latin typeface="Consolas" panose="020B0609020204030204"/>
                <a:ea typeface="Consolas" panose="020B0609020204030204"/>
                <a:sym typeface="+mn-ea"/>
              </a:rPr>
              <a:t>].</a:t>
            </a:r>
            <a:r>
              <a:rPr lang="en-US" altLang="zh-CN" sz="1000">
                <a:solidFill>
                  <a:srgbClr val="DCDCAA"/>
                </a:solidFill>
                <a:latin typeface="Consolas" panose="020B0609020204030204"/>
                <a:ea typeface="Consolas" panose="020B0609020204030204"/>
                <a:sym typeface="+mn-ea"/>
              </a:rPr>
              <a:t>mean</a:t>
            </a:r>
            <a:r>
              <a:rPr lang="en-US" altLang="zh-CN" sz="1000">
                <a:solidFill>
                  <a:srgbClr val="CCCCCC"/>
                </a:solidFill>
                <a:latin typeface="Consolas" panose="020B0609020204030204"/>
                <a:ea typeface="Consolas" panose="020B0609020204030204"/>
                <a:sym typeface="+mn-ea"/>
              </a:rPr>
              <a:t>())]</a:t>
            </a:r>
            <a:endParaRPr lang="en-US" altLang="zh-CN" sz="1000" b="0">
              <a:solidFill>
                <a:srgbClr val="CCCCCC"/>
              </a:solidFill>
              <a:latin typeface="Consolas" panose="020B0609020204030204"/>
              <a:ea typeface="Consolas" panose="020B0609020204030204"/>
            </a:endParaRPr>
          </a:p>
          <a:p>
            <a:pPr>
              <a:lnSpc>
                <a:spcPct val="100000"/>
              </a:lnSpc>
            </a:pPr>
            <a:r>
              <a:rPr lang="en-US" altLang="zh-CN" sz="1000">
                <a:solidFill>
                  <a:srgbClr val="CCCCCC"/>
                </a:solidFill>
                <a:latin typeface="Consolas" panose="020B0609020204030204"/>
                <a:ea typeface="Consolas" panose="020B0609020204030204"/>
                <a:sym typeface="+mn-ea"/>
              </a:rPr>
              <a:t>np.mean(</a:t>
            </a:r>
            <a:r>
              <a:rPr lang="en-US" altLang="zh-CN" sz="1000">
                <a:solidFill>
                  <a:srgbClr val="9CDCFE"/>
                </a:solidFill>
                <a:latin typeface="Consolas" panose="020B0609020204030204"/>
                <a:ea typeface="Consolas" panose="020B0609020204030204"/>
                <a:sym typeface="+mn-ea"/>
              </a:rPr>
              <a:t>df</a:t>
            </a:r>
            <a:r>
              <a:rPr lang="en-US" altLang="zh-CN" sz="1000">
                <a:solidFill>
                  <a:srgbClr val="CCCCCC"/>
                </a:solidFill>
                <a:latin typeface="Consolas" panose="020B0609020204030204"/>
                <a:ea typeface="Consolas" panose="020B0609020204030204"/>
                <a:sym typeface="+mn-ea"/>
              </a:rPr>
              <a:t>[</a:t>
            </a:r>
            <a:r>
              <a:rPr lang="en-US" altLang="zh-CN" sz="1000">
                <a:solidFill>
                  <a:srgbClr val="CE9178"/>
                </a:solidFill>
                <a:latin typeface="Consolas" panose="020B0609020204030204"/>
                <a:ea typeface="Consolas" panose="020B0609020204030204"/>
                <a:sym typeface="+mn-ea"/>
              </a:rPr>
              <a:t>'Fare'</a:t>
            </a:r>
            <a:r>
              <a:rPr lang="en-US" altLang="zh-CN" sz="1000">
                <a:solidFill>
                  <a:srgbClr val="CCCCCC"/>
                </a:solidFill>
                <a:latin typeface="Consolas" panose="020B0609020204030204"/>
                <a:ea typeface="Consolas" panose="020B0609020204030204"/>
                <a:sym typeface="+mn-ea"/>
              </a:rPr>
              <a:t>])</a:t>
            </a:r>
            <a:endParaRPr lang="en-US" altLang="zh-CN" sz="1000" b="0">
              <a:solidFill>
                <a:srgbClr val="CCCCCC"/>
              </a:solidFill>
              <a:latin typeface="Consolas" panose="020B0609020204030204"/>
              <a:ea typeface="Consolas" panose="020B0609020204030204"/>
            </a:endParaRPr>
          </a:p>
          <a:p>
            <a:pPr>
              <a:lnSpc>
                <a:spcPct val="100000"/>
              </a:lnSpc>
            </a:pPr>
            <a:r>
              <a:rPr lang="en-US" altLang="zh-CN" sz="1000">
                <a:solidFill>
                  <a:srgbClr val="9CDCFE"/>
                </a:solidFill>
                <a:latin typeface="Consolas" panose="020B0609020204030204"/>
                <a:ea typeface="Consolas" panose="020B0609020204030204"/>
                <a:sym typeface="+mn-ea"/>
              </a:rPr>
              <a:t>df</a:t>
            </a:r>
            <a:r>
              <a:rPr lang="en-US" altLang="zh-CN" sz="1000">
                <a:solidFill>
                  <a:srgbClr val="CCCCCC"/>
                </a:solidFill>
                <a:latin typeface="Consolas" panose="020B0609020204030204"/>
                <a:ea typeface="Consolas" panose="020B0609020204030204"/>
                <a:sym typeface="+mn-ea"/>
              </a:rPr>
              <a:t>[</a:t>
            </a:r>
            <a:r>
              <a:rPr lang="en-US" altLang="zh-CN" sz="1000">
                <a:solidFill>
                  <a:srgbClr val="CE9178"/>
                </a:solidFill>
                <a:latin typeface="Consolas" panose="020B0609020204030204"/>
                <a:ea typeface="Consolas" panose="020B0609020204030204"/>
                <a:sym typeface="+mn-ea"/>
              </a:rPr>
              <a:t>'Fare'</a:t>
            </a:r>
            <a:r>
              <a:rPr lang="en-US" altLang="zh-CN" sz="1000">
                <a:solidFill>
                  <a:srgbClr val="CCCCCC"/>
                </a:solidFill>
                <a:latin typeface="Consolas" panose="020B0609020204030204"/>
                <a:ea typeface="Consolas" panose="020B0609020204030204"/>
                <a:sym typeface="+mn-ea"/>
              </a:rPr>
              <a:t>].</a:t>
            </a:r>
            <a:r>
              <a:rPr lang="en-US" altLang="zh-CN" sz="1000">
                <a:solidFill>
                  <a:srgbClr val="DCDCAA"/>
                </a:solidFill>
                <a:latin typeface="Consolas" panose="020B0609020204030204"/>
                <a:ea typeface="Consolas" panose="020B0609020204030204"/>
                <a:sym typeface="+mn-ea"/>
              </a:rPr>
              <a:t>mean</a:t>
            </a:r>
            <a:r>
              <a:rPr lang="en-US" altLang="zh-CN" sz="1000">
                <a:solidFill>
                  <a:srgbClr val="CCCCCC"/>
                </a:solidFill>
                <a:latin typeface="Consolas" panose="020B0609020204030204"/>
                <a:ea typeface="Consolas" panose="020B0609020204030204"/>
                <a:sym typeface="+mn-ea"/>
              </a:rPr>
              <a:t>()</a:t>
            </a:r>
            <a:endParaRPr lang="en-US" altLang="zh-CN" sz="1000" b="0">
              <a:solidFill>
                <a:srgbClr val="CCCCCC"/>
              </a:solidFill>
              <a:latin typeface="Consolas" panose="020B0609020204030204"/>
              <a:ea typeface="Consolas" panose="020B0609020204030204"/>
            </a:endParaRPr>
          </a:p>
          <a:p>
            <a:pPr>
              <a:lnSpc>
                <a:spcPct val="100000"/>
              </a:lnSpc>
            </a:pPr>
            <a:r>
              <a:rPr lang="en-US" altLang="zh-CN" sz="1000">
                <a:solidFill>
                  <a:srgbClr val="DCDCAA"/>
                </a:solidFill>
                <a:latin typeface="Consolas" panose="020B0609020204030204"/>
                <a:ea typeface="Consolas" panose="020B0609020204030204"/>
                <a:sym typeface="+mn-ea"/>
              </a:rPr>
              <a:t>max</a:t>
            </a:r>
            <a:r>
              <a:rPr lang="en-US" altLang="zh-CN" sz="1000">
                <a:solidFill>
                  <a:srgbClr val="CCCCCC"/>
                </a:solidFill>
                <a:latin typeface="Consolas" panose="020B0609020204030204"/>
                <a:ea typeface="Consolas" panose="020B0609020204030204"/>
                <a:sym typeface="+mn-ea"/>
              </a:rPr>
              <a:t>(</a:t>
            </a:r>
            <a:r>
              <a:rPr lang="en-US" altLang="zh-CN" sz="1000">
                <a:solidFill>
                  <a:srgbClr val="9CDCFE"/>
                </a:solidFill>
                <a:latin typeface="Consolas" panose="020B0609020204030204"/>
                <a:ea typeface="Consolas" panose="020B0609020204030204"/>
                <a:sym typeface="+mn-ea"/>
              </a:rPr>
              <a:t>df</a:t>
            </a:r>
            <a:r>
              <a:rPr lang="en-US" altLang="zh-CN" sz="1000">
                <a:solidFill>
                  <a:srgbClr val="CCCCCC"/>
                </a:solidFill>
                <a:latin typeface="Consolas" panose="020B0609020204030204"/>
                <a:ea typeface="Consolas" panose="020B0609020204030204"/>
                <a:sym typeface="+mn-ea"/>
              </a:rPr>
              <a:t>[</a:t>
            </a:r>
            <a:r>
              <a:rPr lang="en-US" altLang="zh-CN" sz="1000">
                <a:solidFill>
                  <a:srgbClr val="CE9178"/>
                </a:solidFill>
                <a:latin typeface="Consolas" panose="020B0609020204030204"/>
                <a:ea typeface="Consolas" panose="020B0609020204030204"/>
                <a:sym typeface="+mn-ea"/>
              </a:rPr>
              <a:t>'Fare'</a:t>
            </a:r>
            <a:r>
              <a:rPr lang="en-US" altLang="zh-CN" sz="1000">
                <a:solidFill>
                  <a:srgbClr val="CCCCCC"/>
                </a:solidFill>
                <a:latin typeface="Consolas" panose="020B0609020204030204"/>
                <a:ea typeface="Consolas" panose="020B0609020204030204"/>
                <a:sym typeface="+mn-ea"/>
              </a:rPr>
              <a:t>])</a:t>
            </a:r>
            <a:endParaRPr lang="en-US" altLang="zh-CN" sz="1000" b="0">
              <a:solidFill>
                <a:srgbClr val="CCCCCC"/>
              </a:solidFill>
              <a:latin typeface="Consolas" panose="020B0609020204030204"/>
              <a:ea typeface="Consolas" panose="020B0609020204030204"/>
            </a:endParaRPr>
          </a:p>
          <a:p>
            <a:pPr>
              <a:lnSpc>
                <a:spcPct val="100000"/>
              </a:lnSpc>
            </a:pPr>
            <a:r>
              <a:rPr lang="en-US" altLang="zh-CN" sz="1000">
                <a:solidFill>
                  <a:srgbClr val="DCDCAA"/>
                </a:solidFill>
                <a:latin typeface="Consolas" panose="020B0609020204030204"/>
                <a:ea typeface="Consolas" panose="020B0609020204030204"/>
                <a:sym typeface="+mn-ea"/>
              </a:rPr>
              <a:t>min</a:t>
            </a:r>
            <a:r>
              <a:rPr lang="en-US" altLang="zh-CN" sz="1000">
                <a:solidFill>
                  <a:srgbClr val="CCCCCC"/>
                </a:solidFill>
                <a:latin typeface="Consolas" panose="020B0609020204030204"/>
                <a:ea typeface="Consolas" panose="020B0609020204030204"/>
                <a:sym typeface="+mn-ea"/>
              </a:rPr>
              <a:t>(</a:t>
            </a:r>
            <a:r>
              <a:rPr lang="en-US" altLang="zh-CN" sz="1000">
                <a:solidFill>
                  <a:srgbClr val="9CDCFE"/>
                </a:solidFill>
                <a:latin typeface="Consolas" panose="020B0609020204030204"/>
                <a:ea typeface="Consolas" panose="020B0609020204030204"/>
                <a:sym typeface="+mn-ea"/>
              </a:rPr>
              <a:t>df</a:t>
            </a:r>
            <a:r>
              <a:rPr lang="en-US" altLang="zh-CN" sz="1000">
                <a:solidFill>
                  <a:srgbClr val="CCCCCC"/>
                </a:solidFill>
                <a:latin typeface="Consolas" panose="020B0609020204030204"/>
                <a:ea typeface="Consolas" panose="020B0609020204030204"/>
                <a:sym typeface="+mn-ea"/>
              </a:rPr>
              <a:t>[</a:t>
            </a:r>
            <a:r>
              <a:rPr lang="en-US" altLang="zh-CN" sz="1000">
                <a:solidFill>
                  <a:srgbClr val="CE9178"/>
                </a:solidFill>
                <a:latin typeface="Consolas" panose="020B0609020204030204"/>
                <a:ea typeface="Consolas" panose="020B0609020204030204"/>
                <a:sym typeface="+mn-ea"/>
              </a:rPr>
              <a:t>'Fare'</a:t>
            </a:r>
            <a:r>
              <a:rPr lang="en-US" altLang="zh-CN" sz="1000">
                <a:solidFill>
                  <a:srgbClr val="CCCCCC"/>
                </a:solidFill>
                <a:latin typeface="Consolas" panose="020B0609020204030204"/>
                <a:ea typeface="Consolas" panose="020B0609020204030204"/>
                <a:sym typeface="+mn-ea"/>
              </a:rPr>
              <a:t>])</a:t>
            </a:r>
            <a:endParaRPr lang="en-US" altLang="zh-CN" sz="1000" b="0">
              <a:solidFill>
                <a:srgbClr val="CCCCCC"/>
              </a:solidFill>
              <a:latin typeface="Consolas" panose="020B0609020204030204"/>
              <a:ea typeface="Consolas" panose="020B0609020204030204"/>
            </a:endParaRPr>
          </a:p>
          <a:p>
            <a:pPr>
              <a:lnSpc>
                <a:spcPct val="100000"/>
              </a:lnSpc>
            </a:pPr>
            <a:r>
              <a:rPr lang="en-US" altLang="zh-CN" sz="1000">
                <a:solidFill>
                  <a:srgbClr val="6A9955"/>
                </a:solidFill>
                <a:latin typeface="Consolas" panose="020B0609020204030204"/>
                <a:ea typeface="Consolas" panose="020B0609020204030204"/>
                <a:sym typeface="+mn-ea"/>
              </a:rPr>
              <a:t>#who are the passengers who paid maximum fare</a:t>
            </a:r>
            <a:endParaRPr lang="en-US" altLang="zh-CN" sz="1000" b="0">
              <a:solidFill>
                <a:srgbClr val="6A9955"/>
              </a:solidFill>
              <a:latin typeface="Consolas" panose="020B0609020204030204"/>
              <a:ea typeface="Consolas" panose="020B0609020204030204"/>
            </a:endParaRPr>
          </a:p>
          <a:p>
            <a:pPr>
              <a:lnSpc>
                <a:spcPct val="100000"/>
              </a:lnSpc>
            </a:pPr>
            <a:r>
              <a:rPr lang="en-US" altLang="zh-CN" sz="1000">
                <a:solidFill>
                  <a:srgbClr val="9CDCFE"/>
                </a:solidFill>
                <a:latin typeface="Consolas" panose="020B0609020204030204"/>
                <a:ea typeface="Consolas" panose="020B0609020204030204"/>
                <a:sym typeface="+mn-ea"/>
              </a:rPr>
              <a:t>df</a:t>
            </a:r>
            <a:r>
              <a:rPr lang="en-US" altLang="zh-CN" sz="1000">
                <a:solidFill>
                  <a:srgbClr val="CCCCCC"/>
                </a:solidFill>
                <a:latin typeface="Consolas" panose="020B0609020204030204"/>
                <a:ea typeface="Consolas" panose="020B0609020204030204"/>
                <a:sym typeface="+mn-ea"/>
              </a:rPr>
              <a:t>[</a:t>
            </a:r>
            <a:r>
              <a:rPr lang="en-US" altLang="zh-CN" sz="1000">
                <a:solidFill>
                  <a:srgbClr val="9CDCFE"/>
                </a:solidFill>
                <a:latin typeface="Consolas" panose="020B0609020204030204"/>
                <a:ea typeface="Consolas" panose="020B0609020204030204"/>
                <a:sym typeface="+mn-ea"/>
              </a:rPr>
              <a:t>df</a:t>
            </a:r>
            <a:r>
              <a:rPr lang="en-US" altLang="zh-CN" sz="1000">
                <a:solidFill>
                  <a:srgbClr val="CCCCCC"/>
                </a:solidFill>
                <a:latin typeface="Consolas" panose="020B0609020204030204"/>
                <a:ea typeface="Consolas" panose="020B0609020204030204"/>
                <a:sym typeface="+mn-ea"/>
              </a:rPr>
              <a:t>[</a:t>
            </a:r>
            <a:r>
              <a:rPr lang="en-US" altLang="zh-CN" sz="1000">
                <a:solidFill>
                  <a:srgbClr val="CE9178"/>
                </a:solidFill>
                <a:latin typeface="Consolas" panose="020B0609020204030204"/>
                <a:ea typeface="Consolas" panose="020B0609020204030204"/>
                <a:sym typeface="+mn-ea"/>
              </a:rPr>
              <a:t>'Fare'</a:t>
            </a:r>
            <a:r>
              <a:rPr lang="en-US" altLang="zh-CN" sz="1000">
                <a:solidFill>
                  <a:srgbClr val="CCCCCC"/>
                </a:solidFill>
                <a:latin typeface="Consolas" panose="020B0609020204030204"/>
                <a:ea typeface="Consolas" panose="020B0609020204030204"/>
                <a:sym typeface="+mn-ea"/>
              </a:rPr>
              <a:t>] </a:t>
            </a:r>
            <a:r>
              <a:rPr lang="en-US" altLang="zh-CN" sz="1000">
                <a:solidFill>
                  <a:srgbClr val="DCDCAA"/>
                </a:solidFill>
                <a:latin typeface="Consolas" panose="020B0609020204030204"/>
                <a:ea typeface="Consolas" panose="020B0609020204030204"/>
                <a:sym typeface="+mn-ea"/>
              </a:rPr>
              <a:t>==max</a:t>
            </a:r>
            <a:r>
              <a:rPr lang="en-US" altLang="zh-CN" sz="1000">
                <a:solidFill>
                  <a:srgbClr val="CCCCCC"/>
                </a:solidFill>
                <a:latin typeface="Consolas" panose="020B0609020204030204"/>
                <a:ea typeface="Consolas" panose="020B0609020204030204"/>
                <a:sym typeface="+mn-ea"/>
              </a:rPr>
              <a:t>(</a:t>
            </a:r>
            <a:r>
              <a:rPr lang="en-US" altLang="zh-CN" sz="1000">
                <a:solidFill>
                  <a:srgbClr val="9CDCFE"/>
                </a:solidFill>
                <a:latin typeface="Consolas" panose="020B0609020204030204"/>
                <a:ea typeface="Consolas" panose="020B0609020204030204"/>
                <a:sym typeface="+mn-ea"/>
              </a:rPr>
              <a:t>df</a:t>
            </a:r>
            <a:r>
              <a:rPr lang="en-US" altLang="zh-CN" sz="1000">
                <a:solidFill>
                  <a:srgbClr val="CCCCCC"/>
                </a:solidFill>
                <a:latin typeface="Consolas" panose="020B0609020204030204"/>
                <a:ea typeface="Consolas" panose="020B0609020204030204"/>
                <a:sym typeface="+mn-ea"/>
              </a:rPr>
              <a:t>[</a:t>
            </a:r>
            <a:r>
              <a:rPr lang="en-US" altLang="zh-CN" sz="1000">
                <a:solidFill>
                  <a:srgbClr val="CE9178"/>
                </a:solidFill>
                <a:latin typeface="Consolas" panose="020B0609020204030204"/>
                <a:ea typeface="Consolas" panose="020B0609020204030204"/>
                <a:sym typeface="+mn-ea"/>
              </a:rPr>
              <a:t>'Fare'</a:t>
            </a:r>
            <a:r>
              <a:rPr lang="en-US" altLang="zh-CN" sz="1000">
                <a:solidFill>
                  <a:srgbClr val="CCCCCC"/>
                </a:solidFill>
                <a:latin typeface="Consolas" panose="020B0609020204030204"/>
                <a:ea typeface="Consolas" panose="020B0609020204030204"/>
                <a:sym typeface="+mn-ea"/>
              </a:rPr>
              <a:t>])][</a:t>
            </a:r>
            <a:r>
              <a:rPr lang="en-US" altLang="zh-CN" sz="1000">
                <a:solidFill>
                  <a:srgbClr val="CE9178"/>
                </a:solidFill>
                <a:latin typeface="Consolas" panose="020B0609020204030204"/>
                <a:ea typeface="Consolas" panose="020B0609020204030204"/>
                <a:sym typeface="+mn-ea"/>
              </a:rPr>
              <a:t>'Name'</a:t>
            </a:r>
            <a:r>
              <a:rPr lang="en-US" altLang="zh-CN" sz="1000">
                <a:solidFill>
                  <a:srgbClr val="CCCCCC"/>
                </a:solidFill>
                <a:latin typeface="Consolas" panose="020B0609020204030204"/>
                <a:ea typeface="Consolas" panose="020B0609020204030204"/>
                <a:sym typeface="+mn-ea"/>
              </a:rPr>
              <a:t>]</a:t>
            </a:r>
            <a:endParaRPr lang="en-US" altLang="zh-CN" sz="1000" b="0">
              <a:solidFill>
                <a:srgbClr val="CCCCCC"/>
              </a:solidFill>
              <a:latin typeface="Consolas" panose="020B0609020204030204"/>
              <a:ea typeface="Consolas" panose="020B0609020204030204"/>
            </a:endParaRPr>
          </a:p>
          <a:p>
            <a:pPr>
              <a:lnSpc>
                <a:spcPct val="100000"/>
              </a:lnSpc>
            </a:pPr>
            <a:r>
              <a:rPr lang="en-US" altLang="zh-CN" sz="1000">
                <a:solidFill>
                  <a:srgbClr val="6A9955"/>
                </a:solidFill>
                <a:latin typeface="Consolas" panose="020B0609020204030204"/>
                <a:ea typeface="Consolas" panose="020B0609020204030204"/>
                <a:sym typeface="+mn-ea"/>
              </a:rPr>
              <a:t># Q. How many passenger have parch greater than 3</a:t>
            </a:r>
            <a:endParaRPr lang="en-US" altLang="zh-CN" sz="1000" b="0">
              <a:solidFill>
                <a:srgbClr val="6A9955"/>
              </a:solidFill>
              <a:latin typeface="Consolas" panose="020B0609020204030204"/>
              <a:ea typeface="Consolas" panose="020B0609020204030204"/>
            </a:endParaRPr>
          </a:p>
          <a:p>
            <a:pPr>
              <a:lnSpc>
                <a:spcPct val="100000"/>
              </a:lnSpc>
            </a:pPr>
            <a:r>
              <a:rPr lang="en-US" altLang="zh-CN" sz="1000">
                <a:solidFill>
                  <a:srgbClr val="6A9955"/>
                </a:solidFill>
                <a:latin typeface="Consolas" panose="020B0609020204030204"/>
                <a:ea typeface="Consolas" panose="020B0609020204030204"/>
                <a:sym typeface="+mn-ea"/>
              </a:rPr>
              <a:t># Q. How many passenger who survived paid the maximum fare</a:t>
            </a:r>
            <a:endParaRPr lang="en-US" altLang="zh-CN" sz="1000" b="0">
              <a:solidFill>
                <a:srgbClr val="6A9955"/>
              </a:solidFill>
              <a:latin typeface="Consolas" panose="020B0609020204030204"/>
              <a:ea typeface="Consolas" panose="020B0609020204030204"/>
            </a:endParaRPr>
          </a:p>
          <a:p>
            <a:pPr>
              <a:lnSpc>
                <a:spcPct val="100000"/>
              </a:lnSpc>
            </a:pPr>
            <a:r>
              <a:rPr lang="en-US" altLang="zh-CN" sz="1000">
                <a:solidFill>
                  <a:srgbClr val="6A9955"/>
                </a:solidFill>
                <a:latin typeface="Consolas" panose="020B0609020204030204"/>
                <a:ea typeface="Consolas" panose="020B0609020204030204"/>
                <a:sym typeface="+mn-ea"/>
              </a:rPr>
              <a:t># Q. How many passengers who didnt survived was from class 1</a:t>
            </a:r>
            <a:endParaRPr lang="en-US" altLang="zh-CN" sz="1000" b="0">
              <a:solidFill>
                <a:srgbClr val="6A9955"/>
              </a:solidFill>
              <a:latin typeface="Consolas" panose="020B0609020204030204"/>
              <a:ea typeface="Consolas" panose="020B0609020204030204"/>
            </a:endParaRPr>
          </a:p>
          <a:p>
            <a:pPr>
              <a:lnSpc>
                <a:spcPct val="100000"/>
              </a:lnSpc>
            </a:pPr>
            <a:r>
              <a:rPr lang="en-US" altLang="zh-CN" sz="1000">
                <a:solidFill>
                  <a:srgbClr val="6A9955"/>
                </a:solidFill>
                <a:latin typeface="Consolas" panose="020B0609020204030204"/>
                <a:ea typeface="Consolas" panose="020B0609020204030204"/>
                <a:sym typeface="+mn-ea"/>
              </a:rPr>
              <a:t># Q. How many passengers are children(&lt;5 years old)</a:t>
            </a:r>
            <a:endParaRPr lang="en-US" altLang="zh-CN" sz="1000">
              <a:solidFill>
                <a:srgbClr val="6A9955"/>
              </a:solidFill>
              <a:latin typeface="Consolas" panose="020B0609020204030204"/>
              <a:ea typeface="Consolas" panose="020B0609020204030204"/>
              <a:sym typeface="+mn-ea"/>
            </a:endParaRPr>
          </a:p>
        </p:txBody>
      </p:sp>
      <p:sp>
        <p:nvSpPr>
          <p:cNvPr id="4" name="Text Box 3"/>
          <p:cNvSpPr txBox="1"/>
          <p:nvPr/>
        </p:nvSpPr>
        <p:spPr>
          <a:xfrm>
            <a:off x="4064000" y="2793365"/>
            <a:ext cx="4665345" cy="521970"/>
          </a:xfrm>
          <a:prstGeom prst="rect">
            <a:avLst/>
          </a:prstGeom>
        </p:spPr>
        <p:txBody>
          <a:bodyPr wrap="square">
            <a:spAutoFit/>
          </a:bodyPr>
          <a:p>
            <a:pPr>
              <a:lnSpc>
                <a:spcPct val="100000"/>
              </a:lnSpc>
            </a:pPr>
            <a:r>
              <a:rPr lang="en-US" altLang="zh-CN" b="0">
                <a:solidFill>
                  <a:schemeClr val="tx1"/>
                </a:solidFill>
                <a:latin typeface="Consolas" panose="020B0609020204030204"/>
                <a:ea typeface="Consolas" panose="020B0609020204030204"/>
              </a:rPr>
              <a:t># # Sorting by column "Population"</a:t>
            </a:r>
            <a:endParaRPr lang="en-US" altLang="zh-CN" b="0">
              <a:solidFill>
                <a:schemeClr val="tx1"/>
              </a:solidFill>
              <a:latin typeface="Consolas" panose="020B0609020204030204"/>
              <a:ea typeface="Consolas" panose="020B0609020204030204"/>
            </a:endParaRPr>
          </a:p>
          <a:p>
            <a:pPr>
              <a:lnSpc>
                <a:spcPct val="100000"/>
              </a:lnSpc>
            </a:pPr>
            <a:r>
              <a:rPr lang="en-US" altLang="zh-CN" b="0">
                <a:solidFill>
                  <a:schemeClr val="tx1"/>
                </a:solidFill>
                <a:latin typeface="Consolas" panose="020B0609020204030204"/>
                <a:ea typeface="Consolas" panose="020B0609020204030204"/>
              </a:rPr>
              <a:t>df.sort_values(by=['Fare'], ascending=False)</a:t>
            </a:r>
            <a:endParaRPr lang="en-US" altLang="zh-CN" b="0">
              <a:solidFill>
                <a:schemeClr val="tx1"/>
              </a:solidFill>
              <a:latin typeface="Consolas" panose="020B0609020204030204"/>
              <a:ea typeface="Consolas" panose="020B0609020204030204"/>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654050" y="232092"/>
            <a:ext cx="5080000" cy="829945"/>
          </a:xfrm>
          <a:prstGeom prst="rect">
            <a:avLst/>
          </a:prstGeom>
        </p:spPr>
        <p:txBody>
          <a:bodyPr>
            <a:spAutoFit/>
          </a:bodyPr>
          <a:p>
            <a:pPr>
              <a:lnSpc>
                <a:spcPct val="100000"/>
              </a:lnSpc>
            </a:pPr>
            <a:r>
              <a:rPr lang="en-US" altLang="zh-CN" sz="1600" b="0">
                <a:solidFill>
                  <a:schemeClr val="tx1"/>
                </a:solidFill>
                <a:latin typeface="Consolas" panose="020B0609020204030204"/>
                <a:ea typeface="Consolas" panose="020B0609020204030204"/>
              </a:rPr>
              <a:t># Sorting by values</a:t>
            </a:r>
            <a:endParaRPr lang="en-US" altLang="zh-CN" sz="1600" b="0">
              <a:solidFill>
                <a:schemeClr val="tx1"/>
              </a:solidFill>
              <a:latin typeface="Consolas" panose="020B0609020204030204"/>
              <a:ea typeface="Consolas" panose="020B0609020204030204"/>
            </a:endParaRPr>
          </a:p>
          <a:p>
            <a:pPr>
              <a:lnSpc>
                <a:spcPct val="100000"/>
              </a:lnSpc>
            </a:pPr>
            <a:r>
              <a:rPr lang="en-US" altLang="zh-CN" sz="1600" b="0">
                <a:solidFill>
                  <a:schemeClr val="tx1"/>
                </a:solidFill>
                <a:latin typeface="Consolas" panose="020B0609020204030204"/>
                <a:ea typeface="Consolas" panose="020B0609020204030204"/>
              </a:rPr>
              <a:t>df.sort_values(by="Fare", ascending=False)</a:t>
            </a:r>
            <a:endParaRPr lang="en-US" altLang="zh-CN" sz="1600" b="0">
              <a:solidFill>
                <a:schemeClr val="tx1"/>
              </a:solidFill>
              <a:latin typeface="Consolas" panose="020B0609020204030204"/>
              <a:ea typeface="Consolas" panose="020B0609020204030204"/>
            </a:endParaRPr>
          </a:p>
          <a:p>
            <a:pPr>
              <a:lnSpc>
                <a:spcPct val="100000"/>
              </a:lnSpc>
            </a:pPr>
            <a:r>
              <a:rPr lang="en-US" altLang="zh-CN" sz="1600" b="0">
                <a:solidFill>
                  <a:schemeClr val="tx1"/>
                </a:solidFill>
                <a:latin typeface="Consolas" panose="020B0609020204030204"/>
                <a:ea typeface="Consolas" panose="020B0609020204030204"/>
              </a:rPr>
              <a:t>df.sort_index( axis=0,ascending=False)</a:t>
            </a:r>
            <a:endParaRPr lang="en-US" altLang="zh-CN" sz="1600" b="0">
              <a:solidFill>
                <a:schemeClr val="tx1"/>
              </a:solidFill>
              <a:latin typeface="Consolas" panose="020B0609020204030204"/>
              <a:ea typeface="Consolas" panose="020B0609020204030204"/>
            </a:endParaRPr>
          </a:p>
        </p:txBody>
      </p:sp>
      <p:sp>
        <p:nvSpPr>
          <p:cNvPr id="3" name="Text Box 2"/>
          <p:cNvSpPr txBox="1"/>
          <p:nvPr/>
        </p:nvSpPr>
        <p:spPr>
          <a:xfrm>
            <a:off x="883285" y="1441767"/>
            <a:ext cx="5080000" cy="583565"/>
          </a:xfrm>
          <a:prstGeom prst="rect">
            <a:avLst/>
          </a:prstGeom>
        </p:spPr>
        <p:txBody>
          <a:bodyPr>
            <a:spAutoFit/>
          </a:bodyPr>
          <a:p>
            <a:pPr>
              <a:lnSpc>
                <a:spcPct val="100000"/>
              </a:lnSpc>
            </a:pPr>
            <a:r>
              <a:rPr lang="en-US" altLang="zh-CN" sz="1600" b="0">
                <a:solidFill>
                  <a:schemeClr val="tx1"/>
                </a:solidFill>
                <a:latin typeface="Consolas" panose="020B0609020204030204"/>
                <a:ea typeface="Consolas" panose="020B0609020204030204"/>
              </a:rPr>
              <a:t>pd.DataFrame(d1)</a:t>
            </a:r>
            <a:endParaRPr lang="en-US" altLang="zh-CN" sz="1600" b="0">
              <a:solidFill>
                <a:schemeClr val="tx1"/>
              </a:solidFill>
              <a:latin typeface="Consolas" panose="020B0609020204030204"/>
              <a:ea typeface="Consolas" panose="020B0609020204030204"/>
            </a:endParaRPr>
          </a:p>
          <a:p>
            <a:pPr>
              <a:lnSpc>
                <a:spcPct val="100000"/>
              </a:lnSpc>
            </a:pPr>
            <a:r>
              <a:rPr lang="en-US" altLang="zh-CN" sz="1600" b="0">
                <a:solidFill>
                  <a:schemeClr val="tx1"/>
                </a:solidFill>
                <a:latin typeface="Consolas" panose="020B0609020204030204"/>
                <a:ea typeface="Consolas" panose="020B0609020204030204"/>
              </a:rPr>
              <a:t>pd.merge(d1, d2, how='left')</a:t>
            </a:r>
            <a:endParaRPr lang="en-US" altLang="zh-CN" sz="1600" b="0">
              <a:solidFill>
                <a:schemeClr val="tx1"/>
              </a:solidFill>
              <a:latin typeface="Consolas" panose="020B0609020204030204"/>
              <a:ea typeface="Consolas" panose="020B0609020204030204"/>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158750" y="0"/>
            <a:ext cx="7076440" cy="3322955"/>
          </a:xfrm>
          <a:prstGeom prst="rect">
            <a:avLst/>
          </a:prstGeom>
        </p:spPr>
        <p:txBody>
          <a:bodyPr wrap="square">
            <a:spAutoFit/>
          </a:bodyPr>
          <a:p>
            <a:pPr>
              <a:lnSpc>
                <a:spcPct val="100000"/>
              </a:lnSpc>
            </a:pPr>
            <a:r>
              <a:rPr lang="en-US" altLang="zh-CN" b="0">
                <a:solidFill>
                  <a:srgbClr val="6A9955"/>
                </a:solidFill>
                <a:latin typeface="Consolas" panose="020B0609020204030204"/>
                <a:ea typeface="Consolas" panose="020B0609020204030204"/>
              </a:rPr>
              <a:t># Definitions and Use Cases:</a:t>
            </a:r>
            <a:endParaRPr lang="en-US" altLang="zh-CN" b="0">
              <a:solidFill>
                <a:srgbClr val="6A9955"/>
              </a:solidFill>
              <a:latin typeface="Consolas" panose="020B0609020204030204"/>
              <a:ea typeface="Consolas" panose="020B0609020204030204"/>
            </a:endParaRPr>
          </a:p>
          <a:p>
            <a:pPr>
              <a:lnSpc>
                <a:spcPct val="100000"/>
              </a:lnSpc>
            </a:pPr>
            <a:r>
              <a:rPr lang="en-US" altLang="zh-CN" b="0">
                <a:solidFill>
                  <a:srgbClr val="6A9955"/>
                </a:solidFill>
                <a:latin typeface="Consolas" panose="020B0609020204030204"/>
                <a:ea typeface="Consolas" panose="020B0609020204030204"/>
              </a:rPr>
              <a:t># ------------------------------------------------------------</a:t>
            </a:r>
            <a:endParaRPr lang="en-US" altLang="zh-CN" b="0">
              <a:solidFill>
                <a:srgbClr val="6A9955"/>
              </a:solidFill>
              <a:latin typeface="Consolas" panose="020B0609020204030204"/>
              <a:ea typeface="Consolas" panose="020B0609020204030204"/>
            </a:endParaRPr>
          </a:p>
          <a:p>
            <a:pPr>
              <a:lnSpc>
                <a:spcPct val="100000"/>
              </a:lnSpc>
            </a:pPr>
            <a:r>
              <a:rPr lang="en-US" altLang="zh-CN" b="0">
                <a:solidFill>
                  <a:srgbClr val="6A9955"/>
                </a:solidFill>
                <a:latin typeface="Consolas" panose="020B0609020204030204"/>
                <a:ea typeface="Consolas" panose="020B0609020204030204"/>
              </a:rPr>
              <a:t># concat: Combines DataFrames either vertically (row-wise) or horizontally (column-wise).</a:t>
            </a:r>
            <a:endParaRPr lang="en-US" altLang="zh-CN" b="0">
              <a:solidFill>
                <a:srgbClr val="6A9955"/>
              </a:solidFill>
              <a:latin typeface="Consolas" panose="020B0609020204030204"/>
              <a:ea typeface="Consolas" panose="020B0609020204030204"/>
            </a:endParaRPr>
          </a:p>
          <a:p>
            <a:pPr>
              <a:lnSpc>
                <a:spcPct val="100000"/>
              </a:lnSpc>
            </a:pPr>
            <a:r>
              <a:rPr lang="en-US" altLang="zh-CN" b="0">
                <a:solidFill>
                  <a:srgbClr val="6A9955"/>
                </a:solidFill>
                <a:latin typeface="Consolas" panose="020B0609020204030204"/>
                <a:ea typeface="Consolas" panose="020B0609020204030204"/>
              </a:rPr>
              <a:t>#   Use case: Combine data from multiple CSVs or append new data.</a:t>
            </a:r>
            <a:endParaRPr lang="en-US" altLang="zh-CN" b="0">
              <a:solidFill>
                <a:srgbClr val="6A9955"/>
              </a:solidFill>
              <a:latin typeface="Consolas" panose="020B0609020204030204"/>
              <a:ea typeface="Consolas" panose="020B0609020204030204"/>
            </a:endParaRPr>
          </a:p>
          <a:p>
            <a:pPr>
              <a:lnSpc>
                <a:spcPct val="100000"/>
              </a:lnSpc>
            </a:pPr>
            <a:r>
              <a:rPr lang="en-US" altLang="zh-CN" b="0">
                <a:solidFill>
                  <a:srgbClr val="6A9955"/>
                </a:solidFill>
                <a:latin typeface="Consolas" panose="020B0609020204030204"/>
                <a:ea typeface="Consolas" panose="020B0609020204030204"/>
              </a:rPr>
              <a:t># merge: Combines DataFrames based on common columns (similar to SQL joins).</a:t>
            </a:r>
            <a:endParaRPr lang="en-US" altLang="zh-CN" b="0">
              <a:solidFill>
                <a:srgbClr val="6A9955"/>
              </a:solidFill>
              <a:latin typeface="Consolas" panose="020B0609020204030204"/>
              <a:ea typeface="Consolas" panose="020B0609020204030204"/>
            </a:endParaRPr>
          </a:p>
          <a:p>
            <a:pPr>
              <a:lnSpc>
                <a:spcPct val="100000"/>
              </a:lnSpc>
            </a:pPr>
            <a:r>
              <a:rPr lang="en-US" altLang="zh-CN" b="0">
                <a:solidFill>
                  <a:srgbClr val="6A9955"/>
                </a:solidFill>
                <a:latin typeface="Consolas" panose="020B0609020204030204"/>
                <a:ea typeface="Consolas" panose="020B0609020204030204"/>
              </a:rPr>
              <a:t>#   Use case: Merge customer info with transaction data.</a:t>
            </a:r>
            <a:endParaRPr lang="en-US" altLang="zh-CN" b="0">
              <a:solidFill>
                <a:srgbClr val="6A9955"/>
              </a:solidFill>
              <a:latin typeface="Consolas" panose="020B0609020204030204"/>
              <a:ea typeface="Consolas" panose="020B0609020204030204"/>
            </a:endParaRPr>
          </a:p>
          <a:p>
            <a:pPr>
              <a:lnSpc>
                <a:spcPct val="100000"/>
              </a:lnSpc>
            </a:pPr>
            <a:r>
              <a:rPr lang="en-US" altLang="zh-CN" b="0">
                <a:solidFill>
                  <a:srgbClr val="6A9955"/>
                </a:solidFill>
                <a:latin typeface="Consolas" panose="020B0609020204030204"/>
                <a:ea typeface="Consolas" panose="020B0609020204030204"/>
              </a:rPr>
              <a:t># join: Joins DataFrames using their index.</a:t>
            </a:r>
            <a:endParaRPr lang="en-US" altLang="zh-CN" b="0">
              <a:solidFill>
                <a:srgbClr val="6A9955"/>
              </a:solidFill>
              <a:latin typeface="Consolas" panose="020B0609020204030204"/>
              <a:ea typeface="Consolas" panose="020B0609020204030204"/>
            </a:endParaRPr>
          </a:p>
          <a:p>
            <a:pPr>
              <a:lnSpc>
                <a:spcPct val="100000"/>
              </a:lnSpc>
            </a:pPr>
            <a:r>
              <a:rPr lang="en-US" altLang="zh-CN" b="0">
                <a:solidFill>
                  <a:srgbClr val="6A9955"/>
                </a:solidFill>
                <a:latin typeface="Consolas" panose="020B0609020204030204"/>
                <a:ea typeface="Consolas" panose="020B0609020204030204"/>
              </a:rPr>
              <a:t>#   Use case: Combine metadata indexed by unique IDs.</a:t>
            </a:r>
            <a:endParaRPr lang="en-US" altLang="zh-CN" b="0">
              <a:solidFill>
                <a:srgbClr val="6A9955"/>
              </a:solidFill>
              <a:latin typeface="Consolas" panose="020B0609020204030204"/>
              <a:ea typeface="Consolas" panose="020B0609020204030204"/>
            </a:endParaRPr>
          </a:p>
          <a:p>
            <a:pPr>
              <a:lnSpc>
                <a:spcPct val="100000"/>
              </a:lnSpc>
            </a:pPr>
            <a:r>
              <a:rPr lang="en-US" altLang="zh-CN" b="0">
                <a:solidFill>
                  <a:srgbClr val="6A9955"/>
                </a:solidFill>
                <a:latin typeface="Consolas" panose="020B0609020204030204"/>
                <a:ea typeface="Consolas" panose="020B0609020204030204"/>
              </a:rPr>
              <a:t># pivot: Reshapes data by turning unique values in a column into new columns.</a:t>
            </a:r>
            <a:endParaRPr lang="en-US" altLang="zh-CN" b="0">
              <a:solidFill>
                <a:srgbClr val="6A9955"/>
              </a:solidFill>
              <a:latin typeface="Consolas" panose="020B0609020204030204"/>
              <a:ea typeface="Consolas" panose="020B0609020204030204"/>
            </a:endParaRPr>
          </a:p>
          <a:p>
            <a:pPr>
              <a:lnSpc>
                <a:spcPct val="100000"/>
              </a:lnSpc>
            </a:pPr>
            <a:r>
              <a:rPr lang="en-US" altLang="zh-CN" b="0">
                <a:solidFill>
                  <a:srgbClr val="6A9955"/>
                </a:solidFill>
                <a:latin typeface="Consolas" panose="020B0609020204030204"/>
                <a:ea typeface="Consolas" panose="020B0609020204030204"/>
              </a:rPr>
              <a:t>#   Use case: Create summary tables like Excel pivot tables.</a:t>
            </a:r>
            <a:endParaRPr lang="en-US" altLang="zh-CN" b="0">
              <a:solidFill>
                <a:srgbClr val="6A9955"/>
              </a:solidFill>
              <a:latin typeface="Consolas" panose="020B0609020204030204"/>
              <a:ea typeface="Consolas" panose="020B0609020204030204"/>
            </a:endParaRPr>
          </a:p>
          <a:p>
            <a:pPr>
              <a:lnSpc>
                <a:spcPct val="100000"/>
              </a:lnSpc>
            </a:pPr>
            <a:r>
              <a:rPr lang="en-US" altLang="zh-CN" b="0">
                <a:solidFill>
                  <a:srgbClr val="6A9955"/>
                </a:solidFill>
                <a:latin typeface="Consolas" panose="020B0609020204030204"/>
                <a:ea typeface="Consolas" panose="020B0609020204030204"/>
              </a:rPr>
              <a:t># melt (unpivot): Converts wide-format data into long-format.</a:t>
            </a:r>
            <a:endParaRPr lang="en-US" altLang="zh-CN" b="0">
              <a:solidFill>
                <a:srgbClr val="6A9955"/>
              </a:solidFill>
              <a:latin typeface="Consolas" panose="020B0609020204030204"/>
              <a:ea typeface="Consolas" panose="020B0609020204030204"/>
            </a:endParaRPr>
          </a:p>
          <a:p>
            <a:pPr>
              <a:lnSpc>
                <a:spcPct val="100000"/>
              </a:lnSpc>
            </a:pPr>
            <a:r>
              <a:rPr lang="en-US" altLang="zh-CN" b="0">
                <a:solidFill>
                  <a:srgbClr val="6A9955"/>
                </a:solidFill>
                <a:latin typeface="Consolas" panose="020B0609020204030204"/>
                <a:ea typeface="Consolas" panose="020B0609020204030204"/>
              </a:rPr>
              <a:t>#   Use case: Prepare data for analysis/visualization by tidying it.</a:t>
            </a:r>
            <a:endParaRPr lang="en-US" altLang="zh-CN" b="0">
              <a:solidFill>
                <a:srgbClr val="6A9955"/>
              </a:solidFill>
              <a:latin typeface="Consolas" panose="020B0609020204030204"/>
              <a:ea typeface="Consolas" panose="020B0609020204030204"/>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733425" y="332422"/>
            <a:ext cx="5080000" cy="1198880"/>
          </a:xfrm>
          <a:prstGeom prst="rect">
            <a:avLst/>
          </a:prstGeom>
        </p:spPr>
        <p:txBody>
          <a:bodyPr>
            <a:spAutoFit/>
          </a:bodyPr>
          <a:p>
            <a:pPr>
              <a:lnSpc>
                <a:spcPct val="100000"/>
              </a:lnSpc>
            </a:pPr>
            <a:r>
              <a:rPr lang="en-US" altLang="zh-CN" sz="1200" b="0">
                <a:solidFill>
                  <a:schemeClr val="tx1"/>
                </a:solidFill>
                <a:latin typeface="Consolas" panose="020B0609020204030204"/>
                <a:ea typeface="Consolas" panose="020B0609020204030204"/>
              </a:rPr>
              <a:t>importnumpyasnp</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numeric_columns=df.select_dtypes(include=[np.number]).columns</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result=df.groupby('Survived')[numeric_columns].aggregate([np.min, 'max', 'mean', 'median', 'count', 'var'])</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result</a:t>
            </a:r>
            <a:endParaRPr lang="en-US" altLang="zh-CN" sz="1200" b="0">
              <a:solidFill>
                <a:schemeClr val="tx1"/>
              </a:solidFill>
              <a:latin typeface="Consolas" panose="020B0609020204030204"/>
              <a:ea typeface="Consolas" panose="020B0609020204030204"/>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715645" y="341948"/>
            <a:ext cx="5080000" cy="3538220"/>
          </a:xfrm>
          <a:prstGeom prst="rect">
            <a:avLst/>
          </a:prstGeom>
        </p:spPr>
        <p:txBody>
          <a:bodyPr>
            <a:spAutoFit/>
          </a:bodyPr>
          <a:p>
            <a:pPr>
              <a:lnSpc>
                <a:spcPct val="100000"/>
              </a:lnSpc>
            </a:pPr>
            <a:r>
              <a:rPr lang="en-US" altLang="zh-CN" b="0">
                <a:solidFill>
                  <a:schemeClr val="tx1"/>
                </a:solidFill>
                <a:latin typeface="Consolas" panose="020B0609020204030204"/>
                <a:ea typeface="Consolas" panose="020B0609020204030204"/>
              </a:rPr>
              <a:t>#date time</a:t>
            </a:r>
            <a:endParaRPr lang="en-US" altLang="zh-CN" b="0">
              <a:solidFill>
                <a:schemeClr val="tx1"/>
              </a:solidFill>
              <a:latin typeface="Consolas" panose="020B0609020204030204"/>
              <a:ea typeface="Consolas" panose="020B0609020204030204"/>
            </a:endParaRPr>
          </a:p>
          <a:p>
            <a:pPr>
              <a:lnSpc>
                <a:spcPct val="100000"/>
              </a:lnSpc>
            </a:pPr>
            <a:r>
              <a:rPr lang="en-US" altLang="zh-CN" b="0">
                <a:solidFill>
                  <a:schemeClr val="tx1"/>
                </a:solidFill>
                <a:latin typeface="Consolas" panose="020B0609020204030204"/>
                <a:ea typeface="Consolas" panose="020B0609020204030204"/>
              </a:rPr>
              <a:t>df=pd.DataFrame({"date": ['2024-02-08', '2024-02-09', '2024-02-10']})</a:t>
            </a:r>
            <a:endParaRPr lang="en-US" altLang="zh-CN" b="0">
              <a:solidFill>
                <a:schemeClr val="tx1"/>
              </a:solidFill>
              <a:latin typeface="Consolas" panose="020B0609020204030204"/>
              <a:ea typeface="Consolas" panose="020B0609020204030204"/>
            </a:endParaRPr>
          </a:p>
          <a:p>
            <a:pPr>
              <a:lnSpc>
                <a:spcPct val="100000"/>
              </a:lnSpc>
            </a:pPr>
            <a:r>
              <a:rPr lang="en-US" altLang="zh-CN" b="0">
                <a:solidFill>
                  <a:schemeClr val="tx1"/>
                </a:solidFill>
                <a:latin typeface="Consolas" panose="020B0609020204030204"/>
                <a:ea typeface="Consolas" panose="020B0609020204030204"/>
              </a:rPr>
              <a:t>df</a:t>
            </a:r>
            <a:endParaRPr lang="en-US" altLang="zh-CN" b="0">
              <a:solidFill>
                <a:schemeClr val="tx1"/>
              </a:solidFill>
              <a:latin typeface="Consolas" panose="020B0609020204030204"/>
              <a:ea typeface="Consolas" panose="020B0609020204030204"/>
            </a:endParaRPr>
          </a:p>
          <a:p>
            <a:pPr>
              <a:lnSpc>
                <a:spcPct val="100000"/>
              </a:lnSpc>
            </a:pPr>
            <a:r>
              <a:rPr lang="en-US" altLang="zh-CN" b="0">
                <a:solidFill>
                  <a:schemeClr val="tx1"/>
                </a:solidFill>
                <a:latin typeface="Consolas" panose="020B0609020204030204"/>
                <a:ea typeface="Consolas" panose="020B0609020204030204"/>
              </a:rPr>
              <a:t>df.dtypes</a:t>
            </a:r>
            <a:endParaRPr lang="en-US" altLang="zh-CN" b="0">
              <a:solidFill>
                <a:schemeClr val="tx1"/>
              </a:solidFill>
              <a:latin typeface="Consolas" panose="020B0609020204030204"/>
              <a:ea typeface="Consolas" panose="020B0609020204030204"/>
            </a:endParaRPr>
          </a:p>
          <a:p>
            <a:pPr>
              <a:lnSpc>
                <a:spcPct val="100000"/>
              </a:lnSpc>
            </a:pPr>
            <a:r>
              <a:rPr lang="en-US" altLang="zh-CN" b="0">
                <a:solidFill>
                  <a:schemeClr val="tx1"/>
                </a:solidFill>
                <a:latin typeface="Consolas" panose="020B0609020204030204"/>
                <a:ea typeface="Consolas" panose="020B0609020204030204"/>
              </a:rPr>
              <a:t>df['updated_date'] =pd.to_datetime(df['date'])</a:t>
            </a:r>
            <a:endParaRPr lang="en-US" altLang="zh-CN" b="0">
              <a:solidFill>
                <a:schemeClr val="tx1"/>
              </a:solidFill>
              <a:latin typeface="Consolas" panose="020B0609020204030204"/>
              <a:ea typeface="Consolas" panose="020B0609020204030204"/>
            </a:endParaRPr>
          </a:p>
          <a:p>
            <a:pPr>
              <a:lnSpc>
                <a:spcPct val="100000"/>
              </a:lnSpc>
            </a:pPr>
            <a:r>
              <a:rPr lang="en-US" altLang="zh-CN" b="0">
                <a:solidFill>
                  <a:schemeClr val="tx1"/>
                </a:solidFill>
                <a:latin typeface="Consolas" panose="020B0609020204030204"/>
                <a:ea typeface="Consolas" panose="020B0609020204030204"/>
              </a:rPr>
              <a:t>df</a:t>
            </a:r>
            <a:endParaRPr lang="en-US" altLang="zh-CN" b="0">
              <a:solidFill>
                <a:schemeClr val="tx1"/>
              </a:solidFill>
              <a:latin typeface="Consolas" panose="020B0609020204030204"/>
              <a:ea typeface="Consolas" panose="020B0609020204030204"/>
            </a:endParaRPr>
          </a:p>
          <a:p>
            <a:pPr>
              <a:lnSpc>
                <a:spcPct val="100000"/>
              </a:lnSpc>
            </a:pPr>
            <a:r>
              <a:rPr lang="en-US" altLang="zh-CN" b="0">
                <a:solidFill>
                  <a:schemeClr val="tx1"/>
                </a:solidFill>
                <a:latin typeface="Consolas" panose="020B0609020204030204"/>
                <a:ea typeface="Consolas" panose="020B0609020204030204"/>
              </a:rPr>
              <a:t>df.dtypes</a:t>
            </a:r>
            <a:endParaRPr lang="en-US" altLang="zh-CN" b="0">
              <a:solidFill>
                <a:schemeClr val="tx1"/>
              </a:solidFill>
              <a:latin typeface="Consolas" panose="020B0609020204030204"/>
              <a:ea typeface="Consolas" panose="020B0609020204030204"/>
            </a:endParaRPr>
          </a:p>
          <a:p>
            <a:pPr>
              <a:lnSpc>
                <a:spcPct val="100000"/>
              </a:lnSpc>
            </a:pPr>
            <a:r>
              <a:rPr lang="en-US" altLang="zh-CN" b="0">
                <a:solidFill>
                  <a:schemeClr val="tx1"/>
                </a:solidFill>
                <a:latin typeface="Consolas" panose="020B0609020204030204"/>
                <a:ea typeface="Consolas" panose="020B0609020204030204"/>
              </a:rPr>
              <a:t>df['month'] =df['updated_date'].dt.month</a:t>
            </a:r>
            <a:endParaRPr lang="en-US" altLang="zh-CN" b="0">
              <a:solidFill>
                <a:schemeClr val="tx1"/>
              </a:solidFill>
              <a:latin typeface="Consolas" panose="020B0609020204030204"/>
              <a:ea typeface="Consolas" panose="020B0609020204030204"/>
            </a:endParaRPr>
          </a:p>
          <a:p>
            <a:pPr>
              <a:lnSpc>
                <a:spcPct val="100000"/>
              </a:lnSpc>
            </a:pPr>
            <a:r>
              <a:rPr lang="en-US" altLang="zh-CN" b="0">
                <a:solidFill>
                  <a:schemeClr val="tx1"/>
                </a:solidFill>
                <a:latin typeface="Consolas" panose="020B0609020204030204"/>
                <a:ea typeface="Consolas" panose="020B0609020204030204"/>
              </a:rPr>
              <a:t>df</a:t>
            </a:r>
            <a:endParaRPr lang="en-US" altLang="zh-CN" b="0">
              <a:solidFill>
                <a:schemeClr val="tx1"/>
              </a:solidFill>
              <a:latin typeface="Consolas" panose="020B0609020204030204"/>
              <a:ea typeface="Consolas" panose="020B0609020204030204"/>
            </a:endParaRPr>
          </a:p>
          <a:p>
            <a:pPr>
              <a:lnSpc>
                <a:spcPct val="100000"/>
              </a:lnSpc>
            </a:pPr>
            <a:r>
              <a:rPr lang="en-US" altLang="zh-CN" b="0">
                <a:solidFill>
                  <a:schemeClr val="tx1"/>
                </a:solidFill>
                <a:latin typeface="Consolas" panose="020B0609020204030204"/>
                <a:ea typeface="Consolas" panose="020B0609020204030204"/>
              </a:rPr>
              <a:t>df['year'] =df['updated_date'].dt.year</a:t>
            </a:r>
            <a:endParaRPr lang="en-US" altLang="zh-CN" b="0">
              <a:solidFill>
                <a:schemeClr val="tx1"/>
              </a:solidFill>
              <a:latin typeface="Consolas" panose="020B0609020204030204"/>
              <a:ea typeface="Consolas" panose="020B0609020204030204"/>
            </a:endParaRPr>
          </a:p>
          <a:p>
            <a:pPr>
              <a:lnSpc>
                <a:spcPct val="100000"/>
              </a:lnSpc>
            </a:pPr>
            <a:r>
              <a:rPr lang="en-US" altLang="zh-CN" b="0">
                <a:solidFill>
                  <a:schemeClr val="tx1"/>
                </a:solidFill>
                <a:latin typeface="Consolas" panose="020B0609020204030204"/>
                <a:ea typeface="Consolas" panose="020B0609020204030204"/>
              </a:rPr>
              <a:t>df</a:t>
            </a:r>
            <a:endParaRPr lang="en-US" altLang="zh-CN" b="0">
              <a:solidFill>
                <a:schemeClr val="tx1"/>
              </a:solidFill>
              <a:latin typeface="Consolas" panose="020B0609020204030204"/>
              <a:ea typeface="Consolas" panose="020B0609020204030204"/>
            </a:endParaRPr>
          </a:p>
          <a:p>
            <a:pPr>
              <a:lnSpc>
                <a:spcPct val="100000"/>
              </a:lnSpc>
            </a:pPr>
            <a:r>
              <a:rPr lang="en-US" altLang="zh-CN" b="0">
                <a:solidFill>
                  <a:schemeClr val="tx1"/>
                </a:solidFill>
                <a:latin typeface="Consolas" panose="020B0609020204030204"/>
                <a:ea typeface="Consolas" panose="020B0609020204030204"/>
              </a:rPr>
              <a:t>df['day'] =df['updated_date'].dt.day</a:t>
            </a:r>
            <a:endParaRPr lang="en-US" altLang="zh-CN" b="0">
              <a:solidFill>
                <a:schemeClr val="tx1"/>
              </a:solidFill>
              <a:latin typeface="Consolas" panose="020B0609020204030204"/>
              <a:ea typeface="Consolas" panose="020B0609020204030204"/>
            </a:endParaRPr>
          </a:p>
          <a:p>
            <a:pPr>
              <a:lnSpc>
                <a:spcPct val="100000"/>
              </a:lnSpc>
            </a:pPr>
            <a:r>
              <a:rPr lang="en-US" altLang="zh-CN" b="0">
                <a:solidFill>
                  <a:schemeClr val="tx1"/>
                </a:solidFill>
                <a:latin typeface="Consolas" panose="020B0609020204030204"/>
                <a:ea typeface="Consolas" panose="020B0609020204030204"/>
              </a:rPr>
              <a:t>df</a:t>
            </a:r>
            <a:endParaRPr lang="en-US" altLang="zh-CN" b="0">
              <a:solidFill>
                <a:schemeClr val="tx1"/>
              </a:solidFill>
              <a:latin typeface="Consolas" panose="020B0609020204030204"/>
              <a:ea typeface="Consolas" panose="020B0609020204030204"/>
            </a:endParaRPr>
          </a:p>
          <a:p>
            <a:pPr>
              <a:lnSpc>
                <a:spcPct val="100000"/>
              </a:lnSpc>
            </a:pPr>
            <a:r>
              <a:rPr lang="en-US" altLang="zh-CN" b="0">
                <a:solidFill>
                  <a:schemeClr val="tx1"/>
                </a:solidFill>
                <a:latin typeface="Consolas" panose="020B0609020204030204"/>
                <a:ea typeface="Consolas" panose="020B0609020204030204"/>
              </a:rPr>
              <a:t># Convert to date:datatype</a:t>
            </a:r>
            <a:endParaRPr lang="en-US" altLang="zh-CN" b="0">
              <a:solidFill>
                <a:schemeClr val="tx1"/>
              </a:solidFill>
              <a:latin typeface="Consolas" panose="020B0609020204030204"/>
              <a:ea typeface="Consolas" panose="020B0609020204030204"/>
            </a:endParaRPr>
          </a:p>
          <a:p>
            <a:pPr>
              <a:lnSpc>
                <a:spcPct val="100000"/>
              </a:lnSpc>
            </a:pPr>
            <a:r>
              <a:rPr lang="en-US" altLang="zh-CN" b="0">
                <a:solidFill>
                  <a:schemeClr val="tx1"/>
                </a:solidFill>
                <a:latin typeface="Consolas" panose="020B0609020204030204"/>
                <a:ea typeface="Consolas" panose="020B0609020204030204"/>
              </a:rPr>
              <a:t>df['Date'] =pd.to_datetime(df['Date'])</a:t>
            </a:r>
            <a:endParaRPr lang="en-US" altLang="zh-CN" b="0">
              <a:solidFill>
                <a:schemeClr val="tx1"/>
              </a:solidFill>
              <a:latin typeface="Consolas" panose="020B0609020204030204"/>
              <a:ea typeface="Consolas" panose="020B0609020204030204"/>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2286000" y="2310765"/>
            <a:ext cx="4572000" cy="521970"/>
          </a:xfrm>
          <a:prstGeom prst="rect">
            <a:avLst/>
          </a:prstGeom>
          <a:noFill/>
        </p:spPr>
        <p:txBody>
          <a:bodyPr wrap="square" rtlCol="0" anchor="t">
            <a:spAutoFit/>
          </a:bodyPr>
          <a:p>
            <a:r>
              <a:rPr lang="en-US" altLang="en-US"/>
              <a:t>https://www.datacamp.com/blog/top-python-pandas-interview-questions-and-answers</a:t>
            </a:r>
            <a:endParaRPr lang="en-US"/>
          </a:p>
        </p:txBody>
      </p:sp>
      <p:sp>
        <p:nvSpPr>
          <p:cNvPr id="3" name="Text Box 2"/>
          <p:cNvSpPr txBox="1"/>
          <p:nvPr/>
        </p:nvSpPr>
        <p:spPr>
          <a:xfrm>
            <a:off x="2171065" y="3256915"/>
            <a:ext cx="4572000" cy="306705"/>
          </a:xfrm>
          <a:prstGeom prst="rect">
            <a:avLst/>
          </a:prstGeom>
          <a:noFill/>
        </p:spPr>
        <p:txBody>
          <a:bodyPr wrap="square" rtlCol="0" anchor="t">
            <a:spAutoFit/>
          </a:bodyPr>
          <a:p>
            <a:r>
              <a:rPr lang="en-US" altLang="en-US"/>
              <a:t>https://leetcode.com/studyplan/30-days-of-pandas/</a:t>
            </a:r>
            <a:endParaRPr lang="en-US"/>
          </a:p>
        </p:txBody>
      </p:sp>
      <p:sp>
        <p:nvSpPr>
          <p:cNvPr id="4" name="Text Box 3"/>
          <p:cNvSpPr txBox="1"/>
          <p:nvPr/>
        </p:nvSpPr>
        <p:spPr>
          <a:xfrm>
            <a:off x="2233295" y="3662045"/>
            <a:ext cx="4572000" cy="521970"/>
          </a:xfrm>
          <a:prstGeom prst="rect">
            <a:avLst/>
          </a:prstGeom>
          <a:noFill/>
        </p:spPr>
        <p:txBody>
          <a:bodyPr wrap="square" rtlCol="0" anchor="t">
            <a:spAutoFit/>
          </a:bodyPr>
          <a:p>
            <a:r>
              <a:rPr lang="en-US" altLang="en-US"/>
              <a:t>https://skphd.medium.com/pandas-interview-questions-and-answers-a9e823a222c7</a:t>
            </a:r>
            <a:endParaRPr lang="en-US"/>
          </a:p>
        </p:txBody>
      </p:sp>
      <p:sp>
        <p:nvSpPr>
          <p:cNvPr id="5" name="Text Box 4"/>
          <p:cNvSpPr txBox="1"/>
          <p:nvPr/>
        </p:nvSpPr>
        <p:spPr>
          <a:xfrm>
            <a:off x="3065145" y="4620895"/>
            <a:ext cx="3048000" cy="521970"/>
          </a:xfrm>
          <a:prstGeom prst="rect">
            <a:avLst/>
          </a:prstGeom>
          <a:noFill/>
        </p:spPr>
        <p:txBody>
          <a:bodyPr wrap="square" rtlCol="0">
            <a:spAutoFit/>
          </a:bodyPr>
          <a:p>
            <a:r>
              <a:rPr lang="en-US"/>
              <a:t>apply map </a:t>
            </a:r>
            <a:endParaRPr lang="en-US"/>
          </a:p>
          <a:p>
            <a:r>
              <a:rPr lang="en-US"/>
              <a:t>pandas profiling</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79375" y="109538"/>
            <a:ext cx="5080000" cy="645160"/>
          </a:xfrm>
          <a:prstGeom prst="rect">
            <a:avLst/>
          </a:prstGeom>
        </p:spPr>
        <p:txBody>
          <a:bodyPr>
            <a:spAutoFit/>
          </a:bodyPr>
          <a:p>
            <a:pPr>
              <a:lnSpc>
                <a:spcPct val="100000"/>
              </a:lnSpc>
            </a:pPr>
            <a:r>
              <a:rPr lang="en-US" altLang="zh-CN" sz="1200" b="0">
                <a:solidFill>
                  <a:schemeClr val="tx1"/>
                </a:solidFill>
                <a:latin typeface="Consolas" panose="020B0609020204030204"/>
                <a:ea typeface="Consolas" panose="020B0609020204030204"/>
              </a:rPr>
              <a:t>#To convert the result to dataframe</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df.groupby(['Sex', 'Pclass'])['Survived'].sum().to_frame()</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df.groupby(['Sex', 'Pclass'])['Survived'].sum().unstack()</a:t>
            </a:r>
            <a:endParaRPr lang="en-US" altLang="zh-CN" sz="1200" b="0">
              <a:solidFill>
                <a:schemeClr val="tx1"/>
              </a:solidFill>
              <a:latin typeface="Consolas" panose="020B0609020204030204"/>
              <a:ea typeface="Consolas" panose="020B0609020204030204"/>
            </a:endParaRPr>
          </a:p>
        </p:txBody>
      </p:sp>
      <p:sp>
        <p:nvSpPr>
          <p:cNvPr id="3" name="Text Box 2"/>
          <p:cNvSpPr txBox="1"/>
          <p:nvPr/>
        </p:nvSpPr>
        <p:spPr>
          <a:xfrm>
            <a:off x="167640" y="865822"/>
            <a:ext cx="5080000" cy="2122805"/>
          </a:xfrm>
          <a:prstGeom prst="rect">
            <a:avLst/>
          </a:prstGeom>
        </p:spPr>
        <p:txBody>
          <a:bodyPr>
            <a:spAutoFit/>
          </a:bodyPr>
          <a:p>
            <a:pPr>
              <a:lnSpc>
                <a:spcPct val="100000"/>
              </a:lnSpc>
            </a:pPr>
            <a:r>
              <a:rPr lang="en-US" altLang="zh-CN" sz="1200" b="0">
                <a:solidFill>
                  <a:schemeClr val="tx1"/>
                </a:solidFill>
                <a:latin typeface="Consolas" panose="020B0609020204030204"/>
                <a:ea typeface="Consolas" panose="020B0609020204030204"/>
              </a:rPr>
              <a:t># This is useful for categorizing passengers</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 by age groups, which can be helpful for further analysis (e.g., checking survival rates by age group).</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df['Age_Group'] =pd.</a:t>
            </a:r>
            <a:r>
              <a:rPr lang="en-US" altLang="zh-CN" sz="1200" b="1">
                <a:solidFill>
                  <a:schemeClr val="tx1"/>
                </a:solidFill>
                <a:latin typeface="Consolas" panose="020B0609020204030204"/>
                <a:ea typeface="Consolas" panose="020B0609020204030204"/>
              </a:rPr>
              <a:t>cut</a:t>
            </a:r>
            <a:r>
              <a:rPr lang="en-US" altLang="zh-CN" sz="1200" b="0">
                <a:solidFill>
                  <a:schemeClr val="tx1"/>
                </a:solidFill>
                <a:latin typeface="Consolas" panose="020B0609020204030204"/>
                <a:ea typeface="Consolas" panose="020B0609020204030204"/>
              </a:rPr>
              <a:t>(df['Age'], </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                         bins=[0, 12, 18, 60, 80], </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                         labels=['Child', 'Teen', 'Adult', 'Senior'])</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 pd.cut() function, which segments the data into bins (ranges) and labels those</a:t>
            </a:r>
            <a:endParaRPr lang="en-US" altLang="zh-CN" sz="1200" b="0">
              <a:solidFill>
                <a:schemeClr val="tx1"/>
              </a:solidFill>
              <a:latin typeface="Consolas" panose="020B0609020204030204"/>
              <a:ea typeface="Consolas" panose="020B0609020204030204"/>
            </a:endParaRPr>
          </a:p>
          <a:p>
            <a:pPr>
              <a:lnSpc>
                <a:spcPct val="100000"/>
              </a:lnSpc>
            </a:pPr>
            <a:r>
              <a:rPr lang="en-US" altLang="zh-CN" sz="1200" b="0">
                <a:solidFill>
                  <a:schemeClr val="tx1"/>
                </a:solidFill>
                <a:latin typeface="Consolas" panose="020B0609020204030204"/>
                <a:ea typeface="Consolas" panose="020B0609020204030204"/>
              </a:rPr>
              <a:t># bins with categorical names (e.g., 'Child', 'Teen', 'Adult', 'Senior') based on the values in the Age column.</a:t>
            </a:r>
            <a:endParaRPr lang="en-US" altLang="zh-CN" sz="1200" b="0">
              <a:solidFill>
                <a:schemeClr val="tx1"/>
              </a:solidFill>
              <a:latin typeface="Consolas" panose="020B0609020204030204"/>
              <a:ea typeface="Consolas" panose="020B0609020204030204"/>
            </a:endParaRPr>
          </a:p>
        </p:txBody>
      </p:sp>
      <p:sp>
        <p:nvSpPr>
          <p:cNvPr id="4" name="Text Box 3"/>
          <p:cNvSpPr txBox="1"/>
          <p:nvPr/>
        </p:nvSpPr>
        <p:spPr>
          <a:xfrm>
            <a:off x="432435" y="3200082"/>
            <a:ext cx="5080000" cy="521970"/>
          </a:xfrm>
          <a:prstGeom prst="rect">
            <a:avLst/>
          </a:prstGeom>
        </p:spPr>
        <p:txBody>
          <a:bodyPr>
            <a:spAutoFit/>
          </a:bodyPr>
          <a:p>
            <a:pPr>
              <a:lnSpc>
                <a:spcPct val="100000"/>
              </a:lnSpc>
            </a:pPr>
            <a:r>
              <a:rPr lang="en-US" altLang="zh-CN" b="0">
                <a:solidFill>
                  <a:schemeClr val="tx1"/>
                </a:solidFill>
                <a:latin typeface="Consolas" panose="020B0609020204030204"/>
                <a:ea typeface="Consolas" panose="020B0609020204030204"/>
              </a:rPr>
              <a:t>df.to_json(path_or_buf=None, orient=None, lines=False)</a:t>
            </a:r>
            <a:endParaRPr lang="en-US" altLang="zh-CN" b="0">
              <a:solidFill>
                <a:schemeClr val="tx1"/>
              </a:solidFill>
              <a:latin typeface="Consolas" panose="020B0609020204030204"/>
              <a:ea typeface="Consolas" panose="020B0609020204030204"/>
            </a:endParaRPr>
          </a:p>
        </p:txBody>
      </p:sp>
      <p:sp>
        <p:nvSpPr>
          <p:cNvPr id="5" name="Text Box 4"/>
          <p:cNvSpPr txBox="1"/>
          <p:nvPr/>
        </p:nvSpPr>
        <p:spPr>
          <a:xfrm>
            <a:off x="4064000" y="1913255"/>
            <a:ext cx="5080000" cy="2707005"/>
          </a:xfrm>
          <a:prstGeom prst="rect">
            <a:avLst/>
          </a:prstGeom>
        </p:spPr>
        <p:txBody>
          <a:bodyPr>
            <a:spAutoFit/>
          </a:bodyPr>
          <a:p>
            <a:pPr>
              <a:lnSpc>
                <a:spcPct val="100000"/>
              </a:lnSpc>
            </a:pPr>
            <a:r>
              <a:rPr lang="en-US" altLang="zh-CN" sz="1000" b="1">
                <a:solidFill>
                  <a:schemeClr val="tx1"/>
                </a:solidFill>
                <a:latin typeface="Consolas" panose="020B0609020204030204"/>
                <a:ea typeface="Consolas" panose="020B0609020204030204"/>
              </a:rPr>
              <a:t>### </a:t>
            </a:r>
            <a:r>
              <a:rPr lang="zh-CN" altLang="en-US" sz="1000" b="1">
                <a:solidFill>
                  <a:schemeClr val="tx1"/>
                </a:solidFill>
                <a:latin typeface="Consolas" panose="020B0609020204030204"/>
                <a:ea typeface="Consolas" panose="020B0609020204030204"/>
              </a:rPr>
              <a:t>🔁 </a:t>
            </a:r>
            <a:r>
              <a:rPr lang="en-US" altLang="zh-CN" sz="1000" b="1">
                <a:solidFill>
                  <a:schemeClr val="tx1"/>
                </a:solidFill>
                <a:latin typeface="Consolas" panose="020B0609020204030204"/>
                <a:ea typeface="Consolas" panose="020B0609020204030204"/>
              </a:rPr>
              <a:t>Different `orient` options in `.to_json()`</a:t>
            </a:r>
            <a:endParaRPr lang="en-US" altLang="zh-CN" sz="1000" b="1">
              <a:solidFill>
                <a:schemeClr val="tx1"/>
              </a:solidFill>
              <a:latin typeface="Consolas" panose="020B0609020204030204"/>
              <a:ea typeface="Consolas" panose="020B0609020204030204"/>
            </a:endParaRPr>
          </a:p>
          <a:p>
            <a:pPr>
              <a:lnSpc>
                <a:spcPct val="100000"/>
              </a:lnSpc>
            </a:pPr>
            <a:r>
              <a:rPr lang="en-US" altLang="zh-CN" sz="1000" b="0">
                <a:solidFill>
                  <a:schemeClr val="tx1"/>
                </a:solidFill>
                <a:latin typeface="Consolas" panose="020B0609020204030204"/>
                <a:ea typeface="Consolas" panose="020B0609020204030204"/>
              </a:rPr>
              <a:t>| Orient      | Description                    | Output Format                       |</a:t>
            </a:r>
            <a:endParaRPr lang="en-US" altLang="zh-CN" sz="1000" b="0">
              <a:solidFill>
                <a:schemeClr val="tx1"/>
              </a:solidFill>
              <a:latin typeface="Consolas" panose="020B0609020204030204"/>
              <a:ea typeface="Consolas" panose="020B0609020204030204"/>
            </a:endParaRPr>
          </a:p>
          <a:p>
            <a:pPr>
              <a:lnSpc>
                <a:spcPct val="100000"/>
              </a:lnSpc>
            </a:pPr>
            <a:r>
              <a:rPr lang="en-US" altLang="zh-CN" sz="1000" b="0">
                <a:solidFill>
                  <a:schemeClr val="tx1"/>
                </a:solidFill>
                <a:latin typeface="Consolas" panose="020B0609020204030204"/>
                <a:ea typeface="Consolas" panose="020B0609020204030204"/>
              </a:rPr>
              <a:t>| ----------- | ------------------------------ | ----------------------------------- |</a:t>
            </a:r>
            <a:endParaRPr lang="en-US" altLang="zh-CN" sz="1000" b="0">
              <a:solidFill>
                <a:schemeClr val="tx1"/>
              </a:solidFill>
              <a:latin typeface="Consolas" panose="020B0609020204030204"/>
              <a:ea typeface="Consolas" panose="020B0609020204030204"/>
            </a:endParaRPr>
          </a:p>
          <a:p>
            <a:pPr>
              <a:lnSpc>
                <a:spcPct val="100000"/>
              </a:lnSpc>
            </a:pPr>
            <a:r>
              <a:rPr lang="en-US" altLang="zh-CN" sz="1000" b="0">
                <a:solidFill>
                  <a:schemeClr val="tx1"/>
                </a:solidFill>
                <a:latin typeface="Consolas" panose="020B0609020204030204"/>
                <a:ea typeface="Consolas" panose="020B0609020204030204"/>
              </a:rPr>
              <a:t>| `'split'`   | Dict with index, columns, data | `{index, columns, data}`            |</a:t>
            </a:r>
            <a:endParaRPr lang="en-US" altLang="zh-CN" sz="1000" b="0">
              <a:solidFill>
                <a:schemeClr val="tx1"/>
              </a:solidFill>
              <a:latin typeface="Consolas" panose="020B0609020204030204"/>
              <a:ea typeface="Consolas" panose="020B0609020204030204"/>
            </a:endParaRPr>
          </a:p>
          <a:p>
            <a:pPr>
              <a:lnSpc>
                <a:spcPct val="100000"/>
              </a:lnSpc>
            </a:pPr>
            <a:r>
              <a:rPr lang="en-US" altLang="zh-CN" sz="1000" b="0">
                <a:solidFill>
                  <a:schemeClr val="tx1"/>
                </a:solidFill>
                <a:latin typeface="Consolas" panose="020B0609020204030204"/>
                <a:ea typeface="Consolas" panose="020B0609020204030204"/>
              </a:rPr>
              <a:t>| `'records'` | List like row-wise dicts       | `[{"col1":val1, "col2":val2}, ...]` |</a:t>
            </a:r>
            <a:endParaRPr lang="en-US" altLang="zh-CN" sz="1000" b="0">
              <a:solidFill>
                <a:schemeClr val="tx1"/>
              </a:solidFill>
              <a:latin typeface="Consolas" panose="020B0609020204030204"/>
              <a:ea typeface="Consolas" panose="020B0609020204030204"/>
            </a:endParaRPr>
          </a:p>
          <a:p>
            <a:pPr>
              <a:lnSpc>
                <a:spcPct val="100000"/>
              </a:lnSpc>
            </a:pPr>
            <a:r>
              <a:rPr lang="en-US" altLang="zh-CN" sz="1000" b="0">
                <a:solidFill>
                  <a:schemeClr val="tx1"/>
                </a:solidFill>
                <a:latin typeface="Consolas" panose="020B0609020204030204"/>
                <a:ea typeface="Consolas" panose="020B0609020204030204"/>
              </a:rPr>
              <a:t>| `'index'`   | Dict of dicts (index as key)   | `{index: {col:val}}`                |</a:t>
            </a:r>
            <a:endParaRPr lang="en-US" altLang="zh-CN" sz="1000" b="0">
              <a:solidFill>
                <a:schemeClr val="tx1"/>
              </a:solidFill>
              <a:latin typeface="Consolas" panose="020B0609020204030204"/>
              <a:ea typeface="Consolas" panose="020B0609020204030204"/>
            </a:endParaRPr>
          </a:p>
          <a:p>
            <a:pPr>
              <a:lnSpc>
                <a:spcPct val="100000"/>
              </a:lnSpc>
            </a:pPr>
            <a:r>
              <a:rPr lang="en-US" altLang="zh-CN" sz="1000" b="0">
                <a:solidFill>
                  <a:schemeClr val="tx1"/>
                </a:solidFill>
                <a:latin typeface="Consolas" panose="020B0609020204030204"/>
                <a:ea typeface="Consolas" panose="020B0609020204030204"/>
              </a:rPr>
              <a:t>| `'columns'` | Dict of columns                | `{col: {index:val}}`                |</a:t>
            </a:r>
            <a:endParaRPr lang="en-US" altLang="zh-CN" sz="1000" b="0">
              <a:solidFill>
                <a:schemeClr val="tx1"/>
              </a:solidFill>
              <a:latin typeface="Consolas" panose="020B0609020204030204"/>
              <a:ea typeface="Consolas" panose="020B0609020204030204"/>
            </a:endParaRPr>
          </a:p>
          <a:p>
            <a:pPr>
              <a:lnSpc>
                <a:spcPct val="100000"/>
              </a:lnSpc>
            </a:pPr>
            <a:r>
              <a:rPr lang="en-US" altLang="zh-CN" sz="1000" b="0">
                <a:solidFill>
                  <a:schemeClr val="tx1"/>
                </a:solidFill>
                <a:latin typeface="Consolas" panose="020B0609020204030204"/>
                <a:ea typeface="Consolas" panose="020B0609020204030204"/>
              </a:rPr>
              <a:t>| `'values'`  | Just the data as list of lists | `[[...], [...]]`                    |</a:t>
            </a:r>
            <a:endParaRPr lang="en-US" altLang="zh-CN" sz="1000" b="0">
              <a:solidFill>
                <a:schemeClr val="tx1"/>
              </a:solidFill>
              <a:latin typeface="Consolas" panose="020B0609020204030204"/>
              <a:ea typeface="Consolas" panose="020B0609020204030204"/>
            </a:endParaRPr>
          </a:p>
          <a:p>
            <a:pPr>
              <a:lnSpc>
                <a:spcPct val="100000"/>
              </a:lnSpc>
            </a:pPr>
            <a:r>
              <a:rPr lang="en-US" altLang="zh-CN" sz="1000" b="0">
                <a:solidFill>
                  <a:schemeClr val="tx1"/>
                </a:solidFill>
                <a:latin typeface="Consolas" panose="020B0609020204030204"/>
                <a:ea typeface="Consolas" panose="020B0609020204030204"/>
              </a:rPr>
              <a:t>| `'table'`   | JSON Table Schema              | Complex (used in API)               |</a:t>
            </a:r>
            <a:endParaRPr lang="en-US" altLang="zh-CN" sz="1000" b="0">
              <a:solidFill>
                <a:schemeClr val="tx1"/>
              </a:solidFill>
              <a:latin typeface="Consolas" panose="020B0609020204030204"/>
              <a:ea typeface="Consolas" panose="020B0609020204030204"/>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4" name="Picture 1" descr="IMG_256"/>
          <p:cNvPicPr>
            <a:picLocks noChangeAspect="1"/>
          </p:cNvPicPr>
          <p:nvPr/>
        </p:nvPicPr>
        <p:blipFill>
          <a:blip r:embed="rId1"/>
          <a:stretch>
            <a:fillRect/>
          </a:stretch>
        </p:blipFill>
        <p:spPr>
          <a:xfrm>
            <a:off x="0" y="222250"/>
            <a:ext cx="9045575" cy="3663315"/>
          </a:xfrm>
          <a:prstGeom prst="rect">
            <a:avLst/>
          </a:prstGeom>
          <a:noFill/>
          <a:ln w="9525">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355" name="Shape 355"/>
        <p:cNvGrpSpPr/>
        <p:nvPr/>
      </p:nvGrpSpPr>
      <p:grpSpPr>
        <a:xfrm>
          <a:off x="0" y="0"/>
          <a:ext cx="0" cy="0"/>
          <a:chOff x="0" y="0"/>
          <a:chExt cx="0" cy="0"/>
        </a:xfrm>
      </p:grpSpPr>
      <p:sp>
        <p:nvSpPr>
          <p:cNvPr id="356" name="Google Shape;356;p65"/>
          <p:cNvSpPr txBox="1"/>
          <p:nvPr>
            <p:ph type="title"/>
          </p:nvPr>
        </p:nvSpPr>
        <p:spPr>
          <a:xfrm>
            <a:off x="471725" y="2113800"/>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GB" sz="9120" b="1">
                <a:solidFill>
                  <a:schemeClr val="lt2"/>
                </a:solidFill>
              </a:rPr>
              <a:t>Thank You!</a:t>
            </a:r>
            <a:endParaRPr sz="9120" b="1">
              <a:solidFill>
                <a:schemeClr val="lt2"/>
              </a:solidFill>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10841</Words>
  <Application>WPS Presentation</Application>
  <PresentationFormat/>
  <Paragraphs>327</Paragraphs>
  <Slides>20</Slides>
  <Notes>0</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20</vt:i4>
      </vt:variant>
    </vt:vector>
  </HeadingPairs>
  <TitlesOfParts>
    <vt:vector size="29" baseType="lpstr">
      <vt:lpstr>Arial</vt:lpstr>
      <vt:lpstr>SimSun</vt:lpstr>
      <vt:lpstr>Wingdings</vt:lpstr>
      <vt:lpstr>Arial</vt:lpstr>
      <vt:lpstr>Verdana</vt:lpstr>
      <vt:lpstr>Consolas</vt:lpstr>
      <vt:lpstr>Microsoft YaHei</vt:lpstr>
      <vt:lpstr>Arial Unicode MS</vt:lpstr>
      <vt:lpstr>Simple Light</vt:lpstr>
      <vt:lpstr>PowerPoint 演示文稿</vt:lpstr>
      <vt:lpstr>PowerPoint 演示文稿</vt:lpstr>
      <vt:lpstr>Introduction:--</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Thank You!</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Gyanpriya Misra</cp:lastModifiedBy>
  <cp:revision>66</cp:revision>
  <dcterms:created xsi:type="dcterms:W3CDTF">2024-09-27T11:43:00Z</dcterms:created>
  <dcterms:modified xsi:type="dcterms:W3CDTF">2025-11-03T08:01:12Z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85DA3930B6B94777A172DEECC1807C57_12</vt:lpwstr>
  </property>
  <property fmtid="{D5CDD505-2E9C-101B-9397-08002B2CF9AE}" pid="3" name="KSOProductBuildVer">
    <vt:lpwstr>1033-12.2.0.23131</vt:lpwstr>
  </property>
</Properties>
</file>