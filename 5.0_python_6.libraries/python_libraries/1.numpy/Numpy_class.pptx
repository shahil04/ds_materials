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336" r:id="rId5"/>
    <p:sldId id="337" r:id="rId6"/>
    <p:sldId id="338" r:id="rId7"/>
    <p:sldId id="339" r:id="rId8"/>
    <p:sldId id="257" r:id="rId9"/>
    <p:sldId id="340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334" r:id="rId49"/>
    <p:sldId id="296" r:id="rId50"/>
    <p:sldId id="333" r:id="rId51"/>
    <p:sldId id="298" r:id="rId52"/>
    <p:sldId id="299" r:id="rId53"/>
    <p:sldId id="300" r:id="rId54"/>
    <p:sldId id="309" r:id="rId55"/>
    <p:sldId id="310" r:id="rId56"/>
    <p:sldId id="301" r:id="rId57"/>
    <p:sldId id="302" r:id="rId58"/>
    <p:sldId id="303" r:id="rId59"/>
    <p:sldId id="311" r:id="rId60"/>
    <p:sldId id="304" r:id="rId61"/>
    <p:sldId id="312" r:id="rId62"/>
    <p:sldId id="305" r:id="rId63"/>
    <p:sldId id="306" r:id="rId64"/>
    <p:sldId id="321" r:id="rId65"/>
    <p:sldId id="322" r:id="rId66"/>
    <p:sldId id="328" r:id="rId67"/>
    <p:sldId id="332" r:id="rId68"/>
    <p:sldId id="325" r:id="rId69"/>
    <p:sldId id="323" r:id="rId70"/>
    <p:sldId id="341" r:id="rId71"/>
    <p:sldId id="308" r:id="rId72"/>
    <p:sldId id="335" r:id="rId73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62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62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6" Type="http://schemas.openxmlformats.org/officeDocument/2006/relationships/tableStyles" Target="tableStyles.xml"/><Relationship Id="rId75" Type="http://schemas.openxmlformats.org/officeDocument/2006/relationships/viewProps" Target="viewProps.xml"/><Relationship Id="rId74" Type="http://schemas.openxmlformats.org/officeDocument/2006/relationships/presProps" Target="presProps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37aeb68f6c_0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37aeb68f6c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37aeb68f6c_0_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37aeb68f6c_0_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37aeb68f6c_0_1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37aeb68f6c_0_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37aeb68f6c_0_2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37aeb68f6c_0_2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37aeb68f6c_0_3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37aeb68f6c_0_3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37aeb68f6c_0_3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37aeb68f6c_0_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37aeb68f6c_0_4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37aeb68f6c_0_4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37aeb68f6c_0_5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37aeb68f6c_0_5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37aeb68f6c_0_6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37aeb68f6c_0_6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37aeb68f6c_0_7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237aeb68f6c_0_7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37aeb68f6c_0_7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37aeb68f6c_0_7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37aeb68f6c_0_8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37aeb68f6c_0_8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be393e5179d6d2c_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be393e5179d6d2c_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be393e5179d6d2c_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be393e5179d6d2c_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be393e5179d6d2c_1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be393e5179d6d2c_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be393e5179d6d2c_2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be393e5179d6d2c_2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be393e5179d6d2c_3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be393e5179d6d2c_3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be393e5179d6d2c_3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be393e5179d6d2c_3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be393e5179d6d2c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be393e5179d6d2c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be393e5179d6d2c_5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be393e5179d6d2c_5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be393e5179d6d2c_6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be393e5179d6d2c_6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be393e5179d6d2c_6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be393e5179d6d2c_6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e393e5179d6d2c_7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be393e5179d6d2c_7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5bef98cbb2_0_1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5bef98cbb2_0_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5bef98cbb2_0_1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5bef98cbb2_0_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5bef98cbb2_0_2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5bef98cbb2_0_2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5bef98cbb2_0_3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5bef98cbb2_0_3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5bef98cbb2_0_4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5bef98cbb2_0_4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5bef98cbb2_0_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5bef98cbb2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5c18dd4481_0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5c18dd4481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5c18dd4481_0_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5c18dd4481_0_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5c18dd4481_0_1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5c18dd4481_0_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5c18dd4481_0_2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5c18dd4481_0_2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5c18dd4481_0_3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5c18dd4481_0_3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5c18dd4481_0_3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5c18dd4481_0_3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5c18dd4481_0_4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5c18dd4481_0_4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25c18dd4481_0_5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25c18dd4481_0_5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5c18dd4481_0_6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25c18dd4481_0_6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5c18dd4481_0_7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5c18dd4481_0_7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5c18dd4481_0_7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5c18dd4481_0_7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5c18dd4481_0_9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25c18dd4481_0_9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5c18dd4481_0_10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5c18dd4481_0_10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5c18dd4481_0_11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5c18dd4481_0_1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5c18dd4481_0_12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5c18dd4481_0_12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5c18dd4481_0_13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25c18dd4481_0_13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5c18dd4481_0_14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25c18dd4481_0_14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5c18dd4481_0_1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5c18dd4481_0_1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5c18dd4481_0_15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25c18dd4481_0_15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5c18dd4481_0_16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25c18dd4481_0_16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25c18dd4481_0_18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25c18dd4481_0_18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1" Type="http://schemas.openxmlformats.org/officeDocument/2006/relationships/image" Target="../media/image4.jpe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1.xml"/><Relationship Id="rId4" Type="http://schemas.openxmlformats.org/officeDocument/2006/relationships/image" Target="../media/image9.png"/><Relationship Id="rId3" Type="http://schemas.openxmlformats.org/officeDocument/2006/relationships/image" Target="../media/image8.jpeg"/><Relationship Id="rId2" Type="http://schemas.openxmlformats.org/officeDocument/2006/relationships/hyperlink" Target="https://support.google.com/legal/answer/3463239?hl=en" TargetMode="External"/><Relationship Id="rId1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jpe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1.jpe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143C"/>
        </a:solidFill>
        <a:effectLst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770375"/>
            <a:ext cx="9878076" cy="296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220980" y="22860"/>
            <a:ext cx="3048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CONTEXT</a:t>
            </a:r>
            <a:endParaRPr lang="en-US" sz="3200" b="1"/>
          </a:p>
        </p:txBody>
      </p:sp>
      <p:sp>
        <p:nvSpPr>
          <p:cNvPr id="5" name="Text Box 4"/>
          <p:cNvSpPr txBox="1"/>
          <p:nvPr/>
        </p:nvSpPr>
        <p:spPr>
          <a:xfrm>
            <a:off x="381635" y="4747260"/>
            <a:ext cx="8104505" cy="396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1000"/>
              <a:t>https://docs.google.com/document/d/1WWJhu9yMGZv3hJsg_XWFucGUqpI78G6XZj5sZQbXY8Q/edit?usp=sharing</a:t>
            </a:r>
            <a:endParaRPr lang="en-US" altLang="en-US" sz="1000"/>
          </a:p>
        </p:txBody>
      </p:sp>
      <p:sp>
        <p:nvSpPr>
          <p:cNvPr id="6" name="Text Box 5"/>
          <p:cNvSpPr txBox="1"/>
          <p:nvPr/>
        </p:nvSpPr>
        <p:spPr>
          <a:xfrm>
            <a:off x="220980" y="606425"/>
            <a:ext cx="3817620" cy="390271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1: Introduction to NumPy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What is NumPy and why use it?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Key features of NumPy vs Python lists.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Installing and importing NumPy.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Checking NumPy version and basic setup.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Real-world applications of NumPy in Data Science &amp; Machine Learning.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2: NumPy Arrays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Understanding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ndarray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(NumPy array object).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Creating arrays: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From lists and tuples.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Using 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np.array()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np.zeros()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np.ones()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np.arange()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np.linspace()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np.eye()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Random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np.random.randint()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np.random.choice()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Understanding array dimensions: 0-D, 1-D, 2-D, 3-D, n-D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Attributes of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ndim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shape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size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dtype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itemsize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418330" y="449580"/>
            <a:ext cx="4572000" cy="32562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>
                <a:sym typeface="+mn-ea"/>
              </a:rPr>
              <a:t>Module 3: Array Indexing and Slicing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Accessing elements (1-D, 2-D, 3-D arrays).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Negative indexing.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Slicing: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[start:end:step]</a:t>
            </a:r>
            <a:r>
              <a:rPr lang="en-US" altLang="zh-CN" sz="1000">
                <a:sym typeface="+mn-ea"/>
              </a:rPr>
              <a:t> syntax.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Slicing in 2-D and higher-dimensional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>
                <a:sym typeface="+mn-ea"/>
              </a:rPr>
              <a:t>Fancy indexing and boolean indexing.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>
                <a:sym typeface="+mn-ea"/>
              </a:rPr>
              <a:t>Module 4: Data Types and Type Conversion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NumPy data types (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int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float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bool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string</a:t>
            </a:r>
            <a:r>
              <a:rPr lang="en-US" altLang="zh-CN" sz="1000">
                <a:sym typeface="+mn-ea"/>
              </a:rPr>
              <a:t>, etc.).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Specifying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dtype</a:t>
            </a:r>
            <a:r>
              <a:rPr lang="en-US" altLang="zh-CN" sz="1000">
                <a:sym typeface="+mn-ea"/>
              </a:rPr>
              <a:t> during array creation.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>
                <a:sym typeface="+mn-ea"/>
              </a:rPr>
              <a:t>Type conversion using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astype()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000">
                <a:sym typeface="+mn-ea"/>
              </a:rPr>
              <a:t>Difference between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copy()</a:t>
            </a:r>
            <a:r>
              <a:rPr lang="en-US" altLang="zh-CN" sz="1000">
                <a:sym typeface="+mn-ea"/>
              </a:rPr>
              <a:t> and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view()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95250" y="109855"/>
            <a:ext cx="4241800" cy="492315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5: Array Shape &amp; Reshaping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Understanding the shape of arrays (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shape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attribute).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Reshaping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reshape()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Flattening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flatten()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ravel()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Adding or removing dimensions.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Using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ndmin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to create multi-dimensional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Unknown dimension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-1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in reshape.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6: Iterating Arrays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Iterating 1-D, 2-D, and 3-D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Using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nditer()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and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ndenumerate()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for efficient iteration.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7: Array Operations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Element-wise operations: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+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-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*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/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**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Universal functions (ufuncs):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Mathematical 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sqrt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exp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log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log10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Trigonometric 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sin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cos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tan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Aggregation functions: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sum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median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min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max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std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var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Comparison operations: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==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!=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&gt;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&lt;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Logical operations: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np.logical_and()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np.logical_or()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417060" y="109855"/>
            <a:ext cx="3841750" cy="461581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8: Broadcasting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What is broadcasting?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Rules of broadcasting.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Broadcasting with different shapes.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np.broadcast()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np.maximum()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np.minimum()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9: Array Manipulation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Transpose of an array (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.T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Stacking: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hstack()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vstack()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dstack()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Splitting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split()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hsplit()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vsplit()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Concatenation: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concatenate()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Insertion and deletion.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10: Sorting &amp; Searching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Sorting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np.sort()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Indices of sorted elements: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np.argsort()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Searching: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np.where()</a:t>
            </a:r>
            <a:endParaRPr lang="en-US" altLang="zh-CN" sz="1000" b="0" i="0">
              <a:solidFill>
                <a:srgbClr val="188038"/>
              </a:solidFill>
              <a:latin typeface="Roboto Mono"/>
              <a:ea typeface="Roboto Mono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np.searchsorted()</a:t>
            </a:r>
            <a:endParaRPr lang="en-US" altLang="zh-CN" sz="1000" b="0" i="0">
              <a:solidFill>
                <a:srgbClr val="188038"/>
              </a:solidFill>
              <a:latin typeface="Roboto Mono"/>
              <a:ea typeface="Roboto Mono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np.nonzero()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127000" y="0"/>
            <a:ext cx="4015105" cy="520065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11: Random Number Generation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np.random.randint()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np.random.choice()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Shuffling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np.random.shuffle()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Random sampling.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12: Linear Algebra in NumPy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Matrix multiplication: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dot()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matmul()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@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Determinant: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np.linalg.det()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Inverse of a matrix: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np.linalg.inv()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Rank and trace.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Solving linear equations: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np.linalg.solve(A, b)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Eigenvalues and Eigenvectors.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13: Stats &amp; Data Analysis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median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percentile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Variance and standard deviation.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Covariance matrix: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np.cov()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lnSpc>
                <a:spcPct val="70000"/>
              </a:lnSpc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Correlation matrix: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np.corrcoef()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lnSpc>
                <a:spcPct val="50000"/>
              </a:lnSpc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Histograms: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np.histogram()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141470" y="0"/>
            <a:ext cx="4829175" cy="458470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14: Handling Missing Data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Checking for NaN values: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np.isnan()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Checking finite values: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np.isfinite()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Replacing or removing NaN values.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15: Advanced Topics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Memory layout: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C_CONTIGUOUS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vs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F_CONTIGUOUS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Performance optimization with vectorization.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Broadcasting tricks in machine learning.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Working with large datasets using NumPy.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16: Real-World Applications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Representing datasets as matrices.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Implementing Linear Regression with NumPy.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PCA using covariance and eigenvectors.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Matrix operations in Neural Networks (forward propagation example).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259715" y="81915"/>
            <a:ext cx="4248785" cy="497967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17: Interview Preparation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Conceptual Questions:</a:t>
            </a:r>
            <a:endParaRPr lang="en-US" altLang="zh-CN" sz="12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Difference between Python lists and NumPy arrays.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What is broadcasting and vectorization?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Difference between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reshape()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and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ravel()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Difference between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copy()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and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view()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Coding Questions:</a:t>
            </a:r>
            <a:endParaRPr lang="en-US" altLang="zh-CN" sz="12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Create a checkerboard matrix (8x8).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Normalize a random 1-D array.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Find the common elements of two arrays.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Replace odd numbers with -1.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Solve a system of equations using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np.linalg.solve()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18: Practice Assignments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50 coding exercises: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Array creation, slicing, indexing tasks.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Matrix manipulations and broadcasting exercises.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Real-world tasks: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Generate synthetic datasets (random samples).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Perform statistics on sample datasets.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Implement simple ML algorithms using NumPy.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Introduction:--</a:t>
            </a:r>
            <a:endParaRPr lang="en-GB"/>
          </a:p>
        </p:txBody>
      </p:sp>
      <p:sp>
        <p:nvSpPr>
          <p:cNvPr id="60" name="Google Shape;60;p1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a Python library.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used for working with arrays.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short for "Numerical Python".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It also has functions for working in domain of linear algebra, fourier transform, and matrices.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was created in 2005 by Travis Oliphant. It is an open source project and you can use it freely.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stands for Numerical Python.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Introduction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1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NumPy array:</a:t>
            </a:r>
            <a:endParaRPr sz="1150" b="1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type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r>
              <a:rPr lang="en-US" alt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 </a:t>
            </a:r>
            <a:endParaRPr lang="en-US" alt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</a:t>
            </a:r>
            <a:r>
              <a:rPr lang="en-US" alt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.dtype)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Why Use NumPy?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aims to provide an array object that is up to 50x faster than traditional Python lists.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array object in NumPy is called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it provides a lot of supporting functions that make working with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very easy.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Arrays are very frequently used in data science, where speed and resources are very important.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arrays are stored at one continuous place in memory unlike lists, so processes can access and manipulate them very efficiently.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This behavior is called locality of reference in computer science.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This is the main reason why NumPy is faster than lists. Also it is optimized to work with latest CPU architectures.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Checking NumPy Version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Google Shape;78;p17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(np.__version__)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marR="1778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300">
              <a:solidFill>
                <a:srgbClr val="FFFFFF"/>
              </a:solidFill>
              <a:highlight>
                <a:srgbClr val="4CAF50"/>
              </a:highlight>
            </a:endParaRPr>
          </a:p>
          <a:p>
            <a:pPr marL="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Create a NumPy ndarray Object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18"/>
          <p:cNvSpPr txBox="1"/>
          <p:nvPr>
            <p:ph type="body" idx="1"/>
          </p:nvPr>
        </p:nvSpPr>
        <p:spPr>
          <a:xfrm>
            <a:off x="25709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used to work with arrays. The array object in NumPy is called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can create a NumPy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object by using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array()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function.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type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type(): This built-in Python function tells us the type of the object passed to it. Like in above code it shows that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</a:t>
            </a: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is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numpy.ndarray</a:t>
            </a: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type.</a:t>
            </a:r>
            <a:endParaRPr sz="1150">
              <a:solidFill>
                <a:schemeClr val="dk1"/>
              </a:solidFill>
              <a:highlight>
                <a:srgbClr val="FFFFCC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To create an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can pass a list, tuple or any array-like object into the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array()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method, and it will be converted into an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:</a:t>
            </a:r>
            <a:endParaRPr sz="1150">
              <a:solidFill>
                <a:schemeClr val="dk1"/>
              </a:solidFill>
              <a:highlight>
                <a:srgbClr val="FFFFCC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Dimensions in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19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 dimension in arrays is one level of array depth (nested arrays).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0-D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0-D arrays, or Scalars, are the elements in an array. Each value in an array is a 0-D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1-D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20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 array that has 0-D arrays as its elements is called uni-dimensional or 1-D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These are the most common and basic arrays.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1-D array containing the values 1,2,3,4,5: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body" idx="1"/>
          </p:nvPr>
        </p:nvSpPr>
        <p:spPr>
          <a:xfrm>
            <a:off x="311700" y="256025"/>
            <a:ext cx="8520600" cy="431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2-D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 array that has 1-D arrays as its elements is called a 2-D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These are often used to represent matrix or 2nd order tensors.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has a whole sub module dedicated towards matrix operations called </a:t>
            </a:r>
            <a:r>
              <a:rPr lang="en-GB" sz="1200">
                <a:solidFill>
                  <a:srgbClr val="DC143C"/>
                </a:solidFill>
                <a:highlight>
                  <a:srgbClr val="FFFFCC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numpy.mat</a:t>
            </a:r>
            <a:endParaRPr sz="1200">
              <a:solidFill>
                <a:srgbClr val="DC143C"/>
              </a:solidFill>
              <a:highlight>
                <a:srgbClr val="FFFFCC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2-D array containing two arrays with the values 1,2,3 and 4,5,6: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body" idx="1"/>
          </p:nvPr>
        </p:nvSpPr>
        <p:spPr>
          <a:xfrm>
            <a:off x="311700" y="196165"/>
            <a:ext cx="8520600" cy="3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3-D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 array that has 2-D arrays (matrices) as its elements is called 3-D array.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These are often used to represent a 3rd order tensor.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>
                <a:solidFill>
                  <a:schemeClr val="dk1"/>
                </a:solidFill>
                <a:highlight>
                  <a:srgbClr val="E7E9EB"/>
                </a:highlight>
              </a:rPr>
              <a:t>Example</a:t>
            </a:r>
            <a:endParaRPr sz="2000">
              <a:solidFill>
                <a:schemeClr val="dk1"/>
              </a:solidFill>
              <a:highlight>
                <a:srgbClr val="E7E9EB"/>
              </a:highlight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E7E9EB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3-D array with two 2-D arrays, both containing two arrays with the values 1,2,3 and 4,5,6:</a:t>
            </a:r>
            <a:endParaRPr sz="1200">
              <a:solidFill>
                <a:schemeClr val="dk1"/>
              </a:solidFill>
              <a:highlight>
                <a:srgbClr val="E7E9EB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20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3000"/>
              </a:spcBef>
              <a:spcAft>
                <a:spcPts val="1200"/>
              </a:spcAft>
              <a:buNone/>
            </a:pP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Check Number of Dimensions?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Arrays provides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ndim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attribute that returns an integer that tells us how many dimensions the array have.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4"/>
          <p:cNvSpPr txBox="1"/>
          <p:nvPr>
            <p:ph type="body" idx="1"/>
          </p:nvPr>
        </p:nvSpPr>
        <p:spPr>
          <a:xfrm>
            <a:off x="311700" y="198875"/>
            <a:ext cx="8520600" cy="437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Higher Dimensional Arrays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An array can have any number of dimensions.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When the array is created, you can define the number of dimensions by using the ndmin argument.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Example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Create an array with 5 dimensions and verify that it has 5 dimensions: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 = np.array([1, 2, 3, 4], ndmin=5)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print(arr)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print('number of dimensions :', arr.ndim)</a:t>
            </a:r>
            <a:endParaRPr lang="en-GB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/>
          <p:nvPr>
            <p:ph type="body" idx="1"/>
          </p:nvPr>
        </p:nvSpPr>
        <p:spPr>
          <a:xfrm>
            <a:off x="311700" y="220275"/>
            <a:ext cx="8520600" cy="4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In this array the innermost dimension (5th dim) has 4 elements, the 4th dim has 1 element that is the vector, the 3rd dim has 1 element that is the matrix with the vector, the 2nd dim has 1 element that is 3D array and 1st dim has 1 element that is a 4D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Array Indexing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2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Array indexing is the same as accessing an array element.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You can access an array element by referring to its index number.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indexes in NumPy arrays start with 0, meaning that the first element has index 0, and the second has index 1 etc.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Access 2-D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27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To access elements from 2-D arrays we can use comma separated integers representing the dimension and the index of the element.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Think of 2-D arrays like a table with rows and columns, where the dimension represents the row and the index represents the column.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'2nd element on 1st row: 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Access 3-D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28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To access elements from 3-D arrays we can use comma separated integers representing the dimensions and the index of the element.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1800">
                <a:highlight>
                  <a:srgbClr val="FFFFFF"/>
                </a:highlight>
              </a:rPr>
              <a:t>Example Explained</a:t>
            </a:r>
            <a:endParaRPr sz="18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29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arr[0, 1, 2]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prints the value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And this is why: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first number represents the first dimension, which contains two arrays: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[[1, 2, 3], [4, 5, 6]]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and: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[[7, 8, 9], [10, 11, 12]]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Since we selected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are left with the first array: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[[1, 2, 3], [4, 5, 6]]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second number represents the second dimension, which also contains two arrays: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[1, 2, 3]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0"/>
          <p:cNvSpPr txBox="1"/>
          <p:nvPr>
            <p:ph type="body" idx="1"/>
          </p:nvPr>
        </p:nvSpPr>
        <p:spPr>
          <a:xfrm>
            <a:off x="311700" y="333825"/>
            <a:ext cx="8520600" cy="4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and: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[4, 5, 6]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Since we selected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are left with the second array: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[4, 5, 6]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third number represents the third dimension, which contains three values: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4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5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6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Since we selected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end up with the third value: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6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40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Negative Indexing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3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Use negative indexing to access an array from the end.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  <a:highlight>
                  <a:srgbClr val="E7E9EB"/>
                </a:highlight>
              </a:rPr>
              <a:t>Example</a:t>
            </a:r>
            <a:endParaRPr>
              <a:solidFill>
                <a:schemeClr val="dk1"/>
              </a:solidFill>
              <a:highlight>
                <a:srgbClr val="E7E9EB"/>
              </a:highlight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E7E9EB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Print the last element from the 2nd dim:</a:t>
            </a:r>
            <a:endParaRPr sz="1150">
              <a:solidFill>
                <a:schemeClr val="dk1"/>
              </a:solidFill>
              <a:highlight>
                <a:srgbClr val="E7E9EB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30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'Last element from 2nd dim: 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-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Array Slicing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32"/>
          <p:cNvSpPr txBox="1"/>
          <p:nvPr>
            <p:ph type="body" idx="1"/>
          </p:nvPr>
        </p:nvSpPr>
        <p:spPr>
          <a:xfrm>
            <a:off x="311700" y="1152475"/>
            <a:ext cx="8520600" cy="381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Slicing in python means taking elements from one given index to another given index.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pass slice instead of index like this: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[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start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end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can also define the step, like this: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[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start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end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step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don't pass start its considered 0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don't pass end its considered length of array in that dimension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don't pass step its considered 1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Slicing 2-D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69" name="Google Shape;169;p3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Data Types in NumPy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34"/>
          <p:cNvSpPr txBox="1"/>
          <p:nvPr>
            <p:ph type="body" idx="1"/>
          </p:nvPr>
        </p:nvSpPr>
        <p:spPr>
          <a:xfrm>
            <a:off x="154855" y="101785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has some extra data types, and refer to data types with one character, like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integers,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u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unsigned integers etc.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Below is a list of all data types in NumPy and the characters used to represent them.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integer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b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boolean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u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unsigned integer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float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c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complex float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m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timedelta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M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datetime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O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object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string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U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unicode string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V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fixed chunk of memory for other type ( void 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100"/>
              </a:spcBef>
              <a:spcAft>
                <a:spcPts val="1200"/>
              </a:spcAft>
              <a:buNone/>
            </a:pPr>
          </a:p>
        </p:txBody>
      </p:sp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4145915" y="1977390"/>
            <a:ext cx="4997450" cy="29876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Creating Arrays With a Defined Data Type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3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use the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array()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function to create arrays, this function can take an optional argument: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dtype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that allows us to define the expected data type of the array elements: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dtype=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'S'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(arr.dtype)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Converting Data Type on Existing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3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best way to change the data type of an existing array, is to make a copy of the array with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astype()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method.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astype()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function creates a copy of the array, and allows you to specify the data type as a parameter.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data type can be specified using a string, like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'f'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float,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'i'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integer etc. or you can use the data type directly like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float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float and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integer.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1.1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2.1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3.1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arr.astype(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'i'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(newarr.dtype)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7"/>
          <p:cNvSpPr txBox="1"/>
          <p:nvPr>
            <p:ph type="body" idx="1"/>
          </p:nvPr>
        </p:nvSpPr>
        <p:spPr>
          <a:xfrm>
            <a:off x="421555" y="244600"/>
            <a:ext cx="8520600" cy="432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As mentioned above, copies </a:t>
            </a:r>
            <a:r>
              <a:rPr lang="en-GB" sz="1150" i="1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owns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the data, and </a:t>
            </a: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views </a:t>
            </a:r>
            <a:r>
              <a:rPr lang="en-GB" sz="1150" b="1" i="1">
                <a:solidFill>
                  <a:srgbClr val="FF0000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does not own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</a:t>
            </a: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data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but how can we check this?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Every NumPy array has the attribute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base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that returns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None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if the array owns the data.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Otherwise,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base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 attribute refers to the original object.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6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6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x = arr.copy()</a:t>
            </a:r>
            <a:endParaRPr sz="1600" b="1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y = arr.view()</a:t>
            </a:r>
            <a:endParaRPr sz="16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(x.base)</a:t>
            </a:r>
            <a:endParaRPr sz="1600" b="1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(y.base)</a:t>
            </a:r>
            <a:endParaRPr sz="1600" b="1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  <a:endParaRPr sz="1600" b="1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/>
              <a:t>NumPy Array Shape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p38"/>
          <p:cNvSpPr txBox="1"/>
          <p:nvPr>
            <p:ph type="body" idx="1"/>
          </p:nvPr>
        </p:nvSpPr>
        <p:spPr>
          <a:xfrm>
            <a:off x="311785" y="1017905"/>
            <a:ext cx="8520430" cy="30245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shape of an array is the number of elements in each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arrays have an attribute called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shape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that returns a tuple with each index having the number of corresponding elements.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(arr.shape)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9"/>
          <p:cNvSpPr txBox="1"/>
          <p:nvPr>
            <p:ph type="body" idx="1"/>
          </p:nvPr>
        </p:nvSpPr>
        <p:spPr>
          <a:xfrm>
            <a:off x="311700" y="358900"/>
            <a:ext cx="8520600" cy="42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an array with 5 dimensions using ndmin using a vector with values 1,2,3,4 and verify that last dimension has value 4: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ndmin=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'shape of array :'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arr.shape)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Array Reshaping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40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Reshaping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Reshaping means changing the shape of an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shape of an array is the number of elements in each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By reshaping we can add or remove dimensions or change number of elements in each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Reshape From 1-D to 2-D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arr.reshape(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Reshape From 1-D to 3-D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15" name="Google Shape;215;p4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arr.reshape(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Unknown Dimension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42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You are allowed to have one "unknown"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Meaning that you do not have to specify an exact number for one of the dimensions in the reshape method.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Pass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-1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as the value, and NumPy will calculate this number for you.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arr.reshape(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-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E7E9EB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Convert 1D array with 8 elements to 3D array with 2x2 elements: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4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Iterating means going through elements one by one.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As we deal with multi-dimensional arrays in numpy, we can do this using basic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loop of python.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iterate on a 1-D array it will go through each element one by one.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2-D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4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Iterate on each scalar element of the 2-D array:</a:t>
            </a:r>
            <a:endParaRPr lang="en-GB"/>
          </a:p>
        </p:txBody>
      </p:sp>
      <p:sp>
        <p:nvSpPr>
          <p:cNvPr id="239" name="Google Shape;239;p4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(y)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3-D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45" name="Google Shape;245;p4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7"/>
          <p:cNvSpPr txBox="1"/>
          <p:nvPr>
            <p:ph type="body" idx="1"/>
          </p:nvPr>
        </p:nvSpPr>
        <p:spPr>
          <a:xfrm>
            <a:off x="311700" y="324600"/>
            <a:ext cx="8520600" cy="42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Iterate down to the scalars: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z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y: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	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(z)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Arrays Using nditer()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56" name="Google Shape;256;p48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function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nditer()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is a helping function that can be used from very basic to very advanced iterations. It solves some basic issues which we face in iteration, lets go through it with examples.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import numpy as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arr = np.array([[[1, 2], [3, 4]], [[5, 6], [7, 8]]])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for x in np.nditer(arr):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 print(x)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9"/>
          <p:cNvSpPr txBox="1"/>
          <p:nvPr>
            <p:ph type="title"/>
          </p:nvPr>
        </p:nvSpPr>
        <p:spPr>
          <a:xfrm>
            <a:off x="311785" y="445135"/>
            <a:ext cx="420116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Some other </a:t>
            </a:r>
            <a:r>
              <a:rPr lang="en-GB"/>
              <a:t>NumPy Arrays</a:t>
            </a:r>
            <a:endParaRPr lang="en-GB"/>
          </a:p>
        </p:txBody>
      </p:sp>
      <p:sp>
        <p:nvSpPr>
          <p:cNvPr id="262" name="Google Shape;262;p49"/>
          <p:cNvSpPr txBox="1"/>
          <p:nvPr>
            <p:ph type="body" idx="1"/>
          </p:nvPr>
        </p:nvSpPr>
        <p:spPr>
          <a:xfrm>
            <a:off x="311785" y="1152525"/>
            <a:ext cx="7602855" cy="37096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arr_zeros = np.zeros((3, 4))  # 3 rows and 4 columns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ones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arr_ones = np.ones((2, 3))  # 2 rows and 3 columns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a range of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arr_range = np.arange(0, 10, 2)  # start, stop, step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equally spaced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arr_linspace = np.linspace(0, 1, 5)  # start, stop, number of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random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arr_random = np.random.rand(3, 2)  # 3 rows and 2 columns with values between 0 and 1</a:t>
            </a:r>
            <a:endParaRPr lang="en-GB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50"/>
          <p:cNvSpPr txBox="1"/>
          <p:nvPr>
            <p:ph type="title"/>
          </p:nvPr>
        </p:nvSpPr>
        <p:spPr>
          <a:xfrm>
            <a:off x="311785" y="445135"/>
            <a:ext cx="266319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Array Operations</a:t>
            </a:r>
            <a:endParaRPr lang="en-GB"/>
          </a:p>
        </p:txBody>
      </p:sp>
      <p:sp>
        <p:nvSpPr>
          <p:cNvPr id="268" name="Google Shape;268;p50"/>
          <p:cNvSpPr txBox="1"/>
          <p:nvPr>
            <p:ph type="body" idx="1"/>
          </p:nvPr>
        </p:nvSpPr>
        <p:spPr>
          <a:xfrm>
            <a:off x="311785" y="1017905"/>
            <a:ext cx="3824605" cy="39700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supports various element-wise mathematical operations on arrays: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arr1 = np.array([1, 2, 3])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arr2 = np.array([4, 5, 6])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Element-wise addition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result_add = arr1 +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Element-wise subtraction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result_subtract = arr1 -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endParaRPr lang="en-GB"/>
          </a:p>
        </p:txBody>
      </p:sp>
      <p:sp>
        <p:nvSpPr>
          <p:cNvPr id="2" name="Text Box 1"/>
          <p:cNvSpPr txBox="1"/>
          <p:nvPr/>
        </p:nvSpPr>
        <p:spPr>
          <a:xfrm>
            <a:off x="4505325" y="1017905"/>
            <a:ext cx="4572000" cy="23094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# Element-wise multiplication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result_multiply = arr1 *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# Element-wise division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result_divide = arr1 /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# Element-wise power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>
                <a:sym typeface="+mn-ea"/>
              </a:rPr>
              <a:t>result_power = arr1 ** arr2</a:t>
            </a:r>
            <a:endParaRPr lang="en-GB">
              <a:sym typeface="+mn-e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Universal Functions (ufuncs)</a:t>
            </a:r>
            <a:endParaRPr lang="en-GB"/>
          </a:p>
        </p:txBody>
      </p:sp>
      <p:sp>
        <p:nvSpPr>
          <p:cNvPr id="274" name="Google Shape;274;p5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provides universal functions, or ufuncs, which are functions that operate element-wise on arrays, broadcasting the operations as necessary: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2"/>
          <p:cNvSpPr txBox="1"/>
          <p:nvPr>
            <p:ph type="body" idx="1"/>
          </p:nvPr>
        </p:nvSpPr>
        <p:spPr>
          <a:xfrm>
            <a:off x="311785" y="335915"/>
            <a:ext cx="2616200" cy="445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 = np.array([1, 2, 3, 4, 5])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Square root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result_sqrt = np.sqrt(arr)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Exponential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result_exp = np.exp(arr)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Trigonometric functions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result_sin = np.sin(arr)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result_cos = np.cos(arr)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Sum and mean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result_sum = np.sum(arr)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result_mean = np.mean(arr)</a:t>
            </a:r>
            <a:endParaRPr lang="en-GB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Google Shape;290;p54"/>
          <p:cNvSpPr txBox="1"/>
          <p:nvPr/>
        </p:nvSpPr>
        <p:spPr>
          <a:xfrm>
            <a:off x="185420" y="304165"/>
            <a:ext cx="3456305" cy="5727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/>
              <a:t>Aggregation Functions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Google Shape;291;p54"/>
          <p:cNvSpPr txBox="1"/>
          <p:nvPr/>
        </p:nvSpPr>
        <p:spPr>
          <a:xfrm>
            <a:off x="185420" y="1152525"/>
            <a:ext cx="2947035" cy="38925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import numpy as np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arr = np.array([1, 2, 3, 4, 5])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# Minimum and maximum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result_min = np.min(arr)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result_max = np.max(arr)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# Sum and product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result_sum = np.sum(arr)</a:t>
            </a:r>
            <a:endParaRPr lang="en-GB" baseline="-25000"/>
          </a:p>
        </p:txBody>
      </p:sp>
      <p:sp>
        <p:nvSpPr>
          <p:cNvPr id="7" name="Text Box 6"/>
          <p:cNvSpPr txBox="1"/>
          <p:nvPr/>
        </p:nvSpPr>
        <p:spPr>
          <a:xfrm>
            <a:off x="4010660" y="1508760"/>
            <a:ext cx="3255010" cy="29165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result_product = np.prod(arr)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# Mean and median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result_mean = np.mean(arr)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result_median = np.median(arr)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# Variance and standard deviation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result_var = np.var(arr)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baseline="-25000">
                <a:sym typeface="+mn-ea"/>
              </a:rPr>
              <a:t>result_std = np.std(arr)</a:t>
            </a:r>
            <a:endParaRPr lang="en-GB" sz="2000" baseline="-25000">
              <a:sym typeface="+mn-ea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3"/>
          <p:cNvSpPr txBox="1"/>
          <p:nvPr>
            <p:ph type="title"/>
          </p:nvPr>
        </p:nvSpPr>
        <p:spPr>
          <a:xfrm>
            <a:off x="311785" y="201930"/>
            <a:ext cx="2044065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Broadcasting</a:t>
            </a:r>
            <a:endParaRPr lang="en-GB"/>
          </a:p>
        </p:txBody>
      </p:sp>
      <p:sp>
        <p:nvSpPr>
          <p:cNvPr id="285" name="Google Shape;285;p53"/>
          <p:cNvSpPr txBox="1"/>
          <p:nvPr>
            <p:ph type="body" idx="1"/>
          </p:nvPr>
        </p:nvSpPr>
        <p:spPr>
          <a:xfrm>
            <a:off x="396155" y="7746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Broadcasting allows NumPy to perform element-wise operations on arrays of different shapes and sizes: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arr1 = np.array([[1, 2, 3], [4, 5, 6]])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arr2 = np.array([10, 20, 30])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Broadcasting the addition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result_broadcast = arr1 +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2" name="Text Box 1"/>
          <p:cNvSpPr txBox="1"/>
          <p:nvPr/>
        </p:nvSpPr>
        <p:spPr>
          <a:xfrm>
            <a:off x="396240" y="4490720"/>
            <a:ext cx="843597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https://jakevdp.github.io/PythonDataScienceHandbook/02.05-computation-on-arrays-broadcasting.html</a:t>
            </a:r>
            <a:endParaRPr lang="en-US"/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3689350" y="1229360"/>
            <a:ext cx="4890135" cy="32613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Google Shape;350;p64"/>
          <p:cNvSpPr txBox="1"/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Broadcasting and Element-wise Operations</a:t>
            </a:r>
            <a:endParaRPr lang="en-GB"/>
          </a:p>
        </p:txBody>
      </p:sp>
      <p:sp>
        <p:nvSpPr>
          <p:cNvPr id="8" name="Google Shape;351;p64"/>
          <p:cNvSpPr txBox="1"/>
          <p:nvPr/>
        </p:nvSpPr>
        <p:spPr>
          <a:xfrm>
            <a:off x="112310" y="101785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400"/>
              <a:t>np.broadcast(): Return an object that allows broadcasting of two arrays.</a:t>
            </a:r>
            <a:endParaRPr lang="en-GB" sz="1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400"/>
              <a:t>np.maximum(): Element-wise maximum between two arrays.</a:t>
            </a:r>
            <a:endParaRPr lang="en-GB" sz="1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400"/>
              <a:t>np.minimum(): Element-wise minimum between two arrays.</a:t>
            </a:r>
            <a:endParaRPr lang="en-GB" sz="14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# Create two arrays of different shapes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arr1 = np.array([1, 2, 3])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arr2 = np.array([[1], [2], [3]])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# 1. np.broadcast(): Return an object that allows broadcasting of two arrays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broadcast_obj = np.broadcast(arr1, arr2)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# Use broadcasting to perform element-wise addition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broadcasted_sum = arr1 + arr2</a:t>
            </a:r>
            <a:endParaRPr sz="1000"/>
          </a:p>
        </p:txBody>
      </p:sp>
      <p:sp>
        <p:nvSpPr>
          <p:cNvPr id="9" name="Text Box 8"/>
          <p:cNvSpPr txBox="1"/>
          <p:nvPr/>
        </p:nvSpPr>
        <p:spPr>
          <a:xfrm>
            <a:off x="762000" y="4013200"/>
            <a:ext cx="78708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/>
              <a:t># 2. np.maximum(): Element-wise maximum between two arrays</a:t>
            </a:r>
            <a:endParaRPr lang="en-US" sz="1000"/>
          </a:p>
          <a:p>
            <a:r>
              <a:rPr lang="en-US" sz="1000"/>
              <a:t>arr3 = np.array([1, 4, 3, 2])</a:t>
            </a:r>
            <a:endParaRPr lang="en-US" sz="1000"/>
          </a:p>
          <a:p>
            <a:r>
              <a:rPr lang="en-US" sz="1000"/>
              <a:t>arr4 = np.array([2, 3, 5, 1])</a:t>
            </a:r>
            <a:endParaRPr lang="en-US" sz="1000"/>
          </a:p>
          <a:p>
            <a:r>
              <a:rPr lang="en-US" sz="1000"/>
              <a:t>maximum_result = np.maximum(arr3, arr4)</a:t>
            </a:r>
            <a:endParaRPr lang="en-US" sz="1000"/>
          </a:p>
          <a:p>
            <a:r>
              <a:rPr lang="en-US" sz="1000"/>
              <a:t>print("Element-wise maximum:", maximum_result)</a:t>
            </a:r>
            <a:endParaRPr lang="en-US" sz="1000"/>
          </a:p>
          <a:p>
            <a:r>
              <a:rPr lang="en-US" sz="1000"/>
              <a:t># Output: [2 4 5 2]</a:t>
            </a:r>
            <a:endParaRPr lang="en-US" sz="1000"/>
          </a:p>
        </p:txBody>
      </p:sp>
      <p:sp>
        <p:nvSpPr>
          <p:cNvPr id="10" name="Text Box 9"/>
          <p:cNvSpPr txBox="1"/>
          <p:nvPr/>
        </p:nvSpPr>
        <p:spPr>
          <a:xfrm>
            <a:off x="4260215" y="4505960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https://jakevdp.github.io/PythonDataScienceHandbook/02.05-computation-on-arrays-broadcasting.html </a:t>
            </a:r>
            <a:endParaRPr lang="en-US"/>
          </a:p>
        </p:txBody>
      </p:sp>
      <p:pic>
        <p:nvPicPr>
          <p:cNvPr id="11" name="Picture 10"/>
          <p:cNvPicPr/>
          <p:nvPr/>
        </p:nvPicPr>
        <p:blipFill>
          <a:blip r:embed="rId1"/>
          <a:stretch>
            <a:fillRect/>
          </a:stretch>
        </p:blipFill>
        <p:spPr>
          <a:xfrm>
            <a:off x="5038090" y="1668780"/>
            <a:ext cx="3910330" cy="252666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Array Manipulation</a:t>
            </a:r>
            <a:endParaRPr lang="en-GB"/>
          </a:p>
        </p:txBody>
      </p:sp>
      <p:sp>
        <p:nvSpPr>
          <p:cNvPr id="297" name="Google Shape;297;p55"/>
          <p:cNvSpPr txBox="1"/>
          <p:nvPr>
            <p:ph type="body" idx="1"/>
          </p:nvPr>
        </p:nvSpPr>
        <p:spPr>
          <a:xfrm>
            <a:off x="311785" y="1152525"/>
            <a:ext cx="3345815" cy="34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offers numerous functions to manipulate arrays: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 = np.array([[1, 2, 3], [4, 5, 6]])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Transpose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arr_transposed = arr.T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Reshape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arr_reshaped = arr.reshape((3, 2))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Flatten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arr_flattened = arr.flatten()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Concatenate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arr_concatenated = np.concatenate((arr, arr), axis=1)</a:t>
            </a:r>
            <a:endParaRPr lang="en-GB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Random Number Generation</a:t>
            </a:r>
            <a:endParaRPr lang="en-GB"/>
          </a:p>
        </p:txBody>
      </p:sp>
      <p:sp>
        <p:nvSpPr>
          <p:cNvPr id="303" name="Google Shape;303;p5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provides functions to generate random numbers: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# Random integers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random_int = np.random.randint(0, 10, size=(3, 3))  # 3x3 array with values between 0 and </a:t>
            </a:r>
            <a:r>
              <a:rPr lang="en-GB"/>
              <a:t>9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57"/>
          <p:cNvSpPr txBox="1"/>
          <p:nvPr>
            <p:ph type="title"/>
          </p:nvPr>
        </p:nvSpPr>
        <p:spPr>
          <a:xfrm>
            <a:off x="311785" y="445135"/>
            <a:ext cx="434213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Algebra with NumPy</a:t>
            </a:r>
            <a:endParaRPr lang="en-GB"/>
          </a:p>
        </p:txBody>
      </p:sp>
      <p:sp>
        <p:nvSpPr>
          <p:cNvPr id="309" name="Google Shape;309;p57"/>
          <p:cNvSpPr txBox="1"/>
          <p:nvPr>
            <p:ph type="body" idx="1"/>
          </p:nvPr>
        </p:nvSpPr>
        <p:spPr>
          <a:xfrm>
            <a:off x="311700" y="1152475"/>
            <a:ext cx="8520600" cy="36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provides a comprehensive set of linear algebra functions: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Matrix multiplication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matrix1 = np.array([[1, 2], [3, 4]])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matrix2 = np.array([[5, 6], [7, 8]])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result_matrix_mult = np.dot(matrix1, matrix2)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Determinant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det = np.linalg.det(matrix1)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Inverse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inv = np.linalg.inv(matrix1)</a:t>
            </a:r>
            <a:endParaRPr lang="en-GB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264160" y="219710"/>
            <a:ext cx="3917950" cy="4387215"/>
          </a:xfrm>
        </p:spPr>
        <p:txBody>
          <a:bodyPr>
            <a:noAutofit/>
          </a:bodyPr>
          <a:p>
            <a:pPr marL="114300" indent="0">
              <a:buNone/>
            </a:pPr>
            <a:r>
              <a:rPr lang="en-US" b="1">
                <a:solidFill>
                  <a:srgbClr val="FF0000"/>
                </a:solidFill>
              </a:rPr>
              <a:t>np.transpose</a:t>
            </a:r>
            <a:endParaRPr lang="en-US" b="1">
              <a:solidFill>
                <a:srgbClr val="FF0000"/>
              </a:solidFill>
            </a:endParaRPr>
          </a:p>
          <a:p>
            <a:pPr marL="114300" indent="0">
              <a:buNone/>
            </a:pPr>
            <a:r>
              <a:rPr lang="en-US" sz="1600"/>
              <a:t> </a:t>
            </a:r>
            <a:r>
              <a:rPr lang="en-US" sz="1600">
                <a:solidFill>
                  <a:schemeClr val="tx1"/>
                </a:solidFill>
              </a:rPr>
              <a:t> import numpy as np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# Example of a system of linear equations: Ax = b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A = np.array([[3, 2], [1, 2]])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b = np.array([8, 7])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# Solve for x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x = np.linalg.solve(A, b)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print("Solution:", x)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262120" y="546100"/>
            <a:ext cx="4882515" cy="31076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 b="1">
                <a:sym typeface="+mn-ea"/>
              </a:rPr>
              <a:t># Features (X): matrix with 3 rows (samples) and 2 columns (features)</a:t>
            </a:r>
            <a:endParaRPr lang="en-US" b="1"/>
          </a:p>
          <a:p>
            <a:pPr marL="114300" indent="0">
              <a:buNone/>
            </a:pPr>
            <a:r>
              <a:rPr lang="en-US">
                <a:sym typeface="+mn-ea"/>
              </a:rPr>
              <a:t>X = np.array([[1, 1500],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              [1, 1200],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              [1, 1800]])</a:t>
            </a:r>
            <a:endParaRPr lang="en-US"/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# Coefficients (β): vector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β = np.array([50000, 200])</a:t>
            </a:r>
            <a:endParaRPr lang="en-US"/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# Predicted Prices (Y): matrix multiplication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Y = np.dot(X, β)</a:t>
            </a:r>
            <a:endParaRPr lang="en-US"/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print("Predicted Prices:", Y)</a:t>
            </a:r>
            <a:endParaRPr lang="en-US">
              <a:sym typeface="+mn-e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421640" y="337185"/>
            <a:ext cx="3228340" cy="3416300"/>
          </a:xfrm>
        </p:spPr>
        <p:txBody>
          <a:bodyPr>
            <a:noAutofit/>
          </a:bodyPr>
          <a:p>
            <a:pPr marL="114300" indent="0">
              <a:buNone/>
            </a:pPr>
            <a:r>
              <a:rPr lang="en-US" sz="1400" b="1">
                <a:solidFill>
                  <a:srgbClr val="C00000"/>
                </a:solidFill>
              </a:rPr>
              <a:t>Solve Linear Equeations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import numpy as np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# Coefficient matrix A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A = np.array([[2, 3, 1],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              [4, 1, 2],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              [3, 2, 3]])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# Right-hand side vector b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b = np.array([1, 2, 3])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# Solve the system of equations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solution = np.linalg.solve(A, b)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104640" y="492760"/>
            <a:ext cx="4572000" cy="22453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# Extract the values of x, y, z</a:t>
            </a: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x, y, z = solution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print(f"Solution: x = {x}, y = {y}, z = {z}")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2x+3y+z=1</a:t>
            </a: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4x+y+2z=2</a:t>
            </a: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3x+2y+3z=3</a:t>
            </a:r>
            <a:endParaRPr lang="en-US" sz="1400"/>
          </a:p>
          <a:p>
            <a:pPr marL="114300" indent="0">
              <a:buNone/>
            </a:pPr>
            <a:endParaRPr lang="en-US" sz="14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Additional Functions inMachine Learning</a:t>
            </a:r>
            <a:endParaRPr lang="en-GB"/>
          </a:p>
        </p:txBody>
      </p:sp>
      <p:sp>
        <p:nvSpPr>
          <p:cNvPr id="315" name="Google Shape;315;p58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Statistics and Data Analysis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np.mean(): Compute the mean of an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np.median(): Compute the median of an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np.percentile(): Compute the q-th percentile of the data along the specified axis.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np.cov(): Compute the covariance matrix.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np.corrcoef(): Compute the correlation coefficient matrix.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np.histogram(): Compute the histogram of a set of data.</a:t>
            </a:r>
            <a:endParaRPr lang="en-GB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52000"/>
              <a:buFont typeface="Arial" panose="020B0604020202020204"/>
              <a:buNone/>
            </a:pPr>
            <a:r>
              <a:rPr lang="en-GB" sz="2135" b="1">
                <a:solidFill>
                  <a:schemeClr val="dk2"/>
                </a:solidFill>
              </a:rPr>
              <a:t>Mathematical Operations</a:t>
            </a:r>
            <a:endParaRPr sz="3135" b="1"/>
          </a:p>
        </p:txBody>
      </p:sp>
      <p:sp>
        <p:nvSpPr>
          <p:cNvPr id="321" name="Google Shape;321;p59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np.exp(): Calculate the exponential of all elements in the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np.log(): Compute natural logarithm (base e) element-wise.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np.log10(): Compute the base-10 logarithm of all elements.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60"/>
          <p:cNvSpPr txBox="1"/>
          <p:nvPr>
            <p:ph type="title"/>
          </p:nvPr>
        </p:nvSpPr>
        <p:spPr>
          <a:xfrm>
            <a:off x="311785" y="445135"/>
            <a:ext cx="354203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00000"/>
                </a:solidFill>
              </a:rPr>
              <a:t>Sorting and Searching</a:t>
            </a:r>
            <a:endParaRPr lang="en-GB">
              <a:solidFill>
                <a:srgbClr val="C00000"/>
              </a:solidFill>
            </a:endParaRPr>
          </a:p>
        </p:txBody>
      </p:sp>
      <p:sp>
        <p:nvSpPr>
          <p:cNvPr id="327" name="Google Shape;327;p60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np.sort(): Sort an array in ascending order.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np.argsort(): Return the indices that would sort an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np.searchsorted(): Find the indices to insert elements to maintain order.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2" name="Text Box 1"/>
          <p:cNvSpPr txBox="1"/>
          <p:nvPr/>
        </p:nvSpPr>
        <p:spPr>
          <a:xfrm>
            <a:off x="247650" y="2736215"/>
            <a:ext cx="4572000" cy="23069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r>
              <a:rPr lang="en-US" sz="1600">
                <a:sym typeface="+mn-ea"/>
              </a:rPr>
              <a:t>import numpy as np</a:t>
            </a:r>
            <a:endParaRPr lang="en-US" sz="1600"/>
          </a:p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# Create an array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arr = np.array([50, 10, 40, 20, 30])</a:t>
            </a:r>
            <a:endParaRPr lang="en-US" sz="1600"/>
          </a:p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# 1. np.sort(): Sort an array in ascending order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sorted_arr = np.sort(arr)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print("Sorted array:", sorted_arr)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# Output: [10 20 30 40 50]</a:t>
            </a:r>
            <a:endParaRPr lang="en-US" sz="1600">
              <a:sym typeface="+mn-e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241300" y="195580"/>
            <a:ext cx="8520430" cy="4811395"/>
          </a:xfrm>
        </p:spPr>
        <p:txBody>
          <a:bodyPr>
            <a:noAutofit/>
          </a:bodyPr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olidFill>
                  <a:srgbClr val="C00000"/>
                </a:solidFill>
              </a:rPr>
              <a:t># 2. np.argsort(): Return the indices that would sort an array</a:t>
            </a:r>
            <a:endParaRPr lang="en-US" sz="1600">
              <a:solidFill>
                <a:srgbClr val="C00000"/>
              </a:solidFill>
            </a:endParaRPr>
          </a:p>
          <a:p>
            <a:pPr marL="114300" indent="0">
              <a:buNone/>
            </a:pPr>
            <a:r>
              <a:rPr lang="en-US" sz="1600"/>
              <a:t>sorted_indices = np.argsort(arr)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print("Indices that would sort the array:", sorted_indices)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Output: [1 3 4 2 0]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Explanation: The element at index 1 (value 10) is the smallest, so it's placed first.</a:t>
            </a:r>
            <a:endParaRPr lang="en-US" sz="1600"/>
          </a:p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olidFill>
                  <a:srgbClr val="C00000"/>
                </a:solidFill>
              </a:rPr>
              <a:t># 3. np.searchsorted(): Find indices where elements should be inserted to maintain order</a:t>
            </a:r>
            <a:endParaRPr lang="en-US" sz="1600">
              <a:solidFill>
                <a:srgbClr val="C00000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rgbClr val="C00000"/>
                </a:solidFill>
              </a:rPr>
              <a:t># Searching for positions to insert 25 and 35 to maintain the sorted order</a:t>
            </a:r>
            <a:endParaRPr lang="en-US" sz="1600">
              <a:solidFill>
                <a:srgbClr val="C00000"/>
              </a:solidFill>
            </a:endParaRPr>
          </a:p>
          <a:p>
            <a:pPr marL="114300" indent="0">
              <a:buNone/>
            </a:pPr>
            <a:r>
              <a:rPr lang="en-US" sz="1600"/>
              <a:t>insert_positions = np.searchsorted(sorted_arr, [25, 35])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print("Insert positions for 25 and 35:", insert_positions)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Output: [2 3]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Explanation: 25 should be inserted at index 2 and 35 at index 3 to maintain order.</a:t>
            </a:r>
            <a:endParaRPr lang="en-US" sz="16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Element-wise Comparisons</a:t>
            </a:r>
            <a:endParaRPr lang="en-GB"/>
          </a:p>
        </p:txBody>
      </p:sp>
      <p:sp>
        <p:nvSpPr>
          <p:cNvPr id="333" name="Google Shape;333;p61"/>
          <p:cNvSpPr txBox="1"/>
          <p:nvPr>
            <p:ph type="body" idx="1"/>
          </p:nvPr>
        </p:nvSpPr>
        <p:spPr>
          <a:xfrm>
            <a:off x="382185" y="8635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np.equal(): Compare if two arrays have the same elements.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np.not_equal(): Compare if two arrays have different elements.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np.logical_and(), np.logical_or(), np.logical_not(): Perform element-wise logical operations.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2" name="Text Box 1"/>
          <p:cNvSpPr txBox="1"/>
          <p:nvPr/>
        </p:nvSpPr>
        <p:spPr>
          <a:xfrm>
            <a:off x="678180" y="2388870"/>
            <a:ext cx="5897245" cy="27070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r>
              <a:rPr lang="en-US" sz="1000">
                <a:sym typeface="+mn-ea"/>
              </a:rPr>
              <a:t>import numpy as np</a:t>
            </a:r>
            <a:endParaRPr lang="en-US" sz="1000"/>
          </a:p>
          <a:p>
            <a:pPr marL="114300" indent="0">
              <a:buNone/>
            </a:pP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Create two arrays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arr1 = np.array([1, 2, 3, 4, 5])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arr2 = np.array([1, 3, 2, 4, 5])</a:t>
            </a:r>
            <a:endParaRPr lang="en-US" sz="1000"/>
          </a:p>
          <a:p>
            <a:pPr marL="114300" indent="0">
              <a:buNone/>
            </a:pP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1. np.equal(): Compare if two arrays have the same elements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equal_result = np.equal(arr1, arr2)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print("Equal comparison:", equal_result)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Output: [ True False False  True  True ]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Explanation: Elements at positions 0, 3, and 4 are equal between the two arrays.</a:t>
            </a:r>
            <a:endParaRPr lang="en-US" sz="1000"/>
          </a:p>
          <a:p>
            <a:pPr marL="114300" indent="0">
              <a:buNone/>
            </a:pP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2. np.not_equal(): Compare if two arrays have different elements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not_equal_result = np.not_equal(arr1, arr2)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print("Not equal comparison:", not_equal_result)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Output: [False  True  True False False]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Explanation: Elements at positions 1 and 2 are not equal between the two arrays.</a:t>
            </a:r>
            <a:endParaRPr lang="en-US" sz="1000">
              <a:sym typeface="+mn-e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241300" y="203835"/>
            <a:ext cx="8520430" cy="3819525"/>
          </a:xfrm>
        </p:spPr>
        <p:txBody>
          <a:bodyPr>
            <a:noAutofit/>
          </a:bodyPr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 sz="1400"/>
              <a:t># 3. np.logical_and(): Perform element-wise logical AND operation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logical_and_result = np.logical_and(arr1 &gt; 2, arr2 &gt; 2)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print("Logical AND result:", logical_and_result)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Output: [False False  True  True  True]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Explanation: Both arr1 and arr2 must have elements greater than 2 for the result to be True.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 sz="1400"/>
              <a:t># 4. np.logical_or(): Perform element-wise logical OR operation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logical_or_result = np.logical_or(arr1 &gt; 2, arr2 &gt; 2)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print("Logical OR result:", logical_or_result)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Output: [False  True  True  True  True]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Explanation: If either arr1 or arr2 have elements greater than 2, the result is True.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 sz="1400"/>
              <a:t># 5. np.logical_not(): Perform element-wise logical NOT operation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logical_not_result = np.logical_not(arr1 &gt; 3)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print("Logical NOT result:", logical_not_result)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Output: [ True  True  True False False]</a:t>
            </a:r>
            <a:endParaRPr lang="en-US" sz="1400"/>
          </a:p>
          <a:p>
            <a:pPr marL="114300" indent="0">
              <a:buNone/>
            </a:pPr>
            <a:r>
              <a:rPr lang="en-US" sz="1200"/>
              <a:t># Explanation: Elements where arr1 &gt; 3 are False, and others are True.</a:t>
            </a:r>
            <a:endParaRPr lang="en-US" sz="12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Handling Missing Data</a:t>
            </a:r>
            <a:endParaRPr lang="en-GB"/>
          </a:p>
        </p:txBody>
      </p:sp>
      <p:sp>
        <p:nvSpPr>
          <p:cNvPr id="339" name="Google Shape;339;p62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np.isnan(): Check for NaN (Not a Number) elements in an array.</a:t>
            </a:r>
            <a:endParaRPr lang="en-GB"/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nan_check = np.isnan(arr)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np.isfinite(): Check for finite elements in an array.</a:t>
            </a:r>
            <a:endParaRPr lang="en-GB"/>
          </a:p>
          <a:p>
            <a:pPr lvl="1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arr = np.array([1, 2, np.nan, 4, np.inf, -np.inf, 7])</a:t>
            </a:r>
          </a:p>
          <a:p>
            <a:pPr lvl="1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finite_check = np.isfinite(arr)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Generation and Sampling</a:t>
            </a:r>
            <a:endParaRPr lang="en-GB"/>
          </a:p>
        </p:txBody>
      </p:sp>
      <p:sp>
        <p:nvSpPr>
          <p:cNvPr id="345" name="Google Shape;345;p6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np.linspace(): Generate equally spaced values within a specified range.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np.random.choice(): Generate a random sample from a given 1-D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np.random.shuffle(): Shuffle the elements of an array in-place.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random_sample = np.random.choice([10, 20, 30, 40, 50], size=3, replace=False)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np.random.shuffle(arr)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Use Case</a:t>
            </a:r>
            <a:endParaRPr lang="en-US"/>
          </a:p>
        </p:txBody>
      </p:sp>
      <p:sp>
        <p:nvSpPr>
          <p:cNvPr id="3" name="Text Placeholder 2"/>
          <p:cNvSpPr/>
          <p:nvPr>
            <p:ph type="body" idx="1"/>
          </p:nvPr>
        </p:nvSpPr>
        <p:spPr/>
        <p:txBody>
          <a:bodyPr/>
          <a:p>
            <a:endParaRPr lang="en-US"/>
          </a:p>
          <a:p>
            <a:r>
              <a:rPr lang="en-US"/>
              <a:t>Matrices are a fundamental tool in data science, enabling </a:t>
            </a:r>
            <a:r>
              <a:rPr lang="en-US" b="1"/>
              <a:t>efficient computation</a:t>
            </a:r>
            <a:r>
              <a:rPr lang="en-US"/>
              <a:t>, data representation, and algorithm implementation. They are essential for handling large datasets, performing linear algebra operations, and implementing machine learning algorithms.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1029335" y="3037205"/>
            <a:ext cx="7199630" cy="1531620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zh-CN" sz="1600" b="1"/>
              <a:t>Data Representation</a:t>
            </a:r>
            <a:endParaRPr lang="en-US" altLang="zh-CN" sz="1600" b="1"/>
          </a:p>
          <a:p>
            <a:endParaRPr lang="en-US" altLang="zh-CN" sz="1600"/>
          </a:p>
          <a:p>
            <a:r>
              <a:rPr lang="en-US" altLang="zh-CN" sz="1600"/>
              <a:t>Datasets are represented as matrices:</a:t>
            </a:r>
            <a:endParaRPr lang="en-US" altLang="zh-CN" sz="1600"/>
          </a:p>
          <a:p>
            <a:r>
              <a:rPr lang="en-US" altLang="zh-CN" sz="1600"/>
              <a:t>Rows: Individual data points.</a:t>
            </a:r>
            <a:endParaRPr lang="en-US" altLang="zh-CN" sz="1600"/>
          </a:p>
          <a:p>
            <a:r>
              <a:rPr lang="en-US" altLang="zh-CN" sz="1600"/>
              <a:t>Columns: Features/variables.</a:t>
            </a:r>
            <a:endParaRPr lang="en-US" altLang="zh-CN" sz="1600"/>
          </a:p>
          <a:p>
            <a:r>
              <a:rPr lang="en-US" altLang="zh-CN" sz="1600"/>
              <a:t>Example: A house prices dataset with columns for bedrooms, size, and price.</a:t>
            </a:r>
            <a:endParaRPr lang="en-US" altLang="zh-CN" sz="1600"/>
          </a:p>
        </p:txBody>
      </p:sp>
      <p:sp>
        <p:nvSpPr>
          <p:cNvPr id="5" name="Text Box 4"/>
          <p:cNvSpPr txBox="1"/>
          <p:nvPr/>
        </p:nvSpPr>
        <p:spPr>
          <a:xfrm>
            <a:off x="1118235" y="4568825"/>
            <a:ext cx="61868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chemeClr val="accent1"/>
                </a:solidFill>
              </a:rPr>
              <a:t>https://pengfeinie.github.io/convolution-operation-on-images/</a:t>
            </a:r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311785" y="250825"/>
            <a:ext cx="8520430" cy="3173730"/>
          </a:xfrm>
        </p:spPr>
        <p:txBody>
          <a:bodyPr>
            <a:noAutofit/>
          </a:bodyPr>
          <a:p>
            <a:pPr marL="114300" indent="0">
              <a:buNone/>
            </a:pPr>
            <a:r>
              <a:rPr lang="en-US" sz="1300" b="1"/>
              <a:t>Linear Regression</a:t>
            </a:r>
            <a:endParaRPr lang="en-US" sz="1300" b="1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/>
              <a:t>Uses matrices to model relationships: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X: Feature matrix.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β: Coefficient vector.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Y: Predicted values.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Formula: Y=X×β.</a:t>
            </a:r>
            <a:endParaRPr lang="en-US" sz="1300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 b="1"/>
              <a:t>Principal Component Analysis (PCA)</a:t>
            </a:r>
            <a:endParaRPr lang="en-US" sz="1300" b="1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/>
              <a:t>Dimensionality reduction using: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Covariance Matrix: Captures variance/covariance.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Eigenvectors/Eigenvalues: Identify principal components</a:t>
            </a:r>
            <a:endParaRPr lang="en-US" sz="1300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 b="1"/>
              <a:t>Neural Networks</a:t>
            </a:r>
            <a:endParaRPr lang="en-US" sz="1300" b="1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/>
              <a:t>Matrix operations are key in neural networks: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Input: Data as a matrix.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Weights: Matrices for connections.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Output: Matrix multiplications/activations.</a:t>
            </a:r>
            <a:endParaRPr lang="en-US" sz="13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21920"/>
            <a:ext cx="5334000" cy="182880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2301875"/>
            <a:ext cx="8830945" cy="277876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 descr="Representation-of-digital-image-process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785" y="382905"/>
            <a:ext cx="7401560" cy="367474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332740" y="934085"/>
            <a:ext cx="4319270" cy="306705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59715" y="155575"/>
            <a:ext cx="7275195" cy="70675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>
                <a:solidFill>
                  <a:srgbClr val="1F1F1F"/>
                </a:solidFill>
                <a:effectLst/>
                <a:latin typeface="+mj-lt"/>
                <a:ea typeface="Google Sans"/>
                <a:cs typeface="+mj-lt"/>
              </a:rPr>
              <a:t>Artificial Neural Network - Basic Concepts</a:t>
            </a:r>
            <a:endParaRPr lang="en-US" altLang="zh-CN" sz="2400" b="0" i="0">
              <a:solidFill>
                <a:srgbClr val="1F1F1F"/>
              </a:solidFill>
              <a:effectLst/>
              <a:latin typeface="+mj-lt"/>
              <a:ea typeface="Google Sans"/>
              <a:cs typeface="+mj-lt"/>
            </a:endParaRPr>
          </a:p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b="0" i="0">
              <a:solidFill>
                <a:srgbClr val="75757A"/>
              </a:solidFill>
              <a:effectLst/>
              <a:latin typeface="+mj-lt"/>
              <a:ea typeface="Arial" panose="020B0604020202020204"/>
              <a:cs typeface="+mj-lt"/>
              <a:hlinkClick r:id="rId2"/>
            </a:endParaRPr>
          </a:p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b="0" i="0">
              <a:solidFill>
                <a:srgbClr val="75757A"/>
              </a:solidFill>
              <a:effectLst/>
              <a:latin typeface="+mj-lt"/>
              <a:ea typeface="Arial" panose="020B0604020202020204"/>
              <a:cs typeface="+mj-lt"/>
              <a:hlinkClick r:id="rId2"/>
            </a:endParaRPr>
          </a:p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b="0" i="0">
                <a:solidFill>
                  <a:srgbClr val="75757A"/>
                </a:solidFill>
                <a:effectLst/>
                <a:latin typeface="+mj-lt"/>
                <a:ea typeface="Arial" panose="020B0604020202020204"/>
                <a:cs typeface="+mj-lt"/>
                <a:hlinkClick r:id="rId2"/>
              </a:rPr>
              <a:t>Y= MX+ C  concept use with activation functions</a:t>
            </a:r>
            <a:endParaRPr lang="en-US" altLang="zh-CN" sz="1600" b="0" i="0">
              <a:solidFill>
                <a:srgbClr val="75757A"/>
              </a:solidFill>
              <a:effectLst/>
              <a:latin typeface="+mj-lt"/>
              <a:ea typeface="Arial" panose="020B0604020202020204"/>
              <a:cs typeface="+mj-lt"/>
              <a:hlinkClick r:id="rId2"/>
            </a:endParaRPr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5293995" y="611505"/>
            <a:ext cx="3100705" cy="2063115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4"/>
          <a:stretch>
            <a:fillRect/>
          </a:stretch>
        </p:blipFill>
        <p:spPr>
          <a:xfrm>
            <a:off x="5787390" y="2731770"/>
            <a:ext cx="2505075" cy="223583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65405"/>
            <a:ext cx="6635750" cy="41332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46380" y="4198620"/>
            <a:ext cx="834263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https://python-course.eu/machine-learning/neural-networks-structure-weights-and-matrices.php </a:t>
            </a:r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03835" y="434340"/>
            <a:ext cx="8749665" cy="399034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65"/>
          <p:cNvSpPr txBox="1"/>
          <p:nvPr>
            <p:ph type="title"/>
          </p:nvPr>
        </p:nvSpPr>
        <p:spPr>
          <a:xfrm>
            <a:off x="471725" y="2113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9120" b="1">
                <a:solidFill>
                  <a:schemeClr val="lt2"/>
                </a:solidFill>
              </a:rPr>
              <a:t>Thank You!</a:t>
            </a:r>
            <a:endParaRPr sz="9120" b="1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388620" y="350520"/>
            <a:ext cx="6609715" cy="9531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https://github.com/Devinterview-io/numpy-interview-questions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https://www.interviewbit.com/numpy-interview-questions/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https://www.datacamp.com/blog/numpy-interview-questions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24043</Words>
  <Application>WPS Presentation</Application>
  <PresentationFormat/>
  <Paragraphs>850</Paragraphs>
  <Slides>70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70</vt:i4>
      </vt:variant>
    </vt:vector>
  </HeadingPairs>
  <TitlesOfParts>
    <vt:vector size="82" baseType="lpstr">
      <vt:lpstr>Arial</vt:lpstr>
      <vt:lpstr>SimSun</vt:lpstr>
      <vt:lpstr>Wingdings</vt:lpstr>
      <vt:lpstr>Arial</vt:lpstr>
      <vt:lpstr>Roboto Mono</vt:lpstr>
      <vt:lpstr>Segoe Print</vt:lpstr>
      <vt:lpstr>Verdana</vt:lpstr>
      <vt:lpstr>Courier New</vt:lpstr>
      <vt:lpstr>Microsoft YaHei</vt:lpstr>
      <vt:lpstr>Arial Unicode MS</vt:lpstr>
      <vt:lpstr>Google Sans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Introduction:--</vt:lpstr>
      <vt:lpstr>PowerPoint 演示文稿</vt:lpstr>
      <vt:lpstr>NumPy Introduction</vt:lpstr>
      <vt:lpstr>Why Use NumPy?</vt:lpstr>
      <vt:lpstr>Checking NumPy Version</vt:lpstr>
      <vt:lpstr>Create a NumPy ndarray Object</vt:lpstr>
      <vt:lpstr>Dimensions in Arrays</vt:lpstr>
      <vt:lpstr>1-D Arrays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NumPy Array Indexing</vt:lpstr>
      <vt:lpstr>Access 2-D Arrays</vt:lpstr>
      <vt:lpstr>Access 3-D Arrays</vt:lpstr>
      <vt:lpstr>Example Explained</vt:lpstr>
      <vt:lpstr>PowerPoint 演示文稿</vt:lpstr>
      <vt:lpstr>Negative Indexing</vt:lpstr>
      <vt:lpstr>NumPy Array Slicing</vt:lpstr>
      <vt:lpstr>Slicing 2-D Arrays</vt:lpstr>
      <vt:lpstr>Data Types in NumPy</vt:lpstr>
      <vt:lpstr>Creating Arrays With a Defined Data Type</vt:lpstr>
      <vt:lpstr>Converting Data Type on Existing Arrays</vt:lpstr>
      <vt:lpstr>PowerPoint 演示文稿</vt:lpstr>
      <vt:lpstr>NumPy Array Shape</vt:lpstr>
      <vt:lpstr>PowerPoint 演示文稿</vt:lpstr>
      <vt:lpstr>NumPy Array Reshaping</vt:lpstr>
      <vt:lpstr>Reshape From 1-D to 3-D</vt:lpstr>
      <vt:lpstr>Unknown Dimension</vt:lpstr>
      <vt:lpstr>Iterating Arrays</vt:lpstr>
      <vt:lpstr>Iterating 2-D Arrays</vt:lpstr>
      <vt:lpstr>Iterate on each scalar element of the 2-D array:</vt:lpstr>
      <vt:lpstr>Iterating 3-D Arrays</vt:lpstr>
      <vt:lpstr>PowerPoint 演示文稿</vt:lpstr>
      <vt:lpstr>Iterating Arrays Using nditer()</vt:lpstr>
      <vt:lpstr>Some other NumPy Arrays</vt:lpstr>
      <vt:lpstr>Array Operations</vt:lpstr>
      <vt:lpstr>Universal Functions (ufuncs)</vt:lpstr>
      <vt:lpstr>PowerPoint 演示文稿</vt:lpstr>
      <vt:lpstr>PowerPoint 演示文稿</vt:lpstr>
      <vt:lpstr>Broadcasting</vt:lpstr>
      <vt:lpstr>PowerPoint 演示文稿</vt:lpstr>
      <vt:lpstr>Array Manipulation</vt:lpstr>
      <vt:lpstr>Random Number Generation</vt:lpstr>
      <vt:lpstr>Linear Algebra with NumPy</vt:lpstr>
      <vt:lpstr>PowerPoint 演示文稿</vt:lpstr>
      <vt:lpstr>PowerPoint 演示文稿</vt:lpstr>
      <vt:lpstr>Additional Functions inMachine Learning</vt:lpstr>
      <vt:lpstr>Mathematical Operations</vt:lpstr>
      <vt:lpstr>Sorting and Searching</vt:lpstr>
      <vt:lpstr>PowerPoint 演示文稿</vt:lpstr>
      <vt:lpstr>Element-wise Comparisons</vt:lpstr>
      <vt:lpstr>PowerPoint 演示文稿</vt:lpstr>
      <vt:lpstr>Handling Missing Data</vt:lpstr>
      <vt:lpstr>Data Generation and Sampling</vt:lpstr>
      <vt:lpstr>Use Case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Thank You!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Gyanpriya Misra</cp:lastModifiedBy>
  <cp:revision>68</cp:revision>
  <dcterms:created xsi:type="dcterms:W3CDTF">2024-09-27T11:43:00Z</dcterms:created>
  <dcterms:modified xsi:type="dcterms:W3CDTF">2025-10-30T05:07:46Z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85DA3930B6B94777A172DEECC1807C57_12</vt:lpwstr>
  </property>
  <property fmtid="{D5CDD505-2E9C-101B-9397-08002B2CF9AE}" pid="3" name="KSOProductBuildVer">
    <vt:lpwstr>1033-12.2.0.23131</vt:lpwstr>
  </property>
</Properties>
</file>