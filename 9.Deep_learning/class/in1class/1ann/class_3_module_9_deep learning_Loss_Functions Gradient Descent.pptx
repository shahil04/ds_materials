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webp" ContentType="image/webp"/>
  <Override PartName="/ppt/media/image32.webp" ContentType="image/webp"/>
  <Override PartName="/ppt/media/image33.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368" r:id="rId3"/>
    <p:sldId id="281" r:id="rId4"/>
    <p:sldId id="403" r:id="rId5"/>
    <p:sldId id="317" r:id="rId6"/>
    <p:sldId id="401" r:id="rId7"/>
    <p:sldId id="402" r:id="rId8"/>
    <p:sldId id="394" r:id="rId9"/>
    <p:sldId id="393" r:id="rId11"/>
    <p:sldId id="405" r:id="rId12"/>
    <p:sldId id="406" r:id="rId13"/>
    <p:sldId id="407" r:id="rId14"/>
    <p:sldId id="404" r:id="rId15"/>
    <p:sldId id="408" r:id="rId16"/>
    <p:sldId id="409" r:id="rId17"/>
    <p:sldId id="410" r:id="rId18"/>
    <p:sldId id="412" r:id="rId19"/>
    <p:sldId id="413" r:id="rId20"/>
    <p:sldId id="411" r:id="rId21"/>
    <p:sldId id="414" r:id="rId22"/>
    <p:sldId id="415" r:id="rId23"/>
    <p:sldId id="416" r:id="rId24"/>
    <p:sldId id="418" r:id="rId25"/>
    <p:sldId id="419" r:id="rId26"/>
    <p:sldId id="420" r:id="rId27"/>
    <p:sldId id="421" r:id="rId28"/>
    <p:sldId id="425" r:id="rId29"/>
    <p:sldId id="369" r:id="rId30"/>
    <p:sldId id="362" r:id="rId31"/>
    <p:sldId id="396" r:id="rId32"/>
    <p:sldId id="395" r:id="rId33"/>
    <p:sldId id="363" r:id="rId34"/>
    <p:sldId id="426" r:id="rId35"/>
    <p:sldId id="427" r:id="rId36"/>
    <p:sldId id="430" r:id="rId37"/>
    <p:sldId id="428" r:id="rId38"/>
    <p:sldId id="432" r:id="rId39"/>
    <p:sldId id="429" r:id="rId40"/>
    <p:sldId id="433" r:id="rId41"/>
    <p:sldId id="431" r:id="rId42"/>
    <p:sldId id="364" r:id="rId43"/>
    <p:sldId id="365" r:id="rId44"/>
    <p:sldId id="434" r:id="rId45"/>
    <p:sldId id="435" r:id="rId46"/>
    <p:sldId id="392" r:id="rId47"/>
    <p:sldId id="398" r:id="rId48"/>
    <p:sldId id="397" r:id="rId49"/>
    <p:sldId id="436" r:id="rId50"/>
    <p:sldId id="440" r:id="rId51"/>
    <p:sldId id="442" r:id="rId52"/>
    <p:sldId id="439" r:id="rId53"/>
    <p:sldId id="441" r:id="rId54"/>
    <p:sldId id="399" r:id="rId55"/>
    <p:sldId id="437" r:id="rId56"/>
    <p:sldId id="400" r:id="rId57"/>
    <p:sldId id="43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www.geeksforgeeks.org/loss-functions-in-deep-learning/#how-to-choose-the-right-loss-function" TargetMode="Externa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4.web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hyperlink" Target="https://www.youtube.com/watch?v=uVyeEuqCmF4"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image" Target="../media/image2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webp"/><Relationship Id="rId1" Type="http://schemas.openxmlformats.org/officeDocument/2006/relationships/image" Target="../media/image32.webp"/></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81430" y="931545"/>
            <a:ext cx="8239125" cy="2912745"/>
          </a:xfrm>
          <a:prstGeom prst="rect">
            <a:avLst/>
          </a:prstGeom>
          <a:noFill/>
        </p:spPr>
        <p:txBody>
          <a:bodyPr wrap="square" rtlCol="0" anchor="t">
            <a:spAutoFit/>
          </a:bodyPr>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Loss Functions &amp;</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Gradient Descent</a:t>
            </a:r>
            <a:endPar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Optimizers </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0680" y="459105"/>
            <a:ext cx="8078470" cy="1076325"/>
          </a:xfrm>
          <a:prstGeom prst="rect">
            <a:avLst/>
          </a:prstGeom>
          <a:noFill/>
        </p:spPr>
        <p:txBody>
          <a:bodyPr wrap="square" rtlCol="0">
            <a:spAutoFit/>
          </a:bodyPr>
          <a:p>
            <a:r>
              <a:rPr lang="en-US" altLang="en-US" sz="2800" b="1">
                <a:solidFill>
                  <a:srgbClr val="FF0000"/>
                </a:solidFill>
                <a:effectLst>
                  <a:outerShdw blurRad="38100" dist="38100" dir="2700000" algn="tl">
                    <a:srgbClr val="000000">
                      <a:alpha val="43137"/>
                    </a:srgbClr>
                  </a:outerShdw>
                </a:effectLst>
              </a:rPr>
              <a:t>Working of Neural Networks</a:t>
            </a:r>
            <a:endParaRPr lang="en-US" altLang="en-US" sz="2800" b="1">
              <a:solidFill>
                <a:srgbClr val="FF0000"/>
              </a:solidFill>
              <a:effectLst>
                <a:outerShdw blurRad="38100" dist="38100" dir="2700000" algn="tl">
                  <a:srgbClr val="000000">
                    <a:alpha val="43137"/>
                  </a:srgbClr>
                </a:outerShdw>
              </a:effectLst>
            </a:endParaRPr>
          </a:p>
          <a:p>
            <a:pPr marL="342900" indent="-342900">
              <a:buAutoNum type="arabicPeriod"/>
            </a:pPr>
            <a:endParaRPr lang="en-US"/>
          </a:p>
          <a:p>
            <a:pPr marL="342900" indent="-342900">
              <a:buAutoNum type="arabicPeriod"/>
            </a:pPr>
            <a:endParaRPr lang="en-US" altLang="en-US"/>
          </a:p>
        </p:txBody>
      </p:sp>
      <p:sp>
        <p:nvSpPr>
          <p:cNvPr id="12" name="Text Box 11"/>
          <p:cNvSpPr txBox="1"/>
          <p:nvPr/>
        </p:nvSpPr>
        <p:spPr>
          <a:xfrm>
            <a:off x="3048000" y="3244850"/>
            <a:ext cx="6096000" cy="645160"/>
          </a:xfrm>
          <a:prstGeom prst="rect">
            <a:avLst/>
          </a:prstGeom>
          <a:noFill/>
        </p:spPr>
        <p:txBody>
          <a:bodyPr wrap="square" rtlCol="0">
            <a:spAutoFit/>
          </a:bodyPr>
          <a:p>
            <a:endParaRPr lang="en-US"/>
          </a:p>
          <a:p>
            <a:endParaRPr lang="en-US"/>
          </a:p>
        </p:txBody>
      </p:sp>
      <p:pic>
        <p:nvPicPr>
          <p:cNvPr id="13" name="Picture 12" descr="1214s"/>
          <p:cNvPicPr>
            <a:picLocks noChangeAspect="1"/>
          </p:cNvPicPr>
          <p:nvPr/>
        </p:nvPicPr>
        <p:blipFill>
          <a:blip r:embed="rId1"/>
          <a:stretch>
            <a:fillRect/>
          </a:stretch>
        </p:blipFill>
        <p:spPr>
          <a:xfrm>
            <a:off x="1833880" y="1535430"/>
            <a:ext cx="6354445" cy="3198495"/>
          </a:xfrm>
          <a:prstGeom prst="rect">
            <a:avLst/>
          </a:prstGeom>
        </p:spPr>
      </p:pic>
      <p:sp>
        <p:nvSpPr>
          <p:cNvPr id="6" name="Text Box 5"/>
          <p:cNvSpPr txBox="1"/>
          <p:nvPr/>
        </p:nvSpPr>
        <p:spPr>
          <a:xfrm>
            <a:off x="4782185" y="6211570"/>
            <a:ext cx="6096000" cy="306705"/>
          </a:xfrm>
          <a:prstGeom prst="rect">
            <a:avLst/>
          </a:prstGeom>
          <a:noFill/>
        </p:spPr>
        <p:txBody>
          <a:bodyPr wrap="square" rtlCol="0" anchor="t">
            <a:spAutoFit/>
          </a:bodyPr>
          <a:p>
            <a:r>
              <a:rPr lang="en-US" altLang="en-US" sz="1400"/>
              <a:t>https://www.guru99.com/backpropogation-neural-network.html</a:t>
            </a:r>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tretch>
            <a:fillRect/>
          </a:stretch>
        </p:blipFill>
        <p:spPr>
          <a:xfrm>
            <a:off x="5236210" y="250825"/>
            <a:ext cx="6956425" cy="4227195"/>
          </a:xfrm>
          <a:prstGeom prst="rect">
            <a:avLst/>
          </a:prstGeom>
        </p:spPr>
      </p:pic>
      <p:sp>
        <p:nvSpPr>
          <p:cNvPr id="2" name="Text Box 1"/>
          <p:cNvSpPr txBox="1"/>
          <p:nvPr/>
        </p:nvSpPr>
        <p:spPr>
          <a:xfrm>
            <a:off x="294005" y="1918970"/>
            <a:ext cx="7740015" cy="3020060"/>
          </a:xfrm>
          <a:prstGeom prst="rect">
            <a:avLst/>
          </a:prstGeom>
        </p:spPr>
        <p:txBody>
          <a:bodyPr wrap="square">
            <a:spAutoFit/>
          </a:bodyPr>
          <a:p>
            <a:pPr marL="25400" indent="0" algn="l" fontAlgn="base">
              <a:spcBef>
                <a:spcPts val="200"/>
              </a:spcBef>
              <a:spcAft>
                <a:spcPts val="200"/>
              </a:spcAft>
            </a:pPr>
            <a:r>
              <a:rPr sz="3200" b="1" i="0">
                <a:solidFill>
                  <a:srgbClr val="273239"/>
                </a:solidFill>
                <a:latin typeface="Nunito"/>
                <a:ea typeface="Nunito"/>
              </a:rPr>
              <a:t>Table of Content</a:t>
            </a:r>
            <a:endParaRPr sz="3200" b="1" i="0">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What is a Loss Function?</a:t>
            </a:r>
            <a:endParaRPr sz="2800" b="0" i="0" u="sng">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How Loss Functions Work?</a:t>
            </a:r>
            <a:endParaRPr sz="2800" b="0" i="0" u="sng">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Types of Loss Functions</a:t>
            </a:r>
            <a:endParaRPr sz="2800" b="0" i="0" u="sng">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How to Choose the Right Loss Function?</a:t>
            </a:r>
            <a:endParaRPr sz="2800" b="0" i="0" u="sng">
              <a:solidFill>
                <a:srgbClr val="273239"/>
              </a:solidFill>
              <a:latin typeface="Nunito"/>
              <a:ea typeface="Nunito"/>
              <a:hlinkClick r:id="rId2"/>
            </a:endParaRPr>
          </a:p>
        </p:txBody>
      </p:sp>
      <p:sp>
        <p:nvSpPr>
          <p:cNvPr id="3" name="Text Box 2"/>
          <p:cNvSpPr txBox="1"/>
          <p:nvPr/>
        </p:nvSpPr>
        <p:spPr>
          <a:xfrm>
            <a:off x="294005" y="250825"/>
            <a:ext cx="6096000" cy="768350"/>
          </a:xfrm>
          <a:prstGeom prst="rect">
            <a:avLst/>
          </a:prstGeom>
          <a:noFill/>
        </p:spPr>
        <p:txBody>
          <a:bodyPr wrap="square" rtlCol="0" anchor="t">
            <a:spAutoFit/>
          </a:bodyPr>
          <a:p>
            <a:r>
              <a:rPr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rPr>
              <a:t> </a:t>
            </a:r>
            <a:r>
              <a:rPr lang="en-IN"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rPr>
              <a:t>L</a:t>
            </a:r>
            <a:r>
              <a:rPr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rPr>
              <a:t>oss function</a:t>
            </a:r>
            <a:endParaRPr lang="en-US"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l="4780" t="8459" r="7678" b="8056"/>
          <a:stretch>
            <a:fillRect/>
          </a:stretch>
        </p:blipFill>
        <p:spPr>
          <a:xfrm>
            <a:off x="1756410" y="742315"/>
            <a:ext cx="8384540" cy="45999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rcRect b="4915"/>
          <a:stretch>
            <a:fillRect/>
          </a:stretch>
        </p:blipFill>
        <p:spPr>
          <a:xfrm>
            <a:off x="219075" y="914400"/>
            <a:ext cx="6007100" cy="4481830"/>
          </a:xfrm>
          <a:prstGeom prst="rect">
            <a:avLst/>
          </a:prstGeom>
        </p:spPr>
      </p:pic>
      <p:pic>
        <p:nvPicPr>
          <p:cNvPr id="2" name="Picture 1"/>
          <p:cNvPicPr/>
          <p:nvPr/>
        </p:nvPicPr>
        <p:blipFill>
          <a:blip r:embed="rId2"/>
          <a:stretch>
            <a:fillRect/>
          </a:stretch>
        </p:blipFill>
        <p:spPr>
          <a:xfrm>
            <a:off x="6162675" y="768350"/>
            <a:ext cx="5789295" cy="44824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0205" y="753745"/>
            <a:ext cx="10934700" cy="4380865"/>
          </a:xfrm>
          <a:prstGeom prst="rect">
            <a:avLst/>
          </a:prstGeom>
        </p:spPr>
        <p:txBody>
          <a:bodyPr wrap="square">
            <a:noAutofit/>
          </a:bodyPr>
          <a:p>
            <a:pPr marL="0" indent="0">
              <a:spcBef>
                <a:spcPct val="0"/>
              </a:spcBef>
              <a:spcAft>
                <a:spcPts val="1000"/>
              </a:spcAft>
            </a:pPr>
            <a:r>
              <a:rPr sz="1600" b="0" i="0">
                <a:solidFill>
                  <a:srgbClr val="001D35"/>
                </a:solidFill>
                <a:latin typeface="Google Sans"/>
                <a:ea typeface="Google Sans"/>
              </a:rPr>
              <a:t>A loss function in machine learning is a mathematical function that measures how well a model's predictions match the actual results. It's also known as an error function. </a:t>
            </a:r>
            <a:endParaRPr sz="1600" b="0" i="0">
              <a:solidFill>
                <a:srgbClr val="001D35"/>
              </a:solidFill>
              <a:latin typeface="Google Sans"/>
              <a:ea typeface="Google Sans"/>
            </a:endParaRPr>
          </a:p>
          <a:p>
            <a:pPr marL="0" indent="0">
              <a:spcBef>
                <a:spcPct val="0"/>
              </a:spcBef>
              <a:spcAft>
                <a:spcPts val="1000"/>
              </a:spcAft>
            </a:pPr>
            <a:r>
              <a:rPr sz="1600">
                <a:sym typeface="+mn-ea"/>
              </a:rPr>
              <a:t>A loss function quantifies how well or poorly a model is performing by computing the error between the predicted and actual values.</a:t>
            </a:r>
            <a:endParaRPr sz="1600"/>
          </a:p>
          <a:p>
            <a:pPr>
              <a:buFont typeface="Arial" panose="020B0604020202020204"/>
              <a:buChar char="•"/>
            </a:pPr>
            <a:r>
              <a:rPr sz="1600">
                <a:solidFill>
                  <a:srgbClr val="FF0000"/>
                </a:solidFill>
                <a:sym typeface="+mn-ea"/>
              </a:rPr>
              <a:t>Goal</a:t>
            </a:r>
            <a:r>
              <a:rPr sz="1600">
                <a:sym typeface="+mn-ea"/>
              </a:rPr>
              <a:t>: Minimize this loss to improve model accuracy.</a:t>
            </a:r>
            <a:endParaRPr sz="1600"/>
          </a:p>
          <a:p>
            <a:pPr>
              <a:buFont typeface="Arial" panose="020B0604020202020204"/>
              <a:buChar char="•"/>
            </a:pPr>
            <a:r>
              <a:rPr sz="1600">
                <a:sym typeface="+mn-ea"/>
              </a:rPr>
              <a:t>Used in both traditional ML and neural networks (NNs).</a:t>
            </a:r>
            <a:endParaRPr sz="1600">
              <a:sym typeface="+mn-ea"/>
            </a:endParaRPr>
          </a:p>
          <a:p>
            <a:pPr>
              <a:buFont typeface="Arial" panose="020B0604020202020204"/>
              <a:buChar char="•"/>
            </a:pPr>
            <a:endParaRPr sz="1600" b="0" i="0">
              <a:solidFill>
                <a:srgbClr val="001D35"/>
              </a:solidFill>
              <a:latin typeface="Google Sans"/>
              <a:ea typeface="Google Sans"/>
            </a:endParaRPr>
          </a:p>
          <a:p>
            <a:pPr marL="0" indent="0">
              <a:spcBef>
                <a:spcPts val="1000"/>
              </a:spcBef>
              <a:spcAft>
                <a:spcPts val="500"/>
              </a:spcAft>
            </a:pPr>
            <a:r>
              <a:rPr sz="1600" b="1" i="0">
                <a:solidFill>
                  <a:srgbClr val="FF0000"/>
                </a:solidFill>
                <a:latin typeface="Google Sans"/>
                <a:ea typeface="Google Sans"/>
              </a:rPr>
              <a:t>Why is a loss function important?</a:t>
            </a:r>
            <a:endParaRPr sz="1600" b="1" i="0">
              <a:solidFill>
                <a:srgbClr val="FF0000"/>
              </a:solidFill>
              <a:latin typeface="Google Sans"/>
              <a:ea typeface="Google Sans"/>
            </a:endParaRPr>
          </a:p>
          <a:p>
            <a:pPr marL="457200" lvl="1" indent="0">
              <a:spcBef>
                <a:spcPct val="0"/>
              </a:spcBef>
              <a:spcAft>
                <a:spcPts val="400"/>
              </a:spcAft>
              <a:buFont typeface="Arial" panose="020B0604020202020204"/>
              <a:buChar char="•"/>
            </a:pPr>
            <a:r>
              <a:rPr sz="1600" b="0" i="0">
                <a:solidFill>
                  <a:srgbClr val="001D35"/>
                </a:solidFill>
                <a:latin typeface="Google Sans"/>
                <a:ea typeface="Google Sans"/>
              </a:rPr>
              <a:t>It helps determine how well an algorithm models a dataset </a:t>
            </a:r>
            <a:endParaRPr sz="1600" b="0" i="0">
              <a:solidFill>
                <a:srgbClr val="001D35"/>
              </a:solidFill>
              <a:latin typeface="Google Sans"/>
              <a:ea typeface="Google Sans"/>
            </a:endParaRPr>
          </a:p>
          <a:p>
            <a:pPr marL="457200" lvl="1" indent="0">
              <a:spcBef>
                <a:spcPct val="0"/>
              </a:spcBef>
              <a:spcAft>
                <a:spcPts val="400"/>
              </a:spcAft>
              <a:buFont typeface="Arial" panose="020B0604020202020204"/>
              <a:buChar char="•"/>
            </a:pPr>
            <a:r>
              <a:rPr sz="1600" b="0" i="0">
                <a:solidFill>
                  <a:srgbClr val="001D35"/>
                </a:solidFill>
                <a:latin typeface="Google Sans"/>
                <a:ea typeface="Google Sans"/>
              </a:rPr>
              <a:t>It helps guide the learning process and improve a model's predictions </a:t>
            </a:r>
            <a:endParaRPr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sz="1600" b="0" i="0">
                <a:solidFill>
                  <a:srgbClr val="001D35"/>
                </a:solidFill>
                <a:latin typeface="Google Sans"/>
                <a:ea typeface="Google Sans"/>
              </a:rPr>
              <a:t>It helps optimize a model's parameters, such as weights and biases </a:t>
            </a:r>
            <a:endParaRPr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lang="en-US" altLang="en-US" sz="1600" b="0" i="0">
                <a:solidFill>
                  <a:srgbClr val="001D35"/>
                </a:solidFill>
                <a:latin typeface="Google Sans"/>
                <a:ea typeface="Google Sans"/>
              </a:rPr>
              <a:t>Guide Model Training:</a:t>
            </a:r>
            <a:endParaRPr lang="en-US" altLang="en-US"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lang="en-US" altLang="en-US" sz="1600" b="0" i="0">
                <a:solidFill>
                  <a:srgbClr val="001D35"/>
                </a:solidFill>
                <a:latin typeface="Google Sans"/>
                <a:ea typeface="Google Sans"/>
              </a:rPr>
              <a:t>Measure Performance:</a:t>
            </a:r>
            <a:endParaRPr lang="en-US" altLang="en-US"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lang="en-US" altLang="en-US" sz="1600" b="0" i="0">
                <a:solidFill>
                  <a:srgbClr val="001D35"/>
                </a:solidFill>
                <a:latin typeface="Google Sans"/>
                <a:ea typeface="Google Sans"/>
              </a:rPr>
              <a:t>Influence Learning Dynamics:</a:t>
            </a:r>
            <a:endParaRPr lang="en-US" altLang="en-US" sz="1600" b="0" i="0">
              <a:solidFill>
                <a:srgbClr val="001D35"/>
              </a:solidFill>
              <a:latin typeface="Google Sans"/>
              <a:ea typeface="Google Sans"/>
            </a:endParaRPr>
          </a:p>
          <a:p>
            <a:pPr marL="457200" lvl="1" indent="0">
              <a:spcBef>
                <a:spcPct val="0"/>
              </a:spcBef>
              <a:spcAft>
                <a:spcPct val="0"/>
              </a:spcAft>
              <a:buFont typeface="Arial" panose="020B0604020202020204"/>
              <a:buChar char="•"/>
            </a:pPr>
            <a:endParaRPr lang="en-US" altLang="en-US" sz="1600" b="0" i="0">
              <a:solidFill>
                <a:srgbClr val="001D35"/>
              </a:solidFill>
              <a:latin typeface="Google Sans"/>
              <a:ea typeface="Google Sans"/>
            </a:endParaRPr>
          </a:p>
          <a:p>
            <a:pPr marL="0" indent="0">
              <a:spcBef>
                <a:spcPct val="0"/>
              </a:spcBef>
              <a:spcAft>
                <a:spcPct val="0"/>
              </a:spcAft>
              <a:buFont typeface="Arial" panose="020B0604020202020204"/>
              <a:buChar char="•"/>
            </a:pPr>
            <a:endParaRPr sz="1600" b="0" i="0">
              <a:solidFill>
                <a:srgbClr val="001D35"/>
              </a:solidFill>
              <a:latin typeface="Google Sans"/>
              <a:ea typeface="Google Sans"/>
            </a:endParaRPr>
          </a:p>
        </p:txBody>
      </p:sp>
      <p:sp>
        <p:nvSpPr>
          <p:cNvPr id="4" name="Text Box 3"/>
          <p:cNvSpPr txBox="1"/>
          <p:nvPr/>
        </p:nvSpPr>
        <p:spPr>
          <a:xfrm>
            <a:off x="370205" y="4723765"/>
            <a:ext cx="7331075" cy="1204595"/>
          </a:xfrm>
          <a:prstGeom prst="rect">
            <a:avLst/>
          </a:prstGeom>
        </p:spPr>
        <p:txBody>
          <a:bodyPr wrap="square">
            <a:spAutoFit/>
          </a:bodyPr>
          <a:p>
            <a:pPr marL="0" indent="0">
              <a:spcBef>
                <a:spcPts val="1000"/>
              </a:spcBef>
              <a:spcAft>
                <a:spcPts val="500"/>
              </a:spcAft>
            </a:pPr>
            <a:r>
              <a:rPr sz="1600" b="1" i="0">
                <a:solidFill>
                  <a:srgbClr val="FF0000"/>
                </a:solidFill>
                <a:latin typeface="Google Sans"/>
                <a:ea typeface="Google Sans"/>
              </a:rPr>
              <a:t>How does a loss function work?</a:t>
            </a:r>
            <a:endParaRPr sz="1600" b="1" i="0">
              <a:solidFill>
                <a:srgbClr val="FF0000"/>
              </a:solidFill>
              <a:latin typeface="Google Sans"/>
              <a:ea typeface="Google Sans"/>
            </a:endParaRPr>
          </a:p>
          <a:p>
            <a:pPr marL="0" indent="0" algn="just">
              <a:spcBef>
                <a:spcPts val="500"/>
              </a:spcBef>
              <a:spcAft>
                <a:spcPts val="1000"/>
              </a:spcAft>
            </a:pPr>
            <a:r>
              <a:rPr sz="1600" b="0" i="0">
                <a:solidFill>
                  <a:srgbClr val="001D35"/>
                </a:solidFill>
                <a:latin typeface="Google Sans"/>
                <a:ea typeface="Google Sans"/>
              </a:rPr>
              <a:t>A loss function takes the predicted output and the actual output as input and generates a scalar value that quantifies the difference between the two outputs. </a:t>
            </a:r>
            <a:endParaRPr sz="1600" b="0" i="0">
              <a:solidFill>
                <a:srgbClr val="001D35"/>
              </a:solidFill>
              <a:latin typeface="Google Sans"/>
              <a:ea typeface="Google Sans"/>
            </a:endParaRPr>
          </a:p>
        </p:txBody>
      </p:sp>
      <p:sp>
        <p:nvSpPr>
          <p:cNvPr id="3" name="Text Box 2"/>
          <p:cNvSpPr txBox="1"/>
          <p:nvPr/>
        </p:nvSpPr>
        <p:spPr>
          <a:xfrm>
            <a:off x="370205" y="170180"/>
            <a:ext cx="6096000" cy="583565"/>
          </a:xfrm>
          <a:prstGeom prst="rect">
            <a:avLst/>
          </a:prstGeom>
          <a:noFill/>
        </p:spPr>
        <p:txBody>
          <a:bodyPr wrap="square" rtlCol="0" anchor="t">
            <a:spAutoFit/>
          </a:bodyPr>
          <a:p>
            <a:r>
              <a:rPr sz="3200" b="1">
                <a:solidFill>
                  <a:srgbClr val="FF0000"/>
                </a:solidFill>
                <a:latin typeface="Arial Black" panose="020B0A04020102020204" charset="0"/>
                <a:ea typeface="Google Sans"/>
                <a:cs typeface="Arial Black" panose="020B0A04020102020204" charset="0"/>
                <a:sym typeface="+mn-ea"/>
              </a:rPr>
              <a:t>loss function</a:t>
            </a:r>
            <a:endParaRPr lang="en-US" sz="3200" b="1">
              <a:solidFill>
                <a:srgbClr val="FF0000"/>
              </a:solidFill>
              <a:latin typeface="Arial Black" panose="020B0A04020102020204" charset="0"/>
              <a:ea typeface="Google Sans"/>
              <a:cs typeface="Arial Black" panose="020B0A04020102020204" charset="0"/>
              <a:sym typeface="+mn-ea"/>
            </a:endParaRPr>
          </a:p>
        </p:txBody>
      </p:sp>
      <p:sp>
        <p:nvSpPr>
          <p:cNvPr id="5" name="Text Box 4"/>
          <p:cNvSpPr txBox="1"/>
          <p:nvPr/>
        </p:nvSpPr>
        <p:spPr>
          <a:xfrm>
            <a:off x="1758950" y="6174105"/>
            <a:ext cx="6297295" cy="368300"/>
          </a:xfrm>
          <a:prstGeom prst="rect">
            <a:avLst/>
          </a:prstGeom>
          <a:noFill/>
        </p:spPr>
        <p:txBody>
          <a:bodyPr wrap="square" rtlCol="0" anchor="t">
            <a:spAutoFit/>
          </a:bodyPr>
          <a:p>
            <a:r>
              <a:rPr lang="en-US" altLang="en-US"/>
              <a:t>https://www.geeksforgeeks.org/loss-functions-in-deep-learning/</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90170" y="284480"/>
            <a:ext cx="6104890" cy="4755515"/>
          </a:xfrm>
          <a:prstGeom prst="rect">
            <a:avLst/>
          </a:prstGeom>
          <a:noFill/>
        </p:spPr>
        <p:txBody>
          <a:bodyPr wrap="square" rtlCol="0" anchor="t">
            <a:spAutoFit/>
          </a:bodyPr>
          <a:p>
            <a:pPr>
              <a:spcAft>
                <a:spcPct val="60000"/>
              </a:spcAft>
            </a:pPr>
            <a:r>
              <a:rPr sz="2800" b="1">
                <a:sym typeface="+mn-ea"/>
              </a:rPr>
              <a:t>2. </a:t>
            </a:r>
            <a:r>
              <a:rPr lang="en-IN" sz="2800" b="1">
                <a:sym typeface="+mn-ea"/>
              </a:rPr>
              <a:t>Types of </a:t>
            </a:r>
            <a:r>
              <a:rPr sz="2800" b="1">
                <a:sym typeface="+mn-ea"/>
              </a:rPr>
              <a:t>Loss Functions </a:t>
            </a:r>
            <a:endParaRPr sz="2800" b="1">
              <a:sym typeface="+mn-ea"/>
            </a:endParaRPr>
          </a:p>
          <a:p>
            <a:pPr>
              <a:spcAft>
                <a:spcPct val="60000"/>
              </a:spcAft>
            </a:pPr>
            <a:r>
              <a:rPr sz="2000">
                <a:sym typeface="+mn-ea"/>
              </a:rPr>
              <a:t>In classical ML models (e.g., Linear Regression, Logistic Regression, SVM, Decision Trees), the loss function is typically:</a:t>
            </a:r>
            <a:endParaRPr sz="2000"/>
          </a:p>
          <a:p>
            <a:r>
              <a:rPr sz="2000" b="1">
                <a:sym typeface="+mn-ea"/>
              </a:rPr>
              <a:t>✅</a:t>
            </a:r>
            <a:r>
              <a:rPr sz="2000" b="1">
                <a:solidFill>
                  <a:srgbClr val="FF0000"/>
                </a:solidFill>
                <a:sym typeface="+mn-ea"/>
              </a:rPr>
              <a:t> For Regression:</a:t>
            </a:r>
            <a:endParaRPr sz="2000" b="1"/>
          </a:p>
          <a:p>
            <a:pPr lvl="1">
              <a:buFont typeface="Arial" panose="020B0604020202020204"/>
              <a:buChar char="•"/>
            </a:pPr>
            <a:r>
              <a:rPr sz="2000" b="1">
                <a:sym typeface="+mn-ea"/>
              </a:rPr>
              <a:t>Mean Squared Error (MSE)</a:t>
            </a:r>
            <a:r>
              <a:rPr sz="2000">
                <a:sym typeface="+mn-ea"/>
              </a:rPr>
              <a:t>:</a:t>
            </a:r>
            <a:endParaRPr sz="2000"/>
          </a:p>
          <a:p>
            <a:pPr lvl="1">
              <a:buFont typeface="Arial" panose="020B0604020202020204"/>
              <a:buChar char="•"/>
            </a:pPr>
            <a:r>
              <a:rPr sz="2000" b="1">
                <a:sym typeface="+mn-ea"/>
              </a:rPr>
              <a:t>Mean Absolute Error (MAE)</a:t>
            </a:r>
            <a:endParaRPr sz="2000" b="1"/>
          </a:p>
          <a:p>
            <a:pPr lvl="1">
              <a:buFont typeface="Arial" panose="020B0604020202020204"/>
              <a:buChar char="•"/>
            </a:pPr>
            <a:r>
              <a:rPr sz="2000" b="1">
                <a:sym typeface="+mn-ea"/>
              </a:rPr>
              <a:t>Huber Loss (Robust to outliers)</a:t>
            </a:r>
            <a:endParaRPr sz="2000" b="1">
              <a:sym typeface="+mn-ea"/>
            </a:endParaRPr>
          </a:p>
          <a:p>
            <a:pPr lvl="1" indent="0">
              <a:buFont typeface="Arial" panose="020B0604020202020204"/>
              <a:buNone/>
            </a:pPr>
            <a:endParaRPr sz="2000"/>
          </a:p>
          <a:p>
            <a:r>
              <a:rPr sz="2000" b="1">
                <a:solidFill>
                  <a:srgbClr val="FF0000"/>
                </a:solidFill>
                <a:sym typeface="+mn-ea"/>
              </a:rPr>
              <a:t>✅ For Classification:</a:t>
            </a:r>
            <a:endParaRPr sz="2000" b="1">
              <a:solidFill>
                <a:srgbClr val="FF0000"/>
              </a:solidFill>
            </a:endParaRPr>
          </a:p>
          <a:p>
            <a:pPr lvl="1">
              <a:buFont typeface="Arial" panose="020B0604020202020204"/>
              <a:buChar char="•"/>
            </a:pPr>
            <a:r>
              <a:rPr sz="2000" b="1">
                <a:sym typeface="+mn-ea"/>
              </a:rPr>
              <a:t>Log Los</a:t>
            </a:r>
            <a:r>
              <a:rPr sz="2000">
                <a:sym typeface="+mn-ea"/>
              </a:rPr>
              <a:t>s (Binary Cross-Entropy) → Used in Logistic Regression</a:t>
            </a:r>
            <a:endParaRPr sz="2000"/>
          </a:p>
          <a:p>
            <a:pPr lvl="1">
              <a:buFont typeface="Arial" panose="020B0604020202020204"/>
              <a:buChar char="•"/>
            </a:pPr>
            <a:r>
              <a:rPr sz="2000" b="1">
                <a:sym typeface="+mn-ea"/>
              </a:rPr>
              <a:t>Hinge Loss</a:t>
            </a:r>
            <a:r>
              <a:rPr sz="2000">
                <a:sym typeface="+mn-ea"/>
              </a:rPr>
              <a:t> → Used in SVMs</a:t>
            </a:r>
            <a:endParaRPr lang="en-US" sz="2000">
              <a:sym typeface="+mn-ea"/>
            </a:endParaRPr>
          </a:p>
        </p:txBody>
      </p:sp>
      <p:sp>
        <p:nvSpPr>
          <p:cNvPr id="4" name="Text Box 3"/>
          <p:cNvSpPr txBox="1"/>
          <p:nvPr/>
        </p:nvSpPr>
        <p:spPr>
          <a:xfrm>
            <a:off x="6096000" y="972820"/>
            <a:ext cx="6096000" cy="3724275"/>
          </a:xfrm>
          <a:prstGeom prst="rect">
            <a:avLst/>
          </a:prstGeom>
          <a:noFill/>
        </p:spPr>
        <p:txBody>
          <a:bodyPr wrap="square" rtlCol="0" anchor="t">
            <a:spAutoFit/>
          </a:bodyPr>
          <a:p>
            <a:pPr>
              <a:spcAft>
                <a:spcPct val="60000"/>
              </a:spcAft>
            </a:pPr>
            <a:r>
              <a:rPr sz="2200" b="1">
                <a:sym typeface="+mn-ea"/>
              </a:rPr>
              <a:t>3. Loss Functions in Neural Networks (Deep Learning)</a:t>
            </a:r>
            <a:endParaRPr sz="2200" b="1"/>
          </a:p>
          <a:p>
            <a:r>
              <a:rPr sz="1600">
                <a:sym typeface="+mn-ea"/>
              </a:rPr>
              <a:t>Neural networks also use loss functions but in a more complex setup because of multiple layers and non-linear activations.</a:t>
            </a:r>
            <a:endParaRPr sz="1600"/>
          </a:p>
          <a:p>
            <a:r>
              <a:rPr sz="1600">
                <a:sym typeface="+mn-ea"/>
              </a:rPr>
              <a:t>✅ </a:t>
            </a:r>
            <a:r>
              <a:rPr sz="1600" b="1">
                <a:solidFill>
                  <a:srgbClr val="FF0000"/>
                </a:solidFill>
                <a:effectLst>
                  <a:outerShdw blurRad="38100" dist="38100" dir="2700000" algn="tl">
                    <a:srgbClr val="000000">
                      <a:alpha val="43137"/>
                    </a:srgbClr>
                  </a:outerShdw>
                </a:effectLst>
                <a:sym typeface="+mn-ea"/>
              </a:rPr>
              <a:t>For Regression (NNs):</a:t>
            </a:r>
            <a:endParaRPr sz="1600" b="1">
              <a:solidFill>
                <a:srgbClr val="FF0000"/>
              </a:solidFill>
              <a:effectLst>
                <a:outerShdw blurRad="38100" dist="38100" dir="2700000" algn="tl">
                  <a:srgbClr val="000000">
                    <a:alpha val="43137"/>
                  </a:srgbClr>
                </a:outerShdw>
              </a:effectLst>
            </a:endParaRPr>
          </a:p>
          <a:p>
            <a:pPr lvl="1">
              <a:buFont typeface="Arial" panose="020B0604020202020204"/>
              <a:buChar char="•"/>
            </a:pPr>
            <a:r>
              <a:rPr sz="1600">
                <a:sym typeface="+mn-ea"/>
              </a:rPr>
              <a:t>Mean Squared Error (MSE)</a:t>
            </a:r>
            <a:endParaRPr sz="1600"/>
          </a:p>
          <a:p>
            <a:pPr lvl="1">
              <a:buFont typeface="Arial" panose="020B0604020202020204"/>
              <a:buChar char="•"/>
            </a:pPr>
            <a:r>
              <a:rPr sz="1600">
                <a:sym typeface="+mn-ea"/>
              </a:rPr>
              <a:t>Mean Absolute Error (MAE)</a:t>
            </a:r>
            <a:endParaRPr sz="1600"/>
          </a:p>
          <a:p>
            <a:r>
              <a:rPr sz="1600">
                <a:sym typeface="+mn-ea"/>
              </a:rPr>
              <a:t>✅</a:t>
            </a:r>
            <a:r>
              <a:rPr sz="1600" b="1">
                <a:solidFill>
                  <a:srgbClr val="FF0000"/>
                </a:solidFill>
                <a:effectLst>
                  <a:outerShdw blurRad="38100" dist="38100" dir="2700000" algn="tl">
                    <a:srgbClr val="000000">
                      <a:alpha val="43137"/>
                    </a:srgbClr>
                  </a:outerShdw>
                </a:effectLst>
                <a:sym typeface="+mn-ea"/>
              </a:rPr>
              <a:t> For Classification (NNs):</a:t>
            </a:r>
            <a:endParaRPr sz="1600"/>
          </a:p>
          <a:p>
            <a:pPr lvl="1">
              <a:buFont typeface="Arial" panose="020B0604020202020204"/>
              <a:buChar char="•"/>
            </a:pPr>
            <a:r>
              <a:rPr sz="1600" b="1">
                <a:effectLst/>
                <a:sym typeface="+mn-ea"/>
              </a:rPr>
              <a:t>Binary Cross-Entropy (for binary classification)</a:t>
            </a:r>
            <a:endParaRPr sz="1600" b="1">
              <a:effectLst/>
            </a:endParaRPr>
          </a:p>
          <a:p>
            <a:pPr lvl="1">
              <a:buFont typeface="Arial" panose="020B0604020202020204"/>
              <a:buChar char="•"/>
            </a:pPr>
            <a:r>
              <a:rPr sz="1600" b="1">
                <a:effectLst/>
                <a:sym typeface="+mn-ea"/>
              </a:rPr>
              <a:t>Categorical Cross-Entropy (for multi-class classification)</a:t>
            </a:r>
            <a:endParaRPr sz="1600" b="1">
              <a:effectLst/>
            </a:endParaRPr>
          </a:p>
          <a:p>
            <a:pPr lvl="1">
              <a:buFont typeface="Arial" panose="020B0604020202020204"/>
              <a:buChar char="•"/>
            </a:pPr>
            <a:r>
              <a:rPr sz="1600" b="1">
                <a:sym typeface="+mn-ea"/>
              </a:rPr>
              <a:t>Sparse Categorical Cross-Entropy (for one-hot encoded multi-class labels)</a:t>
            </a:r>
            <a:endParaRPr sz="1600" b="1"/>
          </a:p>
          <a:p>
            <a:endParaRPr lang="en-US" sz="1600" b="1">
              <a:sym typeface="+mn-ea"/>
            </a:endParaRPr>
          </a:p>
        </p:txBody>
      </p:sp>
      <p:sp>
        <p:nvSpPr>
          <p:cNvPr id="5" name="Text Box 4"/>
          <p:cNvSpPr txBox="1"/>
          <p:nvPr/>
        </p:nvSpPr>
        <p:spPr>
          <a:xfrm>
            <a:off x="510540" y="5370195"/>
            <a:ext cx="11322050" cy="583565"/>
          </a:xfrm>
          <a:prstGeom prst="rect">
            <a:avLst/>
          </a:prstGeom>
          <a:noFill/>
        </p:spPr>
        <p:txBody>
          <a:bodyPr wrap="square" rtlCol="0" anchor="t">
            <a:spAutoFit/>
          </a:bodyPr>
          <a:p>
            <a:r>
              <a:rPr sz="1600">
                <a:sym typeface="+mn-ea"/>
              </a:rPr>
              <a:t>🔹 Key Difference: In deep learning, loss functions work with backpropagation &amp; gradient descent, which is not always the case in traditional ML.</a:t>
            </a:r>
            <a:endParaRPr lang="en-US" sz="1600">
              <a:sym typeface="+mn-ea"/>
            </a:endParaRPr>
          </a:p>
        </p:txBody>
      </p:sp>
      <p:sp>
        <p:nvSpPr>
          <p:cNvPr id="7" name="Text Box 6"/>
          <p:cNvSpPr txBox="1"/>
          <p:nvPr/>
        </p:nvSpPr>
        <p:spPr>
          <a:xfrm>
            <a:off x="1709420" y="5039995"/>
            <a:ext cx="9299575" cy="368300"/>
          </a:xfrm>
          <a:prstGeom prst="rect">
            <a:avLst/>
          </a:prstGeom>
          <a:noFill/>
        </p:spPr>
        <p:txBody>
          <a:bodyPr wrap="square" rtlCol="0" anchor="t">
            <a:spAutoFit/>
          </a:bodyPr>
          <a:p>
            <a:r>
              <a:rPr lang="en-US" altLang="en-US"/>
              <a:t>https://www.geeksforgeeks.org/categorical-cross-entropy-in-multi-class-classification/</a:t>
            </a:r>
            <a:endParaRPr lang="en-US"/>
          </a:p>
        </p:txBody>
      </p:sp>
      <p:sp>
        <p:nvSpPr>
          <p:cNvPr id="8" name="Text Box 7"/>
          <p:cNvSpPr txBox="1"/>
          <p:nvPr/>
        </p:nvSpPr>
        <p:spPr>
          <a:xfrm>
            <a:off x="192405" y="5845810"/>
            <a:ext cx="11845290" cy="1198880"/>
          </a:xfrm>
          <a:prstGeom prst="rect">
            <a:avLst/>
          </a:prstGeom>
          <a:noFill/>
        </p:spPr>
        <p:txBody>
          <a:bodyPr wrap="square" rtlCol="0" anchor="t">
            <a:spAutoFit/>
          </a:bodyPr>
          <a:p>
            <a:pPr marL="285750" indent="-285750">
              <a:buFont typeface="Arial" panose="020B0604020202020204" pitchFamily="34" charset="0"/>
              <a:buChar char="•"/>
            </a:pPr>
            <a:r>
              <a:rPr lang="en-US" altLang="en-US"/>
              <a:t>https://medium.com/data-science/optimization-loss-function-under-the-hood-part-iii-5dff33fa015d</a:t>
            </a:r>
            <a:endParaRPr lang="en-US" altLang="en-US"/>
          </a:p>
          <a:p>
            <a:pPr marL="285750" indent="-285750">
              <a:buFont typeface="Arial" panose="020B0604020202020204" pitchFamily="34" charset="0"/>
              <a:buChar char="•"/>
            </a:pPr>
            <a:r>
              <a:rPr lang="en-US" altLang="en-US">
                <a:sym typeface="+mn-ea"/>
              </a:rPr>
              <a:t>https://medium.com/@devcharlie2698619/understanding-huber-loss-function-insights-from-applications-5c1c5145d2c4</a:t>
            </a:r>
            <a:endParaRPr lang="en-US" altLang="en-US"/>
          </a:p>
          <a:p>
            <a:pPr marL="285750" indent="-285750">
              <a:buFont typeface="Arial" panose="020B0604020202020204" pitchFamily="34" charset="0"/>
              <a:buChar char="•"/>
            </a:pPr>
            <a:r>
              <a:rPr lang="en-US" altLang="en-US">
                <a:sym typeface="+mn-ea"/>
              </a:rPr>
              <a:t>https://www.geeksforgeeks.org/hinge-loss-relationship-with-support-vector-machines/</a:t>
            </a:r>
            <a:endParaRPr lang="en-US"/>
          </a:p>
          <a:p>
            <a:pPr marL="285750" indent="-285750">
              <a:buFont typeface="Arial" panose="020B0604020202020204" pitchFamily="34" charset="0"/>
              <a:buChar char="•"/>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19735" y="132080"/>
            <a:ext cx="11111230" cy="429895"/>
          </a:xfrm>
          <a:prstGeom prst="rect">
            <a:avLst/>
          </a:prstGeom>
        </p:spPr>
        <p:txBody>
          <a:bodyPr wrap="square">
            <a:spAutoFit/>
          </a:bodyPr>
          <a:p>
            <a:pPr>
              <a:spcAft>
                <a:spcPct val="60000"/>
              </a:spcAft>
            </a:pPr>
            <a:r>
              <a:rPr sz="2200" b="1"/>
              <a:t>4. Are They the Same or Different?</a:t>
            </a:r>
            <a:endParaRPr sz="2200" b="1"/>
          </a:p>
        </p:txBody>
      </p:sp>
      <p:graphicFrame>
        <p:nvGraphicFramePr>
          <p:cNvPr id="3" name="Table 2"/>
          <p:cNvGraphicFramePr/>
          <p:nvPr>
            <p:custDataLst>
              <p:tags r:id="rId1"/>
            </p:custDataLst>
          </p:nvPr>
        </p:nvGraphicFramePr>
        <p:xfrm>
          <a:off x="565785" y="831215"/>
          <a:ext cx="11060430" cy="2024380"/>
        </p:xfrm>
        <a:graphic>
          <a:graphicData uri="http://schemas.openxmlformats.org/drawingml/2006/table">
            <a:tbl>
              <a:tblPr>
                <a:tableStyleId>{616DA210-FB5B-4158-B5E0-FEB733F419BA}</a:tableStyleId>
              </a:tblPr>
              <a:tblGrid>
                <a:gridCol w="3686810"/>
                <a:gridCol w="3686810"/>
                <a:gridCol w="3686810"/>
              </a:tblGrid>
              <a:tr h="253365">
                <a:tc>
                  <a:txBody>
                    <a:bodyPr/>
                    <a:p>
                      <a:r>
                        <a:rPr sz="1600"/>
                        <a:t>Feature</a:t>
                      </a:r>
                      <a:endParaRPr sz="1600"/>
                    </a:p>
                  </a:txBody>
                  <a:tcPr marL="0" marR="0" marT="0" marB="0" anchor="ctr" anchorCtr="0"/>
                </a:tc>
                <a:tc>
                  <a:txBody>
                    <a:bodyPr/>
                    <a:p>
                      <a:r>
                        <a:rPr sz="1600"/>
                        <a:t>Traditional ML Loss Function</a:t>
                      </a:r>
                      <a:endParaRPr sz="1600"/>
                    </a:p>
                  </a:txBody>
                  <a:tcPr marL="0" marR="0" marT="0" marB="0" anchor="ctr" anchorCtr="0"/>
                </a:tc>
                <a:tc>
                  <a:txBody>
                    <a:bodyPr/>
                    <a:p>
                      <a:r>
                        <a:rPr sz="1600"/>
                        <a:t>Neural Network Loss Function</a:t>
                      </a:r>
                      <a:endParaRPr sz="1600"/>
                    </a:p>
                  </a:txBody>
                  <a:tcPr marL="0" marR="0" marT="0" marB="0" anchor="ctr" anchorCtr="0"/>
                </a:tc>
              </a:tr>
              <a:tr h="506095">
                <a:tc>
                  <a:txBody>
                    <a:bodyPr/>
                    <a:p>
                      <a:r>
                        <a:rPr sz="1600"/>
                        <a:t>Purpose</a:t>
                      </a:r>
                      <a:endParaRPr sz="1600"/>
                    </a:p>
                  </a:txBody>
                  <a:tcPr marL="0" marR="0" marT="0" marB="0" anchor="ctr" anchorCtr="0"/>
                </a:tc>
                <a:tc>
                  <a:txBody>
                    <a:bodyPr/>
                    <a:p>
                      <a:r>
                        <a:rPr sz="1600"/>
                        <a:t>Measures prediction error</a:t>
                      </a:r>
                      <a:endParaRPr sz="1600"/>
                    </a:p>
                  </a:txBody>
                  <a:tcPr marL="0" marR="0" marT="0" marB="0" anchor="ctr" anchorCtr="0"/>
                </a:tc>
                <a:tc>
                  <a:txBody>
                    <a:bodyPr/>
                    <a:p>
                      <a:r>
                        <a:rPr sz="1600"/>
                        <a:t>Measures error but used in backpropagation</a:t>
                      </a:r>
                      <a:endParaRPr sz="1600"/>
                    </a:p>
                  </a:txBody>
                  <a:tcPr marL="0" marR="0" marT="0" marB="0" anchor="ctr" anchorCtr="0"/>
                </a:tc>
              </a:tr>
              <a:tr h="506095">
                <a:tc>
                  <a:txBody>
                    <a:bodyPr/>
                    <a:p>
                      <a:r>
                        <a:rPr sz="1600"/>
                        <a:t>Usage</a:t>
                      </a:r>
                      <a:endParaRPr sz="1600"/>
                    </a:p>
                  </a:txBody>
                  <a:tcPr marL="0" marR="0" marT="0" marB="0" anchor="ctr" anchorCtr="0"/>
                </a:tc>
                <a:tc>
                  <a:txBody>
                    <a:bodyPr/>
                    <a:p>
                      <a:r>
                        <a:rPr sz="1600"/>
                        <a:t>Used in simple models (e.g., Linear Regression, SVM)</a:t>
                      </a:r>
                      <a:endParaRPr sz="1600"/>
                    </a:p>
                  </a:txBody>
                  <a:tcPr marL="0" marR="0" marT="0" marB="0" anchor="ctr" anchorCtr="0"/>
                </a:tc>
                <a:tc>
                  <a:txBody>
                    <a:bodyPr/>
                    <a:p>
                      <a:r>
                        <a:rPr sz="1600"/>
                        <a:t>Used in deep learning models (e.g., CNN, RNN)</a:t>
                      </a:r>
                      <a:endParaRPr sz="1600"/>
                    </a:p>
                  </a:txBody>
                  <a:tcPr marL="0" marR="0" marT="0" marB="0" anchor="ctr" anchorCtr="0"/>
                </a:tc>
              </a:tr>
              <a:tr h="506095">
                <a:tc>
                  <a:txBody>
                    <a:bodyPr/>
                    <a:p>
                      <a:r>
                        <a:rPr sz="1600"/>
                        <a:t>Computation</a:t>
                      </a:r>
                      <a:endParaRPr sz="1600"/>
                    </a:p>
                  </a:txBody>
                  <a:tcPr marL="0" marR="0" marT="0" marB="0" anchor="ctr" anchorCtr="0"/>
                </a:tc>
                <a:tc>
                  <a:txBody>
                    <a:bodyPr/>
                    <a:p>
                      <a:r>
                        <a:rPr sz="1600"/>
                        <a:t>Directly optimized</a:t>
                      </a:r>
                      <a:endParaRPr sz="1600"/>
                    </a:p>
                  </a:txBody>
                  <a:tcPr marL="0" marR="0" marT="0" marB="0" anchor="ctr" anchorCtr="0"/>
                </a:tc>
                <a:tc>
                  <a:txBody>
                    <a:bodyPr/>
                    <a:p>
                      <a:r>
                        <a:rPr sz="1600"/>
                        <a:t>Combined with gradients &amp; activation functions</a:t>
                      </a:r>
                      <a:endParaRPr sz="1600"/>
                    </a:p>
                  </a:txBody>
                  <a:tcPr marL="0" marR="0" marT="0" marB="0" anchor="ctr" anchorCtr="0"/>
                </a:tc>
              </a:tr>
              <a:tr h="252730">
                <a:tc>
                  <a:txBody>
                    <a:bodyPr/>
                    <a:p>
                      <a:r>
                        <a:rPr sz="1600"/>
                        <a:t>Examples</a:t>
                      </a:r>
                      <a:endParaRPr sz="1600"/>
                    </a:p>
                  </a:txBody>
                  <a:tcPr marL="0" marR="0" marT="0" marB="0" anchor="ctr" anchorCtr="0"/>
                </a:tc>
                <a:tc>
                  <a:txBody>
                    <a:bodyPr/>
                    <a:p>
                      <a:r>
                        <a:rPr sz="1600"/>
                        <a:t>MSE, Log Loss, Hinge Loss</a:t>
                      </a:r>
                      <a:endParaRPr sz="1600"/>
                    </a:p>
                  </a:txBody>
                  <a:tcPr marL="0" marR="0" marT="0" marB="0" anchor="ctr" anchorCtr="0"/>
                </a:tc>
                <a:tc>
                  <a:txBody>
                    <a:bodyPr/>
                    <a:p>
                      <a:r>
                        <a:rPr sz="1600"/>
                        <a:t>MSE, Cross-Entropy, Huber, KL Divergence</a:t>
                      </a:r>
                      <a:endParaRPr sz="1600"/>
                    </a:p>
                  </a:txBody>
                  <a:tcPr marL="0" marR="0" marT="0" marB="0" anchor="ctr" anchorCtr="0"/>
                </a:tc>
              </a:tr>
            </a:tbl>
          </a:graphicData>
        </a:graphic>
      </p:graphicFrame>
      <p:sp>
        <p:nvSpPr>
          <p:cNvPr id="4" name="Text Box 3"/>
          <p:cNvSpPr txBox="1"/>
          <p:nvPr/>
        </p:nvSpPr>
        <p:spPr>
          <a:xfrm>
            <a:off x="294005" y="6022975"/>
            <a:ext cx="9658350" cy="712470"/>
          </a:xfrm>
          <a:prstGeom prst="rect">
            <a:avLst/>
          </a:prstGeom>
        </p:spPr>
        <p:txBody>
          <a:bodyPr wrap="square">
            <a:noAutofit/>
          </a:bodyPr>
          <a:p>
            <a:r>
              <a:rPr sz="1600"/>
              <a:t>✅ Conclusion: They are conceptually the same (both measure error), but NN loss functions are often more complex and integrated with gradient-based optimization.</a:t>
            </a:r>
            <a:endParaRPr sz="1600"/>
          </a:p>
          <a:p>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5239385" cy="6532245"/>
          </a:xfrm>
          <a:prstGeom prst="rect">
            <a:avLst/>
          </a:prstGeom>
          <a:noFill/>
        </p:spPr>
        <p:txBody>
          <a:bodyPr wrap="square" rtlCol="0" anchor="t">
            <a:noAutofit/>
          </a:bodyPr>
          <a:p>
            <a:pPr>
              <a:spcAft>
                <a:spcPct val="60000"/>
              </a:spcAft>
            </a:pPr>
            <a:r>
              <a:rPr sz="2300" b="1">
                <a:sym typeface="+mn-ea"/>
              </a:rPr>
              <a:t>1.1</a:t>
            </a:r>
            <a:r>
              <a:rPr sz="2300" b="1">
                <a:solidFill>
                  <a:srgbClr val="FF0000"/>
                </a:solidFill>
                <a:effectLst>
                  <a:outerShdw blurRad="38100" dist="38100" dir="2700000" algn="tl">
                    <a:srgbClr val="000000">
                      <a:alpha val="43137"/>
                    </a:srgbClr>
                  </a:outerShdw>
                </a:effectLst>
                <a:sym typeface="+mn-ea"/>
              </a:rPr>
              <a:t> Mean Squared Error (MSE)</a:t>
            </a:r>
            <a:endParaRPr sz="2300" b="1"/>
          </a:p>
          <a:p>
            <a:r>
              <a:rPr sz="1600">
                <a:sym typeface="+mn-ea"/>
              </a:rPr>
              <a:t>MSE measures the average squared difference between the actual and predicted values. It punishes large errors more than small ones.</a:t>
            </a:r>
            <a:endParaRPr sz="1600"/>
          </a:p>
          <a:p>
            <a:pPr>
              <a:spcAft>
                <a:spcPct val="60000"/>
              </a:spcAft>
            </a:pPr>
            <a:r>
              <a:rPr sz="2200" b="1">
                <a:sym typeface="+mn-ea"/>
              </a:rPr>
              <a:t>📝 Explanation:</a:t>
            </a:r>
            <a:endParaRPr sz="2200" b="1"/>
          </a:p>
          <a:p>
            <a:pPr>
              <a:buFont typeface="Arial" panose="020B0604020202020204"/>
              <a:buChar char="•"/>
            </a:pPr>
            <a:r>
              <a:rPr sz="1600">
                <a:sym typeface="+mn-ea"/>
              </a:rPr>
              <a:t>MSE squares the error to ensure positive values and amplify large errors.</a:t>
            </a:r>
            <a:endParaRPr sz="1600"/>
          </a:p>
          <a:p>
            <a:pPr>
              <a:buFont typeface="Arial" panose="020B0604020202020204"/>
              <a:buChar char="•"/>
            </a:pPr>
            <a:r>
              <a:rPr sz="1600">
                <a:sym typeface="+mn-ea"/>
              </a:rPr>
              <a:t>It helps models learn smooth predictions but is sensitive to outliers (since large errors get squared).</a:t>
            </a:r>
            <a:endParaRPr sz="1600"/>
          </a:p>
          <a:p>
            <a:pPr>
              <a:spcAft>
                <a:spcPct val="60000"/>
              </a:spcAft>
            </a:pPr>
            <a:r>
              <a:rPr sz="2200" b="1">
                <a:sym typeface="+mn-ea"/>
              </a:rPr>
              <a:t>💡 Use Cases:</a:t>
            </a:r>
            <a:endParaRPr sz="2200" b="1"/>
          </a:p>
          <a:p>
            <a:r>
              <a:rPr sz="1600">
                <a:sym typeface="+mn-ea"/>
              </a:rPr>
              <a:t>✔ Predicting house prices</a:t>
            </a:r>
            <a:endParaRPr sz="1600"/>
          </a:p>
          <a:p>
            <a:r>
              <a:rPr sz="1600">
                <a:sym typeface="+mn-ea"/>
              </a:rPr>
              <a:t> ✔ Forecasting stock prices</a:t>
            </a:r>
            <a:endParaRPr sz="1600"/>
          </a:p>
          <a:p>
            <a:r>
              <a:rPr sz="1600">
                <a:sym typeface="+mn-ea"/>
              </a:rPr>
              <a:t> ✔ Estimating temperature trends</a:t>
            </a:r>
            <a:endParaRPr sz="1600"/>
          </a:p>
          <a:p>
            <a:pPr>
              <a:spcAft>
                <a:spcPct val="60000"/>
              </a:spcAft>
            </a:pPr>
            <a:r>
              <a:rPr sz="2200" b="1">
                <a:sym typeface="+mn-ea"/>
              </a:rPr>
              <a:t>🌎 Real-World Example:</a:t>
            </a:r>
            <a:endParaRPr sz="2200" b="1"/>
          </a:p>
          <a:p>
            <a:pPr>
              <a:buFont typeface="Arial" panose="020B0604020202020204"/>
              <a:buChar char="•"/>
            </a:pPr>
            <a:r>
              <a:rPr sz="1600">
                <a:sym typeface="+mn-ea"/>
              </a:rPr>
              <a:t>Predicting real estate prices based on features like area, location, and amenities.</a:t>
            </a:r>
            <a:endParaRPr sz="1600"/>
          </a:p>
          <a:p>
            <a:pPr>
              <a:buFont typeface="Arial" panose="020B0604020202020204"/>
              <a:buChar char="•"/>
            </a:pPr>
            <a:r>
              <a:rPr sz="1600">
                <a:sym typeface="+mn-ea"/>
              </a:rPr>
              <a:t>A model predicting house price as $250K, while the actual price is $260K, results in an error of $10K² = $100M$.</a:t>
            </a:r>
            <a:endParaRPr sz="1600"/>
          </a:p>
          <a:p>
            <a:pPr>
              <a:spcAft>
                <a:spcPct val="60000"/>
              </a:spcAft>
            </a:pPr>
            <a:endParaRPr lang="en-US" sz="2200" b="1">
              <a:sym typeface="+mn-ea"/>
            </a:endParaRPr>
          </a:p>
        </p:txBody>
      </p:sp>
      <p:sp>
        <p:nvSpPr>
          <p:cNvPr id="3" name="Text Box 2"/>
          <p:cNvSpPr txBox="1"/>
          <p:nvPr/>
        </p:nvSpPr>
        <p:spPr>
          <a:xfrm>
            <a:off x="5375275" y="168275"/>
            <a:ext cx="6816725" cy="3411220"/>
          </a:xfrm>
          <a:prstGeom prst="rect">
            <a:avLst/>
          </a:prstGeom>
          <a:noFill/>
        </p:spPr>
        <p:txBody>
          <a:bodyPr wrap="square" rtlCol="0" anchor="t">
            <a:noAutofit/>
          </a:bodyPr>
          <a:p>
            <a:pPr>
              <a:lnSpc>
                <a:spcPct val="0"/>
              </a:lnSpc>
              <a:spcAft>
                <a:spcPct val="60000"/>
              </a:spcAft>
            </a:pPr>
            <a:r>
              <a:rPr sz="2200" b="1">
                <a:sym typeface="+mn-ea"/>
              </a:rPr>
              <a:t>✅ Pros:</a:t>
            </a:r>
            <a:endParaRPr sz="2200" b="1"/>
          </a:p>
          <a:p>
            <a:r>
              <a:rPr sz="1600">
                <a:sym typeface="+mn-ea"/>
              </a:rPr>
              <a:t>✔ Simple and easy to compute.</a:t>
            </a:r>
            <a:endParaRPr sz="1600"/>
          </a:p>
          <a:p>
            <a:r>
              <a:rPr sz="1600">
                <a:sym typeface="+mn-ea"/>
              </a:rPr>
              <a:t> ✔ Works well when errors are normally distributed.</a:t>
            </a:r>
            <a:endParaRPr sz="1600"/>
          </a:p>
          <a:p>
            <a:pPr>
              <a:spcAft>
                <a:spcPct val="60000"/>
              </a:spcAft>
            </a:pPr>
            <a:r>
              <a:rPr sz="2200" b="1">
                <a:sym typeface="+mn-ea"/>
              </a:rPr>
              <a:t>❌ Cons:</a:t>
            </a:r>
            <a:endParaRPr sz="2200" b="1"/>
          </a:p>
          <a:p>
            <a:r>
              <a:rPr sz="1600">
                <a:sym typeface="+mn-ea"/>
              </a:rPr>
              <a:t>❌ Sensitive to outliers, as squared differences amplify large errors.</a:t>
            </a:r>
            <a:endParaRPr sz="1600"/>
          </a:p>
          <a:p>
            <a:r>
              <a:rPr sz="1600">
                <a:sym typeface="+mn-ea"/>
              </a:rPr>
              <a:t> ❌ Not robust when dealing with skewed data.</a:t>
            </a:r>
            <a:endParaRPr sz="1600"/>
          </a:p>
          <a:p>
            <a:pPr>
              <a:spcAft>
                <a:spcPct val="60000"/>
              </a:spcAft>
            </a:pPr>
            <a:r>
              <a:rPr sz="2200" b="1">
                <a:sym typeface="+mn-ea"/>
              </a:rPr>
              <a:t>🛠 How to Overcome:</a:t>
            </a:r>
            <a:endParaRPr sz="2200" b="1"/>
          </a:p>
          <a:p>
            <a:r>
              <a:rPr sz="1600">
                <a:sym typeface="+mn-ea"/>
              </a:rPr>
              <a:t>✔ Use Huber Loss or Log-Cosh Loss instead of MSE when outliers are present.</a:t>
            </a:r>
            <a:endParaRPr sz="1600"/>
          </a:p>
          <a:p>
            <a:pPr>
              <a:spcAft>
                <a:spcPct val="60000"/>
              </a:spcAft>
            </a:pPr>
            <a:r>
              <a:rPr sz="2200" b="1">
                <a:sym typeface="+mn-ea"/>
              </a:rPr>
              <a:t>📍 Where to Use:</a:t>
            </a:r>
            <a:endParaRPr sz="2200" b="1"/>
          </a:p>
          <a:p>
            <a:r>
              <a:rPr sz="1600">
                <a:sym typeface="+mn-ea"/>
              </a:rPr>
              <a:t>✅ Regression models with normally distributed errors.</a:t>
            </a:r>
            <a:endParaRPr sz="1600"/>
          </a:p>
          <a:p>
            <a:pPr>
              <a:spcAft>
                <a:spcPct val="60000"/>
              </a:spcAft>
            </a:pPr>
            <a:endParaRPr lang="en-US" sz="2200" b="1">
              <a:sym typeface="+mn-ea"/>
            </a:endParaRPr>
          </a:p>
        </p:txBody>
      </p:sp>
      <p:pic>
        <p:nvPicPr>
          <p:cNvPr id="4" name="Picture 3"/>
          <p:cNvPicPr/>
          <p:nvPr/>
        </p:nvPicPr>
        <p:blipFill>
          <a:blip r:embed="rId1"/>
          <a:stretch>
            <a:fillRect/>
          </a:stretch>
        </p:blipFill>
        <p:spPr>
          <a:xfrm>
            <a:off x="493395" y="5818505"/>
            <a:ext cx="4551045" cy="1039495"/>
          </a:xfrm>
          <a:prstGeom prst="rect">
            <a:avLst/>
          </a:prstGeom>
        </p:spPr>
      </p:pic>
      <p:pic>
        <p:nvPicPr>
          <p:cNvPr id="5" name="Picture 4"/>
          <p:cNvPicPr/>
          <p:nvPr/>
        </p:nvPicPr>
        <p:blipFill>
          <a:blip r:embed="rId2"/>
          <a:stretch>
            <a:fillRect/>
          </a:stretch>
        </p:blipFill>
        <p:spPr>
          <a:xfrm>
            <a:off x="6336030" y="3652520"/>
            <a:ext cx="5462905" cy="3278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2255" y="498475"/>
            <a:ext cx="11720195" cy="5107940"/>
          </a:xfrm>
          <a:prstGeom prst="rect">
            <a:avLst/>
          </a:prstGeom>
        </p:spPr>
        <p:txBody>
          <a:bodyPr wrap="square">
            <a:spAutoFit/>
          </a:bodyPr>
          <a:p>
            <a:pPr marL="0" indent="0">
              <a:spcBef>
                <a:spcPct val="0"/>
              </a:spcBef>
              <a:spcAft>
                <a:spcPts val="400"/>
              </a:spcAft>
              <a:buFont typeface="Arial" panose="020B0604020202020204"/>
              <a:buChar char="•"/>
            </a:pPr>
            <a:r>
              <a:rPr sz="2000" b="1" i="0">
                <a:solidFill>
                  <a:srgbClr val="001D35"/>
                </a:solidFill>
                <a:latin typeface="Google Sans"/>
                <a:ea typeface="Google Sans"/>
              </a:rPr>
              <a:t>How it's calculated:</a:t>
            </a:r>
            <a:endParaRPr sz="20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For each data point, calculate the difference between the predicted value and the actual value.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Square each of these differences.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Calculate the average (mean) of these squared differences. </a:t>
            </a:r>
            <a:endParaRPr sz="1600" b="0" i="0">
              <a:solidFill>
                <a:srgbClr val="001D35"/>
              </a:solidFill>
              <a:latin typeface="Google Sans"/>
              <a:ea typeface="Google Sans"/>
            </a:endParaRPr>
          </a:p>
          <a:p>
            <a:pPr marL="0" lvl="1" indent="0">
              <a:spcBef>
                <a:spcPts val="400"/>
              </a:spcBef>
              <a:spcAft>
                <a:spcPct val="0"/>
              </a:spcAft>
              <a:buFont typeface="Arial" panose="020B0604020202020204"/>
              <a:buChar char="◦"/>
            </a:pPr>
            <a:r>
              <a:rPr b="1" i="0">
                <a:solidFill>
                  <a:srgbClr val="001D35"/>
                </a:solidFill>
                <a:latin typeface="Google Sans"/>
                <a:ea typeface="Google Sans"/>
              </a:rPr>
              <a:t>The formula is:</a:t>
            </a:r>
            <a:r>
              <a:rPr b="0" i="0">
                <a:solidFill>
                  <a:srgbClr val="001D35"/>
                </a:solidFill>
                <a:latin typeface="Google Sans"/>
                <a:ea typeface="Google Sans"/>
              </a:rPr>
              <a:t> </a:t>
            </a:r>
            <a:r>
              <a:rPr sz="1600" b="0" i="0">
                <a:solidFill>
                  <a:srgbClr val="001D35"/>
                </a:solidFill>
                <a:latin typeface="monospace"/>
                <a:ea typeface="monospace"/>
              </a:rPr>
              <a:t>MSE = (1/n) * Σ(yᵢ - ŷᵢ)²</a:t>
            </a:r>
            <a:r>
              <a:rPr sz="1600" b="0" i="0">
                <a:solidFill>
                  <a:srgbClr val="001D35"/>
                </a:solidFill>
                <a:latin typeface="Google Sans"/>
                <a:ea typeface="Google Sans"/>
              </a:rPr>
              <a:t> where:</a:t>
            </a:r>
            <a:endParaRPr sz="1600" b="0" i="0">
              <a:solidFill>
                <a:srgbClr val="001D35"/>
              </a:solidFill>
              <a:latin typeface="Google Sans"/>
              <a:ea typeface="Google Sans"/>
            </a:endParaRPr>
          </a:p>
          <a:p>
            <a:pPr marL="457200" lvl="3" indent="0">
              <a:spcBef>
                <a:spcPct val="0"/>
              </a:spcBef>
              <a:spcAft>
                <a:spcPts val="400"/>
              </a:spcAft>
              <a:buFont typeface="Arial" panose="020B0604020202020204"/>
              <a:buChar char="•"/>
            </a:pPr>
            <a:r>
              <a:rPr sz="1600" b="0" i="0">
                <a:solidFill>
                  <a:srgbClr val="001D35"/>
                </a:solidFill>
                <a:latin typeface="monospace"/>
                <a:ea typeface="monospace"/>
              </a:rPr>
              <a:t>n</a:t>
            </a:r>
            <a:r>
              <a:rPr sz="1600" b="0" i="0">
                <a:solidFill>
                  <a:srgbClr val="001D35"/>
                </a:solidFill>
                <a:latin typeface="Google Sans"/>
                <a:ea typeface="Google Sans"/>
              </a:rPr>
              <a:t> is the number of data points. </a:t>
            </a:r>
            <a:endParaRPr sz="1600" b="0" i="0">
              <a:solidFill>
                <a:srgbClr val="001D35"/>
              </a:solidFill>
              <a:latin typeface="Google Sans"/>
              <a:ea typeface="Google Sans"/>
            </a:endParaRPr>
          </a:p>
          <a:p>
            <a:pPr marL="457200" lvl="3" indent="0">
              <a:spcBef>
                <a:spcPct val="0"/>
              </a:spcBef>
              <a:spcAft>
                <a:spcPts val="400"/>
              </a:spcAft>
              <a:buFont typeface="Arial" panose="020B0604020202020204"/>
              <a:buChar char="•"/>
            </a:pPr>
            <a:r>
              <a:rPr sz="1600" b="0" i="0">
                <a:solidFill>
                  <a:srgbClr val="001D35"/>
                </a:solidFill>
                <a:latin typeface="monospace"/>
                <a:ea typeface="monospace"/>
              </a:rPr>
              <a:t>yᵢ</a:t>
            </a:r>
            <a:r>
              <a:rPr sz="1600" b="0" i="0">
                <a:solidFill>
                  <a:srgbClr val="001D35"/>
                </a:solidFill>
                <a:latin typeface="Google Sans"/>
                <a:ea typeface="Google Sans"/>
              </a:rPr>
              <a:t> is the actual value. </a:t>
            </a:r>
            <a:endParaRPr sz="1600" b="0" i="0">
              <a:solidFill>
                <a:srgbClr val="001D35"/>
              </a:solidFill>
              <a:latin typeface="Google Sans"/>
              <a:ea typeface="Google Sans"/>
            </a:endParaRPr>
          </a:p>
          <a:p>
            <a:pPr marL="457200" lvl="3" indent="0">
              <a:spcBef>
                <a:spcPct val="0"/>
              </a:spcBef>
              <a:spcAft>
                <a:spcPct val="0"/>
              </a:spcAft>
              <a:buFont typeface="Arial" panose="020B0604020202020204"/>
              <a:buChar char="•"/>
            </a:pPr>
            <a:r>
              <a:rPr sz="1600" b="0" i="0">
                <a:solidFill>
                  <a:srgbClr val="001D35"/>
                </a:solidFill>
                <a:latin typeface="monospace"/>
                <a:ea typeface="monospace"/>
              </a:rPr>
              <a:t>ŷᵢ</a:t>
            </a:r>
            <a:r>
              <a:rPr sz="1600" b="0" i="0">
                <a:solidFill>
                  <a:srgbClr val="001D35"/>
                </a:solidFill>
                <a:latin typeface="Google Sans"/>
                <a:ea typeface="Google Sans"/>
              </a:rPr>
              <a:t> is the predicted value.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2000" b="1" i="0">
                <a:solidFill>
                  <a:srgbClr val="001D35"/>
                </a:solidFill>
                <a:latin typeface="Google Sans"/>
                <a:ea typeface="Google Sans"/>
              </a:rPr>
              <a:t>Why it's used:</a:t>
            </a:r>
            <a:endParaRPr sz="20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Regression tasks: MSE is commonly used as a loss function in regression problems, where the goal is to predict a continuous value.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Model evaluation: It can be used to evaluate the performance of regression models.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Differentiable: MSE is a differentiable function, which is important for optimization algorithms used in deep learning.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b="0" i="0">
                <a:solidFill>
                  <a:srgbClr val="001D35"/>
                </a:solidFill>
                <a:latin typeface="Google Sans"/>
                <a:ea typeface="Google Sans"/>
              </a:rPr>
              <a:t>Penalizes large errors: Squaring the differences means that larger errors are penalized more heavily than smaller errors. </a:t>
            </a:r>
            <a:endParaRPr sz="1600" b="0" i="0">
              <a:solidFill>
                <a:srgbClr val="001D35"/>
              </a:solidFill>
              <a:latin typeface="Google Sans"/>
              <a:ea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9115" y="0"/>
            <a:ext cx="9137650" cy="6554470"/>
          </a:xfrm>
          <a:prstGeom prst="rect">
            <a:avLst/>
          </a:prstGeom>
          <a:noFill/>
        </p:spPr>
        <p:txBody>
          <a:bodyPr wrap="square" rtlCol="0" anchor="t">
            <a:spAutoFit/>
          </a:bodyPr>
          <a:p>
            <a:pPr marL="0" lvl="1" indent="0">
              <a:spcBef>
                <a:spcPts val="400"/>
              </a:spcBef>
              <a:spcAft>
                <a:spcPct val="0"/>
              </a:spcAft>
              <a:buFont typeface="Arial" panose="020B0604020202020204"/>
              <a:buChar char="◦"/>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2000" b="1">
                <a:solidFill>
                  <a:srgbClr val="001D35"/>
                </a:solidFill>
                <a:latin typeface="Google Sans"/>
                <a:ea typeface="Google Sans"/>
                <a:sym typeface="+mn-ea"/>
              </a:rPr>
              <a:t>Interpretation:</a:t>
            </a:r>
            <a:endParaRPr sz="20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A lower MSE value indicates that the model's predictions are closer to the actual values, suggesting better performance.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a:solidFill>
                  <a:srgbClr val="001D35"/>
                </a:solidFill>
                <a:latin typeface="Google Sans"/>
                <a:ea typeface="Google Sans"/>
                <a:sym typeface="+mn-ea"/>
              </a:rPr>
              <a:t>A higher MSE value indicates that the model's predictions are further away from the actual values, suggesting poorer performance.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b="1">
                <a:solidFill>
                  <a:srgbClr val="001D35"/>
                </a:solidFill>
                <a:latin typeface="Google Sans"/>
                <a:ea typeface="Google Sans"/>
                <a:sym typeface="+mn-ea"/>
              </a:rPr>
              <a:t>Advantages:</a:t>
            </a:r>
            <a:endParaRPr b="1"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Simple to understand and implement .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Differentiable .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a:solidFill>
                  <a:srgbClr val="001D35"/>
                </a:solidFill>
                <a:latin typeface="Google Sans"/>
                <a:ea typeface="Google Sans"/>
                <a:sym typeface="+mn-ea"/>
              </a:rPr>
              <a:t>Penalizes large errors more heavily .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b="1">
                <a:solidFill>
                  <a:srgbClr val="001D35"/>
                </a:solidFill>
                <a:latin typeface="Google Sans"/>
                <a:ea typeface="Google Sans"/>
                <a:sym typeface="+mn-ea"/>
              </a:rPr>
              <a:t>Disadvantages:</a:t>
            </a:r>
            <a:endParaRPr b="1"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Sensitive to outliers: Large errors can have a disproportionate impact on the MSE.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a:solidFill>
                  <a:srgbClr val="001D35"/>
                </a:solidFill>
                <a:latin typeface="Google Sans"/>
                <a:ea typeface="Google Sans"/>
                <a:sym typeface="+mn-ea"/>
              </a:rPr>
              <a:t>Not in the same units as the target variable: The MSE is in squared units, which can make it difficult to interpret in some cases. </a:t>
            </a:r>
            <a:endParaRPr sz="1600" b="0" i="0">
              <a:solidFill>
                <a:srgbClr val="001D35"/>
              </a:solidFill>
              <a:latin typeface="Google Sans"/>
              <a:ea typeface="Google Sans"/>
            </a:endParaRPr>
          </a:p>
          <a:p>
            <a:pPr marL="0" lvl="0" indent="0">
              <a:spcBef>
                <a:spcPct val="0"/>
              </a:spcBef>
              <a:spcAft>
                <a:spcPct val="0"/>
              </a:spcAft>
              <a:buFont typeface="Arial" panose="020B0604020202020204"/>
              <a:buChar char="•"/>
            </a:pPr>
            <a:r>
              <a:rPr sz="1600" b="1">
                <a:solidFill>
                  <a:srgbClr val="001D35"/>
                </a:solidFill>
                <a:latin typeface="Google Sans"/>
                <a:ea typeface="Google Sans"/>
                <a:sym typeface="+mn-ea"/>
              </a:rPr>
              <a:t>Alternatives:</a:t>
            </a:r>
            <a:endParaRPr sz="1600" b="1" i="0">
              <a:solidFill>
                <a:srgbClr val="001D35"/>
              </a:solidFill>
              <a:latin typeface="Google Sans"/>
              <a:ea typeface="Google Sans"/>
            </a:endParaRPr>
          </a:p>
          <a:p>
            <a:pPr lvl="1" indent="0">
              <a:spcBef>
                <a:spcPts val="400"/>
              </a:spcBef>
              <a:spcAft>
                <a:spcPts val="400"/>
              </a:spcAft>
              <a:buFont typeface="Arial" panose="020B0604020202020204"/>
              <a:buChar char="◦"/>
            </a:pPr>
            <a:r>
              <a:rPr sz="1600">
                <a:solidFill>
                  <a:srgbClr val="001D35"/>
                </a:solidFill>
                <a:latin typeface="Google Sans"/>
                <a:ea typeface="Google Sans"/>
                <a:sym typeface="+mn-ea"/>
              </a:rPr>
              <a:t>Mean Absolute Error (MAE): MAE is another common loss function that measures the average absolute difference between the predicted and actual values. </a:t>
            </a:r>
            <a:endParaRPr sz="1600" b="0" i="0">
              <a:solidFill>
                <a:srgbClr val="001D35"/>
              </a:solidFill>
              <a:latin typeface="Google Sans"/>
              <a:ea typeface="Google Sans"/>
            </a:endParaRPr>
          </a:p>
          <a:p>
            <a:pPr lvl="1" indent="0">
              <a:spcBef>
                <a:spcPts val="400"/>
              </a:spcBef>
              <a:spcAft>
                <a:spcPct val="0"/>
              </a:spcAft>
              <a:buFont typeface="Arial" panose="020B0604020202020204"/>
              <a:buChar char="◦"/>
            </a:pPr>
            <a:r>
              <a:rPr sz="1600">
                <a:solidFill>
                  <a:srgbClr val="001D35"/>
                </a:solidFill>
                <a:latin typeface="Google Sans"/>
                <a:ea typeface="Google Sans"/>
                <a:sym typeface="+mn-ea"/>
              </a:rPr>
              <a:t>Root Mean Squared Error (RMSE): RMSE is the square root of the MSE, which is in the same units as the target variable. </a:t>
            </a:r>
            <a:endParaRPr sz="1600" b="0" i="0">
              <a:solidFill>
                <a:srgbClr val="001D35"/>
              </a:solidFill>
              <a:latin typeface="Google Sans"/>
              <a:ea typeface="Google Sans"/>
            </a:endParaRPr>
          </a:p>
          <a:p>
            <a:pPr marL="0" lvl="1" indent="0">
              <a:spcBef>
                <a:spcPts val="400"/>
              </a:spcBef>
              <a:spcAft>
                <a:spcPct val="0"/>
              </a:spcAft>
              <a:buFont typeface="Arial" panose="020B0604020202020204"/>
              <a:buChar char="◦"/>
            </a:pPr>
            <a:endParaRPr lang="en-US" sz="1600" b="0" i="0">
              <a:solidFill>
                <a:srgbClr val="001D35"/>
              </a:solidFill>
              <a:latin typeface="Google Sans"/>
              <a:ea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97155" y="131445"/>
            <a:ext cx="5832475" cy="4924425"/>
          </a:xfrm>
          <a:prstGeom prst="rect">
            <a:avLst/>
          </a:prstGeom>
        </p:spPr>
        <p:txBody>
          <a:bodyPr wrap="square">
            <a:spAutoFit/>
          </a:bodyPr>
          <a:p>
            <a:pPr>
              <a:spcAft>
                <a:spcPct val="60000"/>
              </a:spcAft>
            </a:pPr>
            <a:r>
              <a:rPr sz="2300" b="1"/>
              <a:t>1</a:t>
            </a:r>
            <a:r>
              <a:rPr sz="2300" b="1">
                <a:solidFill>
                  <a:srgbClr val="FF0000"/>
                </a:solidFill>
                <a:effectLst>
                  <a:outerShdw blurRad="38100" dist="38100" dir="2700000" algn="tl">
                    <a:srgbClr val="000000">
                      <a:alpha val="43137"/>
                    </a:srgbClr>
                  </a:outerShdw>
                </a:effectLst>
              </a:rPr>
              <a:t>.2 Mean Absolute Error (MAE)</a:t>
            </a:r>
            <a:endParaRPr sz="2300" b="1"/>
          </a:p>
          <a:p>
            <a:r>
              <a:rPr sz="1600"/>
              <a:t>MAE measures the average absolute difference between predicted and actual values. It treats all errors equally.</a:t>
            </a:r>
            <a:endParaRPr sz="1600"/>
          </a:p>
          <a:p>
            <a:pPr>
              <a:spcAft>
                <a:spcPct val="60000"/>
              </a:spcAft>
            </a:pPr>
            <a:r>
              <a:rPr sz="2200" b="1"/>
              <a:t>📝 Explanation:</a:t>
            </a:r>
            <a:endParaRPr sz="2200" b="1"/>
          </a:p>
          <a:p>
            <a:pPr>
              <a:buFont typeface="Arial" panose="020B0604020202020204"/>
              <a:buChar char="•"/>
            </a:pPr>
            <a:r>
              <a:rPr sz="1600"/>
              <a:t>Unlike MSE, errors are not squared, reducing sensitivity to outliers.</a:t>
            </a:r>
            <a:endParaRPr sz="1600"/>
          </a:p>
          <a:p>
            <a:pPr>
              <a:buFont typeface="Arial" panose="020B0604020202020204"/>
              <a:buChar char="•"/>
            </a:pPr>
            <a:r>
              <a:rPr sz="1600"/>
              <a:t>Errors are treated linearly, making it a more robust loss function.</a:t>
            </a:r>
            <a:endParaRPr sz="1600"/>
          </a:p>
          <a:p>
            <a:pPr>
              <a:spcAft>
                <a:spcPct val="60000"/>
              </a:spcAft>
            </a:pPr>
            <a:r>
              <a:rPr sz="2200" b="1"/>
              <a:t>💡 Use Cases:</a:t>
            </a:r>
            <a:endParaRPr sz="2200" b="1"/>
          </a:p>
          <a:p>
            <a:r>
              <a:rPr sz="1600"/>
              <a:t>✔ Predicting delivery times</a:t>
            </a:r>
            <a:endParaRPr sz="1600"/>
          </a:p>
          <a:p>
            <a:r>
              <a:rPr sz="1600"/>
              <a:t> ✔ Forecasting energy consumption</a:t>
            </a:r>
            <a:endParaRPr sz="1600"/>
          </a:p>
          <a:p>
            <a:pPr>
              <a:spcAft>
                <a:spcPct val="60000"/>
              </a:spcAft>
            </a:pPr>
            <a:r>
              <a:rPr sz="2200" b="1"/>
              <a:t>🌎 Real-World Example:</a:t>
            </a:r>
            <a:endParaRPr sz="2200" b="1"/>
          </a:p>
          <a:p>
            <a:pPr>
              <a:buFont typeface="Arial" panose="020B0604020202020204"/>
              <a:buChar char="•"/>
            </a:pPr>
            <a:r>
              <a:rPr sz="1600"/>
              <a:t>Predicting arrival time for food deliveries.</a:t>
            </a:r>
            <a:endParaRPr sz="1600"/>
          </a:p>
          <a:p>
            <a:pPr>
              <a:buFont typeface="Arial" panose="020B0604020202020204"/>
              <a:buChar char="•"/>
            </a:pPr>
            <a:r>
              <a:rPr sz="1600"/>
              <a:t>If a predicted time is 30 min, but the actual time is 35 min, the absolute error is 5 min.</a:t>
            </a:r>
            <a:endParaRPr sz="1600"/>
          </a:p>
          <a:p>
            <a:pPr>
              <a:spcAft>
                <a:spcPct val="60000"/>
              </a:spcAft>
            </a:pPr>
            <a:endParaRPr sz="1600"/>
          </a:p>
        </p:txBody>
      </p:sp>
      <p:sp>
        <p:nvSpPr>
          <p:cNvPr id="7" name="Text Box 6"/>
          <p:cNvSpPr txBox="1"/>
          <p:nvPr/>
        </p:nvSpPr>
        <p:spPr>
          <a:xfrm>
            <a:off x="5929630" y="0"/>
            <a:ext cx="6096000" cy="5237480"/>
          </a:xfrm>
          <a:prstGeom prst="rect">
            <a:avLst/>
          </a:prstGeom>
          <a:noFill/>
        </p:spPr>
        <p:txBody>
          <a:bodyPr wrap="square" rtlCol="0" anchor="t">
            <a:spAutoFit/>
          </a:bodyPr>
          <a:p>
            <a:pPr>
              <a:spcAft>
                <a:spcPct val="60000"/>
              </a:spcAft>
            </a:pPr>
            <a:r>
              <a:rPr sz="2200" b="1">
                <a:sym typeface="+mn-ea"/>
              </a:rPr>
              <a:t>✅ Pros:</a:t>
            </a:r>
            <a:endParaRPr sz="2200" b="1"/>
          </a:p>
          <a:p>
            <a:r>
              <a:rPr sz="1600">
                <a:sym typeface="+mn-ea"/>
              </a:rPr>
              <a:t>✔ Less sensitive to outliers than MSE.</a:t>
            </a:r>
            <a:endParaRPr sz="1600"/>
          </a:p>
          <a:p>
            <a:r>
              <a:rPr sz="1600">
                <a:sym typeface="+mn-ea"/>
              </a:rPr>
              <a:t> ✔ More interpretable (error values are in the same unit as the target variable).</a:t>
            </a:r>
            <a:endParaRPr sz="1600"/>
          </a:p>
          <a:p>
            <a:pPr>
              <a:spcAft>
                <a:spcPct val="60000"/>
              </a:spcAft>
            </a:pPr>
            <a:r>
              <a:rPr sz="2200" b="1">
                <a:sym typeface="+mn-ea"/>
              </a:rPr>
              <a:t>❌ Cons:</a:t>
            </a:r>
            <a:endParaRPr sz="2200" b="1"/>
          </a:p>
          <a:p>
            <a:r>
              <a:rPr sz="1600">
                <a:sym typeface="+mn-ea"/>
              </a:rPr>
              <a:t>❌ Harder to optimize due to non-differentiability at zero.</a:t>
            </a:r>
            <a:endParaRPr sz="1600"/>
          </a:p>
          <a:p>
            <a:pPr>
              <a:spcAft>
                <a:spcPct val="60000"/>
              </a:spcAft>
            </a:pPr>
            <a:r>
              <a:rPr sz="2200" b="1">
                <a:sym typeface="+mn-ea"/>
              </a:rPr>
              <a:t>🛠 How to Overcome:</a:t>
            </a:r>
            <a:endParaRPr sz="2200" b="1"/>
          </a:p>
          <a:p>
            <a:r>
              <a:rPr sz="1600">
                <a:sym typeface="+mn-ea"/>
              </a:rPr>
              <a:t>✔ Use Huber Loss, which combines MSE (for small errors) and MAE (for large errors).</a:t>
            </a:r>
            <a:endParaRPr sz="1600"/>
          </a:p>
          <a:p>
            <a:pPr>
              <a:spcAft>
                <a:spcPct val="60000"/>
              </a:spcAft>
            </a:pPr>
            <a:r>
              <a:rPr sz="2200" b="1">
                <a:sym typeface="+mn-ea"/>
              </a:rPr>
              <a:t>📍 Where to Use:</a:t>
            </a:r>
            <a:endParaRPr sz="2200" b="1"/>
          </a:p>
          <a:p>
            <a:r>
              <a:rPr sz="1600">
                <a:sym typeface="+mn-ea"/>
              </a:rPr>
              <a:t>✅ When outliers are present in the dataset.</a:t>
            </a:r>
            <a:endParaRPr sz="1600"/>
          </a:p>
          <a:p>
            <a:pPr>
              <a:spcAft>
                <a:spcPct val="60000"/>
              </a:spcAft>
            </a:pPr>
            <a:r>
              <a:rPr sz="2200" b="1">
                <a:sym typeface="+mn-ea"/>
              </a:rPr>
              <a:t>💻 Code Implementation:</a:t>
            </a:r>
            <a:endParaRPr sz="2200" b="1"/>
          </a:p>
          <a:p>
            <a:r>
              <a:rPr sz="1600">
                <a:sym typeface="+mn-ea"/>
              </a:rPr>
              <a:t>python</a:t>
            </a:r>
            <a:endParaRPr sz="1600"/>
          </a:p>
          <a:p>
            <a:r>
              <a:rPr sz="1600">
                <a:sym typeface="+mn-ea"/>
              </a:rPr>
              <a:t>model.compile(optimizer='adam', loss='mae', metrics=['mse'])</a:t>
            </a:r>
            <a:endParaRPr lang="en-US" sz="1600">
              <a:sym typeface="+mn-ea"/>
            </a:endParaRPr>
          </a:p>
        </p:txBody>
      </p:sp>
      <p:pic>
        <p:nvPicPr>
          <p:cNvPr id="8" name="Picture 7"/>
          <p:cNvPicPr/>
          <p:nvPr/>
        </p:nvPicPr>
        <p:blipFill>
          <a:blip r:embed="rId1"/>
          <a:stretch>
            <a:fillRect/>
          </a:stretch>
        </p:blipFill>
        <p:spPr>
          <a:xfrm>
            <a:off x="0" y="4750435"/>
            <a:ext cx="4927600" cy="21075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l="14203" r="13617"/>
          <a:stretch>
            <a:fillRect/>
          </a:stretch>
        </p:blipFill>
        <p:spPr>
          <a:xfrm>
            <a:off x="6200775" y="753745"/>
            <a:ext cx="5866765" cy="4572000"/>
          </a:xfrm>
          <a:prstGeom prst="rect">
            <a:avLst/>
          </a:prstGeom>
        </p:spPr>
      </p:pic>
      <p:pic>
        <p:nvPicPr>
          <p:cNvPr id="3" name="Picture 2"/>
          <p:cNvPicPr/>
          <p:nvPr/>
        </p:nvPicPr>
        <p:blipFill>
          <a:blip r:embed="rId2"/>
          <a:stretch>
            <a:fillRect/>
          </a:stretch>
        </p:blipFill>
        <p:spPr>
          <a:xfrm>
            <a:off x="187960" y="1249680"/>
            <a:ext cx="6103620" cy="39192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64135"/>
            <a:ext cx="12000865" cy="6164580"/>
          </a:xfrm>
          <a:prstGeom prst="rect">
            <a:avLst/>
          </a:prstGeom>
        </p:spPr>
        <p:txBody>
          <a:bodyPr wrap="square">
            <a:spAutoFit/>
          </a:bodyPr>
          <a:p>
            <a:pPr marL="0" indent="0">
              <a:spcBef>
                <a:spcPct val="0"/>
              </a:spcBef>
              <a:spcAft>
                <a:spcPts val="400"/>
              </a:spcAft>
              <a:buFont typeface="Arial" panose="020B0604020202020204"/>
              <a:buChar char="•"/>
            </a:pPr>
            <a:r>
              <a:rPr sz="1600" b="1" i="0">
                <a:solidFill>
                  <a:srgbClr val="001D35"/>
                </a:solidFill>
                <a:latin typeface="Google Sans"/>
                <a:ea typeface="Google Sans"/>
              </a:rPr>
              <a:t>What it is:</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MAE calculates the average of the absolute differences between the predicted and actual values, essentially measuring the magnitude of errors without considering their direction (overestimation or underestimation).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Why it's used:</a:t>
            </a:r>
            <a:endParaRPr sz="16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1" i="0">
                <a:solidFill>
                  <a:srgbClr val="001D35"/>
                </a:solidFill>
                <a:latin typeface="Google Sans"/>
                <a:ea typeface="Google Sans"/>
              </a:rPr>
              <a:t>Interpretability:</a:t>
            </a:r>
            <a:r>
              <a:rPr sz="1600" b="0" i="0">
                <a:solidFill>
                  <a:srgbClr val="001D35"/>
                </a:solidFill>
                <a:latin typeface="Google Sans"/>
                <a:ea typeface="Google Sans"/>
              </a:rPr>
              <a:t> MAE is easy to understand and interpret because it's in the same units as the target variable, making it simple to assess the magnitude of errors.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Robustness to Outliers: MAE is less sensitive to outliers compared to Mean Squared Error (MSE) because it doesn't penalize large errors as severely.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b="0" i="0">
                <a:solidFill>
                  <a:srgbClr val="001D35"/>
                </a:solidFill>
                <a:latin typeface="Google Sans"/>
                <a:ea typeface="Google Sans"/>
              </a:rPr>
              <a:t>Regression Problems: MAE is commonly used as a loss function for regression problems, where the goal is to predict continuous values.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Relationship to other metrics:</a:t>
            </a:r>
            <a:endParaRPr sz="16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MSE: MSE penalizes larger errors more heavily than MAE because it squares the differences, making it more sensitive to outliers. </a:t>
            </a:r>
            <a:endParaRPr sz="1600" b="0" i="0">
              <a:solidFill>
                <a:srgbClr val="001D35"/>
              </a:solidFill>
              <a:latin typeface="Google Sans"/>
              <a:ea typeface="Google Sans"/>
            </a:endParaRPr>
          </a:p>
          <a:p>
            <a:pPr lvl="3" indent="0">
              <a:spcBef>
                <a:spcPts val="400"/>
              </a:spcBef>
              <a:spcAft>
                <a:spcPct val="0"/>
              </a:spcAft>
              <a:buFont typeface="Arial" panose="020B0604020202020204"/>
              <a:buChar char="◦"/>
            </a:pPr>
            <a:r>
              <a:rPr sz="1600" b="0" i="0">
                <a:solidFill>
                  <a:srgbClr val="001D35"/>
                </a:solidFill>
                <a:latin typeface="Google Sans"/>
                <a:ea typeface="Google Sans"/>
              </a:rPr>
              <a:t>RMSE: Root Mean Squared Error is the square root of MSE, and like MSE, it also penalizes large errors more heavily than MAE.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b="1" i="0">
                <a:solidFill>
                  <a:srgbClr val="001D35"/>
                </a:solidFill>
                <a:latin typeface="Google Sans"/>
                <a:ea typeface="Google Sans"/>
              </a:rPr>
              <a:t>How to use it in deep learning:</a:t>
            </a:r>
            <a:endParaRPr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Loss Function: MAE can be used as a loss function during model training, guiding the model to minimize the average absolute error.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1" i="0">
                <a:solidFill>
                  <a:srgbClr val="001D35"/>
                </a:solidFill>
                <a:latin typeface="Google Sans"/>
                <a:ea typeface="Google Sans"/>
              </a:rPr>
              <a:t>Evaluation Metric:</a:t>
            </a:r>
            <a:r>
              <a:rPr sz="1600" b="0" i="0">
                <a:solidFill>
                  <a:srgbClr val="001D35"/>
                </a:solidFill>
                <a:latin typeface="Google Sans"/>
                <a:ea typeface="Google Sans"/>
              </a:rPr>
              <a:t> MAE can be used to evaluate the performance of a trained model on a test dataset.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b="0" i="0">
                <a:solidFill>
                  <a:srgbClr val="001D35"/>
                </a:solidFill>
                <a:latin typeface="Google Sans"/>
                <a:ea typeface="Google Sans"/>
              </a:rPr>
              <a:t>Libraries: Libraries like TensorFlow and PyTorch provide functions to calculate MAE, making it easy to integrate into deep learning workflows. </a:t>
            </a:r>
            <a:endParaRPr sz="1600" b="0" i="0">
              <a:solidFill>
                <a:srgbClr val="001D35"/>
              </a:solidFill>
              <a:latin typeface="Google Sans"/>
              <a:ea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2865" y="94615"/>
            <a:ext cx="5942965" cy="492442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1.3 Huber Loss</a:t>
            </a:r>
            <a:endParaRPr sz="2300" b="1">
              <a:solidFill>
                <a:srgbClr val="FF0000"/>
              </a:solidFill>
              <a:effectLst>
                <a:outerShdw blurRad="38100" dist="38100" dir="2700000" algn="tl">
                  <a:srgbClr val="000000">
                    <a:alpha val="43137"/>
                  </a:srgbClr>
                </a:outerShdw>
              </a:effectLst>
            </a:endParaRPr>
          </a:p>
          <a:p>
            <a:r>
              <a:rPr sz="1600"/>
              <a:t>Huber loss is a combination of MSE and MAE, reducing sensitivity to outliers.</a:t>
            </a:r>
            <a:endParaRPr sz="1600"/>
          </a:p>
          <a:p>
            <a:pPr>
              <a:spcAft>
                <a:spcPct val="60000"/>
              </a:spcAft>
            </a:pPr>
            <a:r>
              <a:rPr sz="2200" b="1"/>
              <a:t>📝 Explanation:</a:t>
            </a:r>
            <a:endParaRPr sz="2200" b="1"/>
          </a:p>
          <a:p>
            <a:pPr>
              <a:buFont typeface="Arial" panose="020B0604020202020204"/>
              <a:buChar char="•"/>
            </a:pPr>
            <a:r>
              <a:rPr sz="1600"/>
              <a:t>Uses MSE for small errors and MAE for large errors.</a:t>
            </a:r>
            <a:endParaRPr sz="1600"/>
          </a:p>
          <a:p>
            <a:pPr>
              <a:buFont typeface="Arial" panose="020B0604020202020204"/>
              <a:buChar char="•"/>
            </a:pPr>
            <a:r>
              <a:rPr sz="1600"/>
              <a:t>The threshold δ decides the transition between MSE and MAE behavior.</a:t>
            </a:r>
            <a:endParaRPr sz="1600"/>
          </a:p>
          <a:p>
            <a:pPr>
              <a:spcAft>
                <a:spcPct val="60000"/>
              </a:spcAft>
            </a:pPr>
            <a:r>
              <a:rPr sz="2200" b="1"/>
              <a:t>💡 Use Cases:</a:t>
            </a:r>
            <a:endParaRPr sz="2200" b="1"/>
          </a:p>
          <a:p>
            <a:r>
              <a:rPr sz="1600"/>
              <a:t>✔ Regression tasks with noisy data</a:t>
            </a:r>
            <a:endParaRPr sz="1600"/>
          </a:p>
          <a:p>
            <a:r>
              <a:rPr sz="1600"/>
              <a:t> ✔ Forecasting stock prices</a:t>
            </a:r>
            <a:endParaRPr sz="1600"/>
          </a:p>
          <a:p>
            <a:pPr>
              <a:spcAft>
                <a:spcPct val="60000"/>
              </a:spcAft>
            </a:pPr>
            <a:r>
              <a:rPr sz="2200" b="1"/>
              <a:t>🌎 Real-World Example:</a:t>
            </a:r>
            <a:endParaRPr sz="2200" b="1"/>
          </a:p>
          <a:p>
            <a:pPr>
              <a:buFont typeface="Arial" panose="020B0604020202020204"/>
              <a:buChar char="•"/>
            </a:pPr>
            <a:r>
              <a:rPr sz="1600"/>
              <a:t>Self-driving cars predicting the correct steering angle.</a:t>
            </a:r>
            <a:endParaRPr sz="1600"/>
          </a:p>
          <a:p>
            <a:pPr>
              <a:buFont typeface="Arial" panose="020B0604020202020204"/>
              <a:buChar char="•"/>
            </a:pPr>
            <a:r>
              <a:rPr sz="1600"/>
              <a:t>Prevents extreme values from distorting predictions.</a:t>
            </a:r>
            <a:endParaRPr sz="1600"/>
          </a:p>
          <a:p>
            <a:pPr>
              <a:spcAft>
                <a:spcPct val="60000"/>
              </a:spcAft>
            </a:pPr>
            <a:endParaRPr sz="1600"/>
          </a:p>
        </p:txBody>
      </p:sp>
      <p:sp>
        <p:nvSpPr>
          <p:cNvPr id="3" name="Text Box 2"/>
          <p:cNvSpPr txBox="1"/>
          <p:nvPr/>
        </p:nvSpPr>
        <p:spPr>
          <a:xfrm>
            <a:off x="6006465" y="0"/>
            <a:ext cx="6096000" cy="4991100"/>
          </a:xfrm>
          <a:prstGeom prst="rect">
            <a:avLst/>
          </a:prstGeom>
          <a:noFill/>
        </p:spPr>
        <p:txBody>
          <a:bodyPr wrap="square" rtlCol="0" anchor="t">
            <a:spAutoFit/>
          </a:bodyPr>
          <a:p>
            <a:pPr>
              <a:spcAft>
                <a:spcPct val="60000"/>
              </a:spcAft>
            </a:pPr>
            <a:r>
              <a:rPr sz="2200" b="1">
                <a:sym typeface="+mn-ea"/>
              </a:rPr>
              <a:t>✅ Pros:</a:t>
            </a:r>
            <a:endParaRPr sz="2200" b="1"/>
          </a:p>
          <a:p>
            <a:r>
              <a:rPr sz="1600">
                <a:sym typeface="+mn-ea"/>
              </a:rPr>
              <a:t>✔ Less sensitive to outliers than MSE.</a:t>
            </a:r>
            <a:endParaRPr sz="1600"/>
          </a:p>
          <a:p>
            <a:r>
              <a:rPr sz="1600">
                <a:sym typeface="+mn-ea"/>
              </a:rPr>
              <a:t> ✔ Smooth optimization with differentiability everywhere.</a:t>
            </a:r>
            <a:endParaRPr sz="1600"/>
          </a:p>
          <a:p>
            <a:pPr>
              <a:spcAft>
                <a:spcPct val="60000"/>
              </a:spcAft>
            </a:pPr>
            <a:r>
              <a:rPr sz="2200" b="1">
                <a:sym typeface="+mn-ea"/>
              </a:rPr>
              <a:t>❌ Cons:</a:t>
            </a:r>
            <a:endParaRPr sz="2200" b="1"/>
          </a:p>
          <a:p>
            <a:r>
              <a:rPr sz="1600">
                <a:sym typeface="+mn-ea"/>
              </a:rPr>
              <a:t>❌ Requires tuning of δ hyperparameter.</a:t>
            </a:r>
            <a:endParaRPr sz="1600"/>
          </a:p>
          <a:p>
            <a:pPr>
              <a:spcAft>
                <a:spcPct val="60000"/>
              </a:spcAft>
            </a:pPr>
            <a:r>
              <a:rPr sz="2200" b="1">
                <a:sym typeface="+mn-ea"/>
              </a:rPr>
              <a:t>🛠 How to Overcome:</a:t>
            </a:r>
            <a:endParaRPr sz="2200" b="1"/>
          </a:p>
          <a:p>
            <a:r>
              <a:rPr sz="1600">
                <a:sym typeface="+mn-ea"/>
              </a:rPr>
              <a:t>✔ Use Log-Cosh Loss, which automatically smooths extreme errors.</a:t>
            </a:r>
            <a:endParaRPr sz="1600"/>
          </a:p>
          <a:p>
            <a:pPr>
              <a:spcAft>
                <a:spcPct val="60000"/>
              </a:spcAft>
            </a:pPr>
            <a:r>
              <a:rPr sz="2200" b="1">
                <a:sym typeface="+mn-ea"/>
              </a:rPr>
              <a:t>📍 Where to Use:</a:t>
            </a:r>
            <a:endParaRPr sz="2200" b="1"/>
          </a:p>
          <a:p>
            <a:r>
              <a:rPr sz="1600">
                <a:sym typeface="+mn-ea"/>
              </a:rPr>
              <a:t>✅ When dealing with outliers but still requiring smooth optimization.</a:t>
            </a:r>
            <a:endParaRPr sz="1600"/>
          </a:p>
          <a:p>
            <a:pPr>
              <a:spcAft>
                <a:spcPct val="60000"/>
              </a:spcAft>
            </a:pPr>
            <a:r>
              <a:rPr sz="2200" b="1">
                <a:sym typeface="+mn-ea"/>
              </a:rPr>
              <a:t>💻 Code Implementation:</a:t>
            </a:r>
            <a:endParaRPr sz="2200" b="1"/>
          </a:p>
          <a:p>
            <a:r>
              <a:rPr sz="1600">
                <a:sym typeface="+mn-ea"/>
              </a:rPr>
              <a:t>model.compile(optimizer='adam', loss=tf.keras.losses.Huber(delta=1.0), metrics=['mae'])
</a:t>
            </a:r>
            <a:endParaRPr lang="en-US" sz="1600">
              <a:sym typeface="+mn-ea"/>
            </a:endParaRPr>
          </a:p>
        </p:txBody>
      </p:sp>
      <p:pic>
        <p:nvPicPr>
          <p:cNvPr id="4" name="Picture 3"/>
          <p:cNvPicPr/>
          <p:nvPr/>
        </p:nvPicPr>
        <p:blipFill>
          <a:blip r:embed="rId1"/>
          <a:stretch>
            <a:fillRect/>
          </a:stretch>
        </p:blipFill>
        <p:spPr>
          <a:xfrm>
            <a:off x="313690" y="4991100"/>
            <a:ext cx="3885565" cy="1739265"/>
          </a:xfrm>
          <a:prstGeom prst="rect">
            <a:avLst/>
          </a:prstGeom>
        </p:spPr>
      </p:pic>
      <p:pic>
        <p:nvPicPr>
          <p:cNvPr id="5" name="Picture 4"/>
          <p:cNvPicPr/>
          <p:nvPr/>
        </p:nvPicPr>
        <p:blipFill>
          <a:blip r:embed="rId2"/>
          <a:stretch>
            <a:fillRect/>
          </a:stretch>
        </p:blipFill>
        <p:spPr>
          <a:xfrm>
            <a:off x="6096000" y="5101590"/>
            <a:ext cx="4640580" cy="17570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3185" y="160655"/>
            <a:ext cx="12191365" cy="6598285"/>
          </a:xfrm>
          <a:prstGeom prst="rect">
            <a:avLst/>
          </a:prstGeom>
        </p:spPr>
        <p:txBody>
          <a:bodyPr wrap="square">
            <a:spAutoFit/>
          </a:bodyPr>
          <a:p>
            <a:pPr marL="0" indent="0">
              <a:spcBef>
                <a:spcPct val="0"/>
              </a:spcBef>
              <a:spcAft>
                <a:spcPts val="1000"/>
              </a:spcAft>
            </a:pPr>
            <a:r>
              <a:rPr b="0" i="0">
                <a:solidFill>
                  <a:srgbClr val="001D35"/>
                </a:solidFill>
                <a:latin typeface="Arial" panose="020B0604020202020204" pitchFamily="34" charset="0"/>
                <a:ea typeface="Google Sans"/>
                <a:cs typeface="Arial" panose="020B0604020202020204" pitchFamily="34" charset="0"/>
              </a:rPr>
              <a:t>Huber loss is a robust loss function in deep learning that combines the strengths of Mean Squared Error (MSE) and Mean Absolute Error (MAE), making it less sensitive to outliers than MSE while remaining differentiable. It transitions smoothly between quadratic and linear behavior based on a hyperparameter </a:t>
            </a:r>
            <a:r>
              <a:rPr b="0" i="0">
                <a:solidFill>
                  <a:srgbClr val="001D35"/>
                </a:solidFill>
                <a:latin typeface="Arial" panose="020B0604020202020204" pitchFamily="34" charset="0"/>
                <a:ea typeface="monospace"/>
                <a:cs typeface="Arial" panose="020B0604020202020204" pitchFamily="34" charset="0"/>
              </a:rPr>
              <a:t>δ</a:t>
            </a:r>
            <a:r>
              <a:rPr b="0" i="0">
                <a:solidFill>
                  <a:srgbClr val="001D35"/>
                </a:solidFill>
                <a:latin typeface="Arial" panose="020B0604020202020204" pitchFamily="34" charset="0"/>
                <a:ea typeface="Google Sans"/>
                <a:cs typeface="Arial" panose="020B0604020202020204" pitchFamily="34" charset="0"/>
              </a:rPr>
              <a:t>, penalizing small errors like MSE and large errors like MAE. </a:t>
            </a: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Here's a more detailed explanation</a:t>
            </a:r>
            <a:r>
              <a:rPr sz="1600" b="1" i="0">
                <a:solidFill>
                  <a:srgbClr val="001D35"/>
                </a:solidFill>
                <a:latin typeface="Arial" panose="020B0604020202020204" pitchFamily="34" charset="0"/>
                <a:ea typeface="Google Sans"/>
                <a:cs typeface="Arial" panose="020B0604020202020204" pitchFamily="34" charset="0"/>
              </a:rPr>
              <a:t>:</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Combines MSE and MAE:</a:t>
            </a:r>
            <a:endParaRPr sz="1600" b="1" i="0">
              <a:solidFill>
                <a:srgbClr val="001D35"/>
              </a:solidFill>
              <a:latin typeface="Arial" panose="020B0604020202020204" pitchFamily="34" charset="0"/>
              <a:ea typeface="Google Sans"/>
              <a:cs typeface="Arial" panose="020B0604020202020204" pitchFamily="34" charset="0"/>
            </a:endParaRPr>
          </a:p>
          <a:p>
            <a:pPr marL="0" indent="45720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Huber loss aims to leverage the advantages of both MSE (sensitive to small errors) and MAE (robust to outliers).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Robustness to Outliers:</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By transitioning to a linear (MAE-like) behavior for large errors, Huber loss reduces the influence of outliers, making it more robust than MSE.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Differentiable:</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Unlike MAE, Huber loss is differentiable, which is crucial for using it with gradient-based optimization algorithms.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Hyperparameter </a:t>
            </a:r>
            <a:r>
              <a:rPr sz="1600" b="1" i="0">
                <a:solidFill>
                  <a:srgbClr val="001D35"/>
                </a:solidFill>
                <a:latin typeface="Arial" panose="020B0604020202020204" pitchFamily="34" charset="0"/>
                <a:ea typeface="monospace"/>
                <a:cs typeface="Arial" panose="020B0604020202020204" pitchFamily="34" charset="0"/>
              </a:rPr>
              <a:t>δ</a:t>
            </a:r>
            <a:r>
              <a:rPr sz="1600" b="1" i="0">
                <a:solidFill>
                  <a:srgbClr val="001D35"/>
                </a:solidFill>
                <a:latin typeface="Arial" panose="020B0604020202020204" pitchFamily="34" charset="0"/>
                <a:ea typeface="Google Sans"/>
                <a:cs typeface="Arial" panose="020B0604020202020204" pitchFamily="34" charset="0"/>
              </a:rPr>
              <a:t>:</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The hyperparameter </a:t>
            </a:r>
            <a:r>
              <a:rPr sz="1600" b="0" i="0">
                <a:solidFill>
                  <a:srgbClr val="001D35"/>
                </a:solidFill>
                <a:latin typeface="Arial" panose="020B0604020202020204" pitchFamily="34" charset="0"/>
                <a:ea typeface="monospace"/>
                <a:cs typeface="Arial" panose="020B0604020202020204" pitchFamily="34" charset="0"/>
              </a:rPr>
              <a:t>δ</a:t>
            </a:r>
            <a:r>
              <a:rPr sz="1600" b="0" i="0">
                <a:solidFill>
                  <a:srgbClr val="001D35"/>
                </a:solidFill>
                <a:latin typeface="Arial" panose="020B0604020202020204" pitchFamily="34" charset="0"/>
                <a:ea typeface="Google Sans"/>
                <a:cs typeface="Arial" panose="020B0604020202020204" pitchFamily="34" charset="0"/>
              </a:rPr>
              <a:t> (delta) determines the threshold at which the loss function switches from quadratic (MSE-like) to linear (MAE-like) behavior.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Formula:</a:t>
            </a:r>
            <a:endParaRPr sz="1600" b="1"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When </a:t>
            </a:r>
            <a:r>
              <a:rPr sz="1600" b="0" i="0">
                <a:solidFill>
                  <a:srgbClr val="001D35"/>
                </a:solidFill>
                <a:latin typeface="Arial" panose="020B0604020202020204" pitchFamily="34" charset="0"/>
                <a:ea typeface="monospace"/>
                <a:cs typeface="Arial" panose="020B0604020202020204" pitchFamily="34" charset="0"/>
              </a:rPr>
              <a:t>|y - f(x)| &lt;= δ</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L(y, f(x)) = 0.5 * (y - f(x))^2</a:t>
            </a:r>
            <a:r>
              <a:rPr sz="1600" b="0" i="0">
                <a:solidFill>
                  <a:srgbClr val="001D35"/>
                </a:solidFill>
                <a:latin typeface="Arial" panose="020B0604020202020204" pitchFamily="34" charset="0"/>
                <a:ea typeface="Google Sans"/>
                <a:cs typeface="Arial" panose="020B0604020202020204" pitchFamily="34" charset="0"/>
              </a:rPr>
              <a:t> (quadratic, like MSE)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When </a:t>
            </a:r>
            <a:r>
              <a:rPr sz="1600" b="0" i="0">
                <a:solidFill>
                  <a:srgbClr val="001D35"/>
                </a:solidFill>
                <a:latin typeface="Arial" panose="020B0604020202020204" pitchFamily="34" charset="0"/>
                <a:ea typeface="monospace"/>
                <a:cs typeface="Arial" panose="020B0604020202020204" pitchFamily="34" charset="0"/>
              </a:rPr>
              <a:t>|y - f(x)| &gt; δ</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L(y, f(x)) = δ * (|y - f(x)| - 0.5 * δ)</a:t>
            </a:r>
            <a:r>
              <a:rPr sz="1600" b="0" i="0">
                <a:solidFill>
                  <a:srgbClr val="001D35"/>
                </a:solidFill>
                <a:latin typeface="Arial" panose="020B0604020202020204" pitchFamily="34" charset="0"/>
                <a:ea typeface="Google Sans"/>
                <a:cs typeface="Arial" panose="020B0604020202020204" pitchFamily="34" charset="0"/>
              </a:rPr>
              <a:t> (linear, like MAE)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Where:</a:t>
            </a:r>
            <a:endParaRPr sz="1600" b="0" i="0">
              <a:solidFill>
                <a:srgbClr val="001D35"/>
              </a:solidFill>
              <a:latin typeface="Arial" panose="020B0604020202020204" pitchFamily="34" charset="0"/>
              <a:ea typeface="Google Sans"/>
              <a:cs typeface="Arial" panose="020B0604020202020204" pitchFamily="34" charset="0"/>
            </a:endParaRPr>
          </a:p>
          <a:p>
            <a:pPr marL="457200" lvl="3"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y</a:t>
            </a:r>
            <a:r>
              <a:rPr sz="1600" b="0" i="0">
                <a:solidFill>
                  <a:srgbClr val="001D35"/>
                </a:solidFill>
                <a:latin typeface="Arial" panose="020B0604020202020204" pitchFamily="34" charset="0"/>
                <a:ea typeface="Google Sans"/>
                <a:cs typeface="Arial" panose="020B0604020202020204" pitchFamily="34" charset="0"/>
              </a:rPr>
              <a:t> is the true value</a:t>
            </a:r>
            <a:endParaRPr sz="1600" b="0" i="0">
              <a:solidFill>
                <a:srgbClr val="001D35"/>
              </a:solidFill>
              <a:latin typeface="Arial" panose="020B0604020202020204" pitchFamily="34" charset="0"/>
              <a:ea typeface="Google Sans"/>
              <a:cs typeface="Arial" panose="020B0604020202020204" pitchFamily="34" charset="0"/>
            </a:endParaRPr>
          </a:p>
          <a:p>
            <a:pPr marL="457200" lvl="3" indent="0">
              <a:spcBef>
                <a:spcPct val="0"/>
              </a:spcBef>
              <a:spcAft>
                <a:spcPct val="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f(x)</a:t>
            </a:r>
            <a:r>
              <a:rPr sz="1600" b="0" i="0">
                <a:solidFill>
                  <a:srgbClr val="001D35"/>
                </a:solidFill>
                <a:latin typeface="Arial" panose="020B0604020202020204" pitchFamily="34" charset="0"/>
                <a:ea typeface="Google Sans"/>
                <a:cs typeface="Arial" panose="020B0604020202020204" pitchFamily="34" charset="0"/>
              </a:rPr>
              <a:t> is the predicted value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llustration-of-Huber-loss-functions-for-different-values-of-g-and-e-a-Asymmetric-Huber"/>
          <p:cNvPicPr>
            <a:picLocks noChangeAspect="1"/>
          </p:cNvPicPr>
          <p:nvPr/>
        </p:nvPicPr>
        <p:blipFill>
          <a:blip r:embed="rId1"/>
          <a:stretch>
            <a:fillRect/>
          </a:stretch>
        </p:blipFill>
        <p:spPr>
          <a:xfrm>
            <a:off x="3874770" y="2738755"/>
            <a:ext cx="8096250" cy="3676650"/>
          </a:xfrm>
          <a:prstGeom prst="rect">
            <a:avLst/>
          </a:prstGeom>
        </p:spPr>
      </p:pic>
      <p:sp>
        <p:nvSpPr>
          <p:cNvPr id="2" name="Text Box 1"/>
          <p:cNvSpPr txBox="1"/>
          <p:nvPr/>
        </p:nvSpPr>
        <p:spPr>
          <a:xfrm>
            <a:off x="319405" y="89535"/>
            <a:ext cx="8406130" cy="2809875"/>
          </a:xfrm>
          <a:prstGeom prst="rect">
            <a:avLst/>
          </a:prstGeom>
          <a:noFill/>
        </p:spPr>
        <p:txBody>
          <a:bodyPr wrap="square" rtlCol="0" anchor="t">
            <a:spAutoFit/>
          </a:bodyPr>
          <a:p>
            <a:pPr marL="0" indent="0">
              <a:spcBef>
                <a:spcPct val="0"/>
              </a:spcBef>
              <a:spcAft>
                <a:spcPts val="400"/>
              </a:spcAft>
              <a:buFont typeface="Arial" panose="020B0604020202020204"/>
              <a:buChar char="•"/>
            </a:pPr>
            <a:r>
              <a:rPr sz="1600" b="1">
                <a:solidFill>
                  <a:srgbClr val="001D35"/>
                </a:solidFill>
                <a:latin typeface="Google Sans"/>
                <a:ea typeface="Google Sans"/>
                <a:sym typeface="+mn-ea"/>
              </a:rPr>
              <a:t>When to use:</a:t>
            </a:r>
            <a:endParaRPr sz="1600" b="1" i="0">
              <a:solidFill>
                <a:srgbClr val="001D35"/>
              </a:solidFill>
              <a:latin typeface="Google Sans"/>
              <a:ea typeface="Google Sans"/>
            </a:endParaRPr>
          </a:p>
          <a:p>
            <a:pPr marL="0" indent="457200">
              <a:spcBef>
                <a:spcPct val="0"/>
              </a:spcBef>
              <a:spcAft>
                <a:spcPts val="400"/>
              </a:spcAft>
            </a:pPr>
            <a:r>
              <a:rPr sz="1600">
                <a:solidFill>
                  <a:srgbClr val="001D35"/>
                </a:solidFill>
                <a:latin typeface="Google Sans"/>
                <a:ea typeface="Google Sans"/>
                <a:sym typeface="+mn-ea"/>
              </a:rPr>
              <a:t>Huber loss is particularly useful in regression tasks where the data might contain outliers or when you want a balance between penalizing small and large errors.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a:solidFill>
                  <a:srgbClr val="001D35"/>
                </a:solidFill>
                <a:latin typeface="Google Sans"/>
                <a:ea typeface="Google Sans"/>
                <a:sym typeface="+mn-ea"/>
              </a:rPr>
              <a:t>Advantages:</a:t>
            </a:r>
            <a:endParaRPr sz="1600" b="1" i="0">
              <a:solidFill>
                <a:srgbClr val="001D35"/>
              </a:solidFill>
              <a:latin typeface="Google Sans"/>
              <a:ea typeface="Google Sans"/>
            </a:endParaRPr>
          </a:p>
          <a:p>
            <a:pPr lvl="2" indent="0">
              <a:spcBef>
                <a:spcPct val="0"/>
              </a:spcBef>
              <a:spcAft>
                <a:spcPts val="400"/>
              </a:spcAft>
              <a:buFont typeface="Arial" panose="020B0604020202020204"/>
              <a:buChar char="◦"/>
            </a:pPr>
            <a:r>
              <a:rPr sz="1600">
                <a:solidFill>
                  <a:srgbClr val="001D35"/>
                </a:solidFill>
                <a:latin typeface="Google Sans"/>
                <a:ea typeface="Google Sans"/>
                <a:sym typeface="+mn-ea"/>
              </a:rPr>
              <a:t>Robust to outliers </a:t>
            </a:r>
            <a:endParaRPr sz="1600" b="0" i="0">
              <a:solidFill>
                <a:srgbClr val="001D35"/>
              </a:solidFill>
              <a:latin typeface="Google Sans"/>
              <a:ea typeface="Google Sans"/>
            </a:endParaRPr>
          </a:p>
          <a:p>
            <a:pPr lvl="2" indent="0">
              <a:spcBef>
                <a:spcPct val="0"/>
              </a:spcBef>
              <a:spcAft>
                <a:spcPts val="400"/>
              </a:spcAft>
              <a:buFont typeface="Arial" panose="020B0604020202020204"/>
              <a:buChar char="◦"/>
            </a:pPr>
            <a:r>
              <a:rPr sz="1600">
                <a:solidFill>
                  <a:srgbClr val="001D35"/>
                </a:solidFill>
                <a:latin typeface="Google Sans"/>
                <a:ea typeface="Google Sans"/>
                <a:sym typeface="+mn-ea"/>
              </a:rPr>
              <a:t>Differentiable </a:t>
            </a:r>
            <a:endParaRPr sz="1600" b="0" i="0">
              <a:solidFill>
                <a:srgbClr val="001D35"/>
              </a:solidFill>
              <a:latin typeface="Google Sans"/>
              <a:ea typeface="Google Sans"/>
            </a:endParaRPr>
          </a:p>
          <a:p>
            <a:pPr lvl="2" indent="0">
              <a:spcBef>
                <a:spcPct val="0"/>
              </a:spcBef>
              <a:spcAft>
                <a:spcPct val="0"/>
              </a:spcAft>
              <a:buFont typeface="Arial" panose="020B0604020202020204"/>
              <a:buChar char="◦"/>
            </a:pPr>
            <a:r>
              <a:rPr sz="1600">
                <a:solidFill>
                  <a:srgbClr val="001D35"/>
                </a:solidFill>
                <a:latin typeface="Google Sans"/>
                <a:ea typeface="Google Sans"/>
                <a:sym typeface="+mn-ea"/>
              </a:rPr>
              <a:t>Balances MSE and MAE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a:solidFill>
                  <a:srgbClr val="001D35"/>
                </a:solidFill>
                <a:latin typeface="Google Sans"/>
                <a:ea typeface="Google Sans"/>
                <a:sym typeface="+mn-ea"/>
              </a:rPr>
              <a:t>Disadvantages:</a:t>
            </a:r>
            <a:endParaRPr sz="1600" b="1" i="0">
              <a:solidFill>
                <a:srgbClr val="001D35"/>
              </a:solidFill>
              <a:latin typeface="Google Sans"/>
              <a:ea typeface="Google Sans"/>
            </a:endParaRPr>
          </a:p>
          <a:p>
            <a:pPr lvl="2" indent="0">
              <a:spcBef>
                <a:spcPct val="0"/>
              </a:spcBef>
              <a:spcAft>
                <a:spcPct val="0"/>
              </a:spcAft>
              <a:buFont typeface="Arial" panose="020B0604020202020204"/>
              <a:buChar char="◦"/>
            </a:pPr>
            <a:r>
              <a:rPr sz="1600">
                <a:solidFill>
                  <a:srgbClr val="001D35"/>
                </a:solidFill>
                <a:latin typeface="Google Sans"/>
                <a:ea typeface="Google Sans"/>
                <a:sym typeface="+mn-ea"/>
              </a:rPr>
              <a:t>Requires careful tuning of the hyperparameter </a:t>
            </a:r>
            <a:r>
              <a:rPr sz="1600">
                <a:solidFill>
                  <a:srgbClr val="001D35"/>
                </a:solidFill>
                <a:latin typeface="monospace"/>
                <a:ea typeface="monospace"/>
                <a:sym typeface="+mn-ea"/>
              </a:rPr>
              <a:t>δ</a:t>
            </a:r>
            <a:r>
              <a:rPr sz="1600">
                <a:solidFill>
                  <a:srgbClr val="001D35"/>
                </a:solidFill>
                <a:latin typeface="Google Sans"/>
                <a:ea typeface="Google Sans"/>
                <a:sym typeface="+mn-ea"/>
              </a:rPr>
              <a:t> </a:t>
            </a:r>
            <a:endParaRPr lang="en-US" sz="1600">
              <a:solidFill>
                <a:srgbClr val="001D35"/>
              </a:solidFill>
              <a:latin typeface="Google Sans"/>
              <a:ea typeface="Google Sans"/>
              <a:sym typeface="+mn-ea"/>
            </a:endParaRPr>
          </a:p>
        </p:txBody>
      </p:sp>
      <p:sp>
        <p:nvSpPr>
          <p:cNvPr id="3" name="Text Box 2"/>
          <p:cNvSpPr txBox="1"/>
          <p:nvPr/>
        </p:nvSpPr>
        <p:spPr>
          <a:xfrm>
            <a:off x="225425" y="6347460"/>
            <a:ext cx="11744960" cy="368300"/>
          </a:xfrm>
          <a:prstGeom prst="rect">
            <a:avLst/>
          </a:prstGeom>
          <a:noFill/>
        </p:spPr>
        <p:txBody>
          <a:bodyPr wrap="square" rtlCol="0" anchor="t">
            <a:spAutoFit/>
          </a:bodyPr>
          <a:p>
            <a:r>
              <a:rPr lang="en-US" altLang="en-US"/>
              <a:t>https://medium.com/@devcharlie2698619/understanding-huber-loss-function-insights-from-applications-5c1c5145d2c4</a:t>
            </a:r>
            <a:endParaRPr lang="en-US"/>
          </a:p>
        </p:txBody>
      </p:sp>
      <p:sp>
        <p:nvSpPr>
          <p:cNvPr id="5" name="Text Box 4"/>
          <p:cNvSpPr txBox="1"/>
          <p:nvPr/>
        </p:nvSpPr>
        <p:spPr>
          <a:xfrm>
            <a:off x="120650" y="6047105"/>
            <a:ext cx="11187430" cy="368300"/>
          </a:xfrm>
          <a:prstGeom prst="rect">
            <a:avLst/>
          </a:prstGeom>
          <a:noFill/>
        </p:spPr>
        <p:txBody>
          <a:bodyPr wrap="square" rtlCol="0" anchor="t">
            <a:spAutoFit/>
          </a:bodyPr>
          <a:p>
            <a:r>
              <a:rPr lang="en-US" altLang="en-US"/>
              <a:t>https://fastercapital.com/topics/the-huber-loss-function-and-its-application.html</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62890" y="0"/>
            <a:ext cx="10892790" cy="95059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2. Loss Functions for Classification</a:t>
            </a:r>
            <a:endParaRPr sz="2300" b="1">
              <a:solidFill>
                <a:srgbClr val="FF0000"/>
              </a:solidFill>
              <a:effectLst>
                <a:outerShdw blurRad="38100" dist="38100" dir="2700000" algn="tl">
                  <a:srgbClr val="000000">
                    <a:alpha val="43137"/>
                  </a:srgbClr>
                </a:outerShdw>
              </a:effectLst>
            </a:endParaRPr>
          </a:p>
          <a:p>
            <a:r>
              <a:rPr sz="1600"/>
              <a:t>Classification loss functions measure how different the predicted class probabilities are from actual class labels.</a:t>
            </a:r>
            <a:endParaRPr sz="1600"/>
          </a:p>
        </p:txBody>
      </p:sp>
      <p:sp>
        <p:nvSpPr>
          <p:cNvPr id="7" name="Text Box 6"/>
          <p:cNvSpPr txBox="1"/>
          <p:nvPr/>
        </p:nvSpPr>
        <p:spPr>
          <a:xfrm>
            <a:off x="409575" y="950595"/>
            <a:ext cx="5770245" cy="492442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2.1 Binary Cross-Entropy (Log Loss)</a:t>
            </a:r>
            <a:endParaRPr sz="2300" b="1">
              <a:solidFill>
                <a:srgbClr val="FF0000"/>
              </a:solidFill>
              <a:effectLst>
                <a:outerShdw blurRad="38100" dist="38100" dir="2700000" algn="tl">
                  <a:srgbClr val="000000">
                    <a:alpha val="43137"/>
                  </a:srgbClr>
                </a:outerShdw>
              </a:effectLst>
            </a:endParaRPr>
          </a:p>
          <a:p>
            <a:r>
              <a:rPr sz="1600"/>
              <a:t>Binary Cross-Entropy measures the difference between two probability distributions for binary classification tasks.</a:t>
            </a:r>
            <a:endParaRPr sz="1600"/>
          </a:p>
          <a:p>
            <a:pPr>
              <a:spcAft>
                <a:spcPct val="60000"/>
              </a:spcAft>
            </a:pPr>
            <a:r>
              <a:rPr sz="2200" b="1"/>
              <a:t>📝 Explanation:</a:t>
            </a:r>
            <a:endParaRPr sz="2200" b="1"/>
          </a:p>
          <a:p>
            <a:pPr>
              <a:buFont typeface="Arial" panose="020B0604020202020204"/>
              <a:buChar char="•"/>
            </a:pPr>
            <a:r>
              <a:rPr sz="1600"/>
              <a:t>Encourages correct predictions with high confidence.</a:t>
            </a:r>
            <a:endParaRPr sz="1600"/>
          </a:p>
          <a:p>
            <a:pPr>
              <a:buFont typeface="Arial" panose="020B0604020202020204"/>
              <a:buChar char="•"/>
            </a:pPr>
            <a:r>
              <a:rPr sz="1600"/>
              <a:t>Works well with sigmoid activation functions.</a:t>
            </a:r>
            <a:endParaRPr sz="1600"/>
          </a:p>
          <a:p>
            <a:pPr>
              <a:spcAft>
                <a:spcPct val="60000"/>
              </a:spcAft>
            </a:pPr>
            <a:r>
              <a:rPr sz="2200" b="1"/>
              <a:t>💡 Use Cases:</a:t>
            </a:r>
            <a:endParaRPr sz="2200" b="1"/>
          </a:p>
          <a:p>
            <a:r>
              <a:rPr sz="1600"/>
              <a:t>✔ Spam detection (spam vs. not spam)</a:t>
            </a:r>
            <a:endParaRPr sz="1600"/>
          </a:p>
          <a:p>
            <a:r>
              <a:rPr sz="1600"/>
              <a:t> ✔ Fraud detection</a:t>
            </a:r>
            <a:endParaRPr sz="1600"/>
          </a:p>
          <a:p>
            <a:pPr>
              <a:spcAft>
                <a:spcPct val="60000"/>
              </a:spcAft>
            </a:pPr>
            <a:r>
              <a:rPr sz="2200" b="1"/>
              <a:t>🌎 Real-World Example:</a:t>
            </a:r>
            <a:endParaRPr sz="2200" b="1"/>
          </a:p>
          <a:p>
            <a:pPr>
              <a:buFont typeface="Arial" panose="020B0604020202020204"/>
              <a:buChar char="•"/>
            </a:pPr>
            <a:r>
              <a:rPr sz="1600"/>
              <a:t>Email spam filter predicting the probability of an email being spam.</a:t>
            </a:r>
            <a:endParaRPr sz="1600"/>
          </a:p>
          <a:p>
            <a:pPr>
              <a:buFont typeface="Arial" panose="020B0604020202020204"/>
              <a:buChar char="•"/>
            </a:pPr>
            <a:r>
              <a:rPr sz="1600"/>
              <a:t>If the model predicts 0.9 (90% chance of spam), but it's actually spam (1), the loss will be low.</a:t>
            </a:r>
            <a:endParaRPr sz="1600"/>
          </a:p>
          <a:p>
            <a:pPr>
              <a:spcAft>
                <a:spcPct val="60000"/>
              </a:spcAft>
            </a:pPr>
            <a:endParaRPr sz="1600"/>
          </a:p>
        </p:txBody>
      </p:sp>
      <p:sp>
        <p:nvSpPr>
          <p:cNvPr id="8" name="Text Box 7"/>
          <p:cNvSpPr txBox="1"/>
          <p:nvPr/>
        </p:nvSpPr>
        <p:spPr>
          <a:xfrm>
            <a:off x="6278880" y="1033145"/>
            <a:ext cx="5730240" cy="4498975"/>
          </a:xfrm>
          <a:prstGeom prst="rect">
            <a:avLst/>
          </a:prstGeom>
          <a:noFill/>
        </p:spPr>
        <p:txBody>
          <a:bodyPr wrap="square" rtlCol="0" anchor="t">
            <a:spAutoFit/>
          </a:bodyPr>
          <a:p>
            <a:pPr>
              <a:spcAft>
                <a:spcPct val="60000"/>
              </a:spcAft>
            </a:pPr>
            <a:r>
              <a:rPr sz="2200" b="1">
                <a:sym typeface="+mn-ea"/>
              </a:rPr>
              <a:t>✅ Pros:</a:t>
            </a:r>
            <a:endParaRPr sz="2200" b="1"/>
          </a:p>
          <a:p>
            <a:r>
              <a:rPr sz="1600">
                <a:sym typeface="+mn-ea"/>
              </a:rPr>
              <a:t>✔ Works well for imbalanced datasets with class probabilities.</a:t>
            </a:r>
            <a:endParaRPr sz="1600"/>
          </a:p>
          <a:p>
            <a:pPr>
              <a:spcAft>
                <a:spcPct val="60000"/>
              </a:spcAft>
            </a:pPr>
            <a:r>
              <a:rPr sz="2200" b="1">
                <a:sym typeface="+mn-ea"/>
              </a:rPr>
              <a:t>❌ Cons:</a:t>
            </a:r>
            <a:endParaRPr sz="2200" b="1"/>
          </a:p>
          <a:p>
            <a:r>
              <a:rPr sz="1600">
                <a:sym typeface="+mn-ea"/>
              </a:rPr>
              <a:t>❌ Can lead to very high loss for overconfident wrong predictions.</a:t>
            </a:r>
            <a:endParaRPr sz="1600"/>
          </a:p>
          <a:p>
            <a:pPr>
              <a:spcAft>
                <a:spcPct val="60000"/>
              </a:spcAft>
            </a:pPr>
            <a:r>
              <a:rPr sz="2200" b="1">
                <a:sym typeface="+mn-ea"/>
              </a:rPr>
              <a:t>🛠 How to Overcome:</a:t>
            </a:r>
            <a:endParaRPr sz="2200" b="1"/>
          </a:p>
          <a:p>
            <a:r>
              <a:rPr sz="1600">
                <a:sym typeface="+mn-ea"/>
              </a:rPr>
              <a:t>✔ Use Focal Loss for handling imbalanced datasets.</a:t>
            </a:r>
            <a:endParaRPr sz="1600"/>
          </a:p>
          <a:p>
            <a:pPr>
              <a:spcAft>
                <a:spcPct val="60000"/>
              </a:spcAft>
            </a:pPr>
            <a:r>
              <a:rPr sz="2200" b="1">
                <a:sym typeface="+mn-ea"/>
              </a:rPr>
              <a:t>📍 Where to Use:</a:t>
            </a:r>
            <a:endParaRPr sz="2200" b="1"/>
          </a:p>
          <a:p>
            <a:r>
              <a:rPr sz="1600">
                <a:sym typeface="+mn-ea"/>
              </a:rPr>
              <a:t>✅ Binary classification tasks (fraud detection, sentiment analysis).</a:t>
            </a:r>
            <a:endParaRPr sz="1600"/>
          </a:p>
          <a:p>
            <a:pPr>
              <a:spcAft>
                <a:spcPct val="60000"/>
              </a:spcAft>
            </a:pPr>
            <a:r>
              <a:rPr sz="2200" b="1">
                <a:sym typeface="+mn-ea"/>
              </a:rPr>
              <a:t>💻 Code Implementation:</a:t>
            </a:r>
            <a:endParaRPr sz="2200" b="1"/>
          </a:p>
          <a:p>
            <a:r>
              <a:rPr sz="1600">
                <a:sym typeface="+mn-ea"/>
              </a:rPr>
              <a:t>model.compile(optimizer='adam', loss='binary_crossentropy', metrics=['accuracy'])</a:t>
            </a:r>
            <a:endParaRPr lang="en-US" sz="1600">
              <a:sym typeface="+mn-ea"/>
            </a:endParaRPr>
          </a:p>
        </p:txBody>
      </p:sp>
      <p:pic>
        <p:nvPicPr>
          <p:cNvPr id="9" name="Picture 8"/>
          <p:cNvPicPr/>
          <p:nvPr/>
        </p:nvPicPr>
        <p:blipFill>
          <a:blip r:embed="rId1"/>
          <a:stretch>
            <a:fillRect/>
          </a:stretch>
        </p:blipFill>
        <p:spPr>
          <a:xfrm>
            <a:off x="1408430" y="5712460"/>
            <a:ext cx="7709535" cy="9893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 y="151765"/>
            <a:ext cx="12096115" cy="6062345"/>
          </a:xfrm>
          <a:prstGeom prst="rect">
            <a:avLst/>
          </a:prstGeom>
        </p:spPr>
        <p:txBody>
          <a:bodyPr wrap="square">
            <a:spAutoFit/>
          </a:bodyPr>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Binary Cross-Entropy (BCE), </a:t>
            </a:r>
            <a:r>
              <a:rPr lang="en-US" altLang="en-US" sz="1600" b="0" i="0">
                <a:solidFill>
                  <a:srgbClr val="001D35"/>
                </a:solidFill>
                <a:latin typeface="Arial" panose="020B0604020202020204" pitchFamily="34" charset="0"/>
                <a:ea typeface="Google Sans"/>
                <a:cs typeface="Arial" panose="020B0604020202020204" pitchFamily="34" charset="0"/>
              </a:rPr>
              <a:t>also known as log loss, is a loss function used in machine learning, particularly for binary classification problems, that measures the difference between predicted probabilities and actual binary labels, penalizing incorrect predictions more heavily.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Here's a more detailed explanation:</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What it is:</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Loss Function:</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BCE is a loss function used to quantify the difference between a model's predictions and the true labels in binary classification tasks.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Binary Classification:</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It's specifically designed for problems where there are only two possible outcomes (e.g., 0 or 1, yes or no, true or false).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Logarithmic Nature:</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BCE's logarithmic nature means that it penalizes incorrect predictions more severely, especially when the model is highly confident in a wrong prediction.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Predicted Probabilities:</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The model outputs a probability (between 0 and 1) representing the likelihood of the positive class, and BCE compares these probabilities with the actual binary labels (0 or 1).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Penalties:</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A high predicted probability for the wrong class or a low predicted probability for the correct class results in a higher loss value. </a:t>
            </a:r>
            <a:endParaRPr lang="en-US" altLang="en-US"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298450" y="6214110"/>
            <a:ext cx="10580370" cy="368300"/>
          </a:xfrm>
          <a:prstGeom prst="rect">
            <a:avLst/>
          </a:prstGeom>
          <a:noFill/>
        </p:spPr>
        <p:txBody>
          <a:bodyPr wrap="square" rtlCol="0" anchor="t">
            <a:spAutoFit/>
          </a:bodyPr>
          <a:p>
            <a:r>
              <a:rPr lang="en-US" altLang="en-US"/>
              <a:t>https://www.analyticsvidhya.com/blog/2021/03/binary-cross-entropy-log-loss-for-binary-classification</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170" y="0"/>
            <a:ext cx="12023090" cy="5723890"/>
          </a:xfrm>
          <a:prstGeom prst="rect">
            <a:avLst/>
          </a:prstGeom>
          <a:noFill/>
        </p:spPr>
        <p:txBody>
          <a:bodyPr wrap="square" rtlCol="0" anchor="t">
            <a:spAutoFit/>
          </a:bodyPr>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Why it's used:</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Training Neural Networks:</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BCE is commonly used to train neural networks with a sigmoid activation function in the output layer, as the sigmoid function outputs values between 0 and 1, representing probabilities.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Logistic Regression:</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BCE is also used in logistic regression, a statistical method for predicting the probability of a binary outcome.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Model Performance:</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BCE helps to measure the performance of a classification model and guides the model to improve its accuracy during training by minimizing the dissimilarity between predicted probabilities and true labels.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Penalizing Incorrect Predictions:</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The logarithmic nature of BCE ensures that incorrect predictions are penalized more heavily, which can be crucial in certain applications where misclassification can have significant consequences.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endParaRPr lang="en-US" altLang="en-US" sz="2100">
              <a:solidFill>
                <a:srgbClr val="001D35"/>
              </a:solidFill>
              <a:latin typeface="Arial" panose="020B0604020202020204" pitchFamily="34" charset="0"/>
              <a:ea typeface="Google Sans"/>
              <a:cs typeface="Arial" panose="020B0604020202020204" pitchFamily="34" charset="0"/>
              <a:sym typeface="+mn-ea"/>
            </a:endParaRPr>
          </a:p>
        </p:txBody>
      </p:sp>
      <p:sp>
        <p:nvSpPr>
          <p:cNvPr id="3" name="Text Box 2"/>
          <p:cNvSpPr txBox="1"/>
          <p:nvPr/>
        </p:nvSpPr>
        <p:spPr>
          <a:xfrm>
            <a:off x="497205" y="6035675"/>
            <a:ext cx="6096000" cy="368300"/>
          </a:xfrm>
          <a:prstGeom prst="rect">
            <a:avLst/>
          </a:prstGeom>
          <a:noFill/>
        </p:spPr>
        <p:txBody>
          <a:bodyPr wrap="square" rtlCol="0" anchor="t">
            <a:spAutoFit/>
          </a:bodyPr>
          <a:p>
            <a:r>
              <a:rPr lang="en-US" altLang="en-US"/>
              <a:t>https://gombru.github.io/2018/05/23/cross_entropy_loss/</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8430" y="158115"/>
            <a:ext cx="11915140" cy="6043930"/>
          </a:xfrm>
          <a:prstGeom prst="rect">
            <a:avLst/>
          </a:prstGeom>
        </p:spPr>
        <p:txBody>
          <a:bodyPr wrap="square">
            <a:spAutoFit/>
          </a:bodyPr>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Formula:</a:t>
            </a:r>
            <a:endParaRPr b="1"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The formula for BCE is:</a:t>
            </a:r>
            <a:endParaRPr sz="1200" b="0" i="0">
              <a:solidFill>
                <a:srgbClr val="001D35"/>
              </a:solidFill>
              <a:latin typeface="Arial" panose="020B0604020202020204" pitchFamily="34" charset="0"/>
              <a:ea typeface="Google Sans"/>
              <a:cs typeface="Arial" panose="020B0604020202020204" pitchFamily="34" charset="0"/>
            </a:endParaRPr>
          </a:p>
          <a:p>
            <a:pPr marL="0" indent="0">
              <a:lnSpc>
                <a:spcPts val="1100"/>
              </a:lnSpc>
              <a:spcBef>
                <a:spcPct val="0"/>
              </a:spcBef>
              <a:spcAft>
                <a:spcPct val="0"/>
              </a:spcAft>
            </a:pPr>
            <a:r>
              <a:rPr sz="1200" b="0" i="0">
                <a:solidFill>
                  <a:srgbClr val="001D35"/>
                </a:solidFill>
                <a:latin typeface="Arial" panose="020B0604020202020204" pitchFamily="34" charset="0"/>
                <a:ea typeface="monospace"/>
                <a:cs typeface="Arial" panose="020B0604020202020204" pitchFamily="34" charset="0"/>
              </a:rPr>
              <a:t>L = -(y * log(p) + (1 - y) * log(1 - p))</a:t>
            </a:r>
            <a:endParaRPr sz="1200" b="0" i="0">
              <a:solidFill>
                <a:srgbClr val="001D35"/>
              </a:solidFill>
              <a:latin typeface="Arial" panose="020B0604020202020204" pitchFamily="34" charset="0"/>
              <a:ea typeface="monospace"/>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Where: </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monospace"/>
                <a:cs typeface="Arial" panose="020B0604020202020204" pitchFamily="34" charset="0"/>
              </a:rPr>
              <a:t>L</a:t>
            </a:r>
            <a:r>
              <a:rPr b="0" i="0">
                <a:solidFill>
                  <a:srgbClr val="001D35"/>
                </a:solidFill>
                <a:latin typeface="Arial" panose="020B0604020202020204" pitchFamily="34" charset="0"/>
                <a:ea typeface="Google Sans"/>
                <a:cs typeface="Arial" panose="020B0604020202020204" pitchFamily="34" charset="0"/>
              </a:rPr>
              <a:t> is the binary cross-entropy loss.</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the true binary label (0 or 1).</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the predicted probability of the positive class (between 0 and 1).</a:t>
            </a: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Example:</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If the true label (</a:t>
            </a: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1 and the predicted probability (</a:t>
            </a: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0.9, the loss will be relatively low, indicating a good prediction.</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If the true label (</a:t>
            </a: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0 and the predicted probability (</a:t>
            </a: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0.9, the loss will be high, indicating a poor prediction.</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If the true label (</a:t>
            </a: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1 and the predicted probability (</a:t>
            </a: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0.1, the loss will be high, indicating a poor prediction.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b="1" i="0">
                <a:solidFill>
                  <a:srgbClr val="001D35"/>
                </a:solidFill>
                <a:latin typeface="Arial" panose="020B0604020202020204" pitchFamily="34" charset="0"/>
                <a:ea typeface="Google Sans"/>
                <a:cs typeface="Arial" panose="020B0604020202020204" pitchFamily="34" charset="0"/>
              </a:rPr>
              <a:t>In Summary: </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BCE is a valuable loss function for binary classification tasks, especially when dealing with neural networks and logistic regression models, as it effectively measures the difference between predicted probabilities and true labels, guiding the model towards better performance. </a:t>
            </a:r>
            <a:endParaRPr b="0" i="0">
              <a:solidFill>
                <a:srgbClr val="001D35"/>
              </a:solidFill>
              <a:latin typeface="Arial" panose="020B0604020202020204" pitchFamily="34" charset="0"/>
              <a:ea typeface="Google Sans"/>
              <a:cs typeface="Arial" panose="020B0604020202020204" pitchFamily="34" charset="0"/>
            </a:endParaRPr>
          </a:p>
        </p:txBody>
      </p:sp>
      <p:pic>
        <p:nvPicPr>
          <p:cNvPr id="3" name="Picture 2"/>
          <p:cNvPicPr/>
          <p:nvPr/>
        </p:nvPicPr>
        <p:blipFill>
          <a:blip r:embed="rId1"/>
          <a:stretch>
            <a:fillRect/>
          </a:stretch>
        </p:blipFill>
        <p:spPr>
          <a:xfrm>
            <a:off x="5774055" y="0"/>
            <a:ext cx="5657850" cy="25717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6045" y="100330"/>
            <a:ext cx="5425440" cy="3998595"/>
          </a:xfrm>
          <a:prstGeom prst="rect">
            <a:avLst/>
          </a:prstGeom>
        </p:spPr>
        <p:txBody>
          <a:bodyPr wrap="square">
            <a:spAutoFit/>
          </a:bodyPr>
          <a:p>
            <a:pPr>
              <a:spcAft>
                <a:spcPct val="60000"/>
              </a:spcAft>
            </a:pPr>
            <a:r>
              <a:rPr lang="en-US" sz="2300" b="1">
                <a:solidFill>
                  <a:srgbClr val="FF0000"/>
                </a:solidFill>
                <a:effectLst>
                  <a:outerShdw blurRad="38100" dist="38100" dir="2700000" algn="tl">
                    <a:srgbClr val="000000">
                      <a:alpha val="43137"/>
                    </a:srgbClr>
                  </a:outerShdw>
                </a:effectLst>
              </a:rPr>
              <a:t>2.2</a:t>
            </a:r>
            <a:r>
              <a:rPr sz="2300" b="1">
                <a:solidFill>
                  <a:srgbClr val="FF0000"/>
                </a:solidFill>
                <a:effectLst>
                  <a:outerShdw blurRad="38100" dist="38100" dir="2700000" algn="tl">
                    <a:srgbClr val="000000">
                      <a:alpha val="43137"/>
                    </a:srgbClr>
                  </a:outerShdw>
                </a:effectLst>
              </a:rPr>
              <a:t> Categorical Cross-Entropy (CCE)</a:t>
            </a:r>
            <a:endParaRPr sz="2300" b="1">
              <a:solidFill>
                <a:srgbClr val="FF0000"/>
              </a:solidFill>
              <a:effectLst>
                <a:outerShdw blurRad="38100" dist="38100" dir="2700000" algn="tl">
                  <a:srgbClr val="000000">
                    <a:alpha val="43137"/>
                  </a:srgbClr>
                </a:outerShdw>
              </a:effectLst>
            </a:endParaRPr>
          </a:p>
          <a:p>
            <a:r>
              <a:rPr sz="1600"/>
              <a:t>Categorical Cross-Entropy (CCE) calculates the difference between predicted and actual class probabilities for multi-class classification. It expects the true labels in one-hot encoded format.</a:t>
            </a:r>
            <a:endParaRPr sz="1600"/>
          </a:p>
          <a:p>
            <a:pPr>
              <a:spcAft>
                <a:spcPct val="60000"/>
              </a:spcAft>
            </a:pPr>
            <a:r>
              <a:rPr sz="2200" b="1"/>
              <a:t>📝 Explanation:</a:t>
            </a:r>
            <a:endParaRPr sz="2200" b="1"/>
          </a:p>
          <a:p>
            <a:pPr>
              <a:buFont typeface="Arial" panose="020B0604020202020204"/>
              <a:buChar char="•"/>
            </a:pPr>
            <a:r>
              <a:rPr sz="1600"/>
              <a:t>CCE penalizes the model more when it assigns low probability to the correct class.</a:t>
            </a:r>
            <a:endParaRPr sz="1600"/>
          </a:p>
          <a:p>
            <a:pPr>
              <a:buFont typeface="Arial" panose="020B0604020202020204"/>
              <a:buChar char="•"/>
            </a:pPr>
            <a:r>
              <a:rPr sz="1600"/>
              <a:t>Works well when classes are balanced and labels are one-hot encoded.</a:t>
            </a:r>
            <a:endParaRPr sz="1600"/>
          </a:p>
          <a:p>
            <a:pPr>
              <a:buFont typeface="Arial" panose="020B0604020202020204"/>
              <a:buChar char="•"/>
            </a:pPr>
            <a:r>
              <a:rPr sz="1600"/>
              <a:t>Uses softmax activation in the final layer to normalize predictions.</a:t>
            </a:r>
            <a:endParaRPr sz="1600"/>
          </a:p>
          <a:p>
            <a:pPr>
              <a:spcAft>
                <a:spcPct val="60000"/>
              </a:spcAft>
            </a:pPr>
            <a:endParaRPr sz="1600"/>
          </a:p>
        </p:txBody>
      </p:sp>
      <p:sp>
        <p:nvSpPr>
          <p:cNvPr id="3" name="Text Box 2"/>
          <p:cNvSpPr txBox="1"/>
          <p:nvPr/>
        </p:nvSpPr>
        <p:spPr>
          <a:xfrm>
            <a:off x="5450840" y="100965"/>
            <a:ext cx="6740525" cy="6045835"/>
          </a:xfrm>
          <a:prstGeom prst="rect">
            <a:avLst/>
          </a:prstGeom>
          <a:noFill/>
        </p:spPr>
        <p:txBody>
          <a:bodyPr wrap="square" rtlCol="0" anchor="t">
            <a:noAutofit/>
          </a:bodyPr>
          <a:p>
            <a:pPr>
              <a:spcAft>
                <a:spcPct val="60000"/>
              </a:spcAft>
            </a:pPr>
            <a:r>
              <a:rPr sz="2000" b="1">
                <a:sym typeface="+mn-ea"/>
              </a:rPr>
              <a:t>💡 Use Cases:</a:t>
            </a:r>
            <a:endParaRPr sz="2000" b="1"/>
          </a:p>
          <a:p>
            <a:r>
              <a:rPr sz="1400">
                <a:sym typeface="+mn-ea"/>
              </a:rPr>
              <a:t>✔ Image Classification (e.g., ResNet, VGG, CNN models)</a:t>
            </a:r>
            <a:endParaRPr sz="1400"/>
          </a:p>
          <a:p>
            <a:r>
              <a:rPr sz="1400">
                <a:sym typeface="+mn-ea"/>
              </a:rPr>
              <a:t> ✔ Text Classification (e.g., Sentiment Analysis)</a:t>
            </a:r>
            <a:endParaRPr sz="1400"/>
          </a:p>
          <a:p>
            <a:r>
              <a:rPr sz="1400">
                <a:sym typeface="+mn-ea"/>
              </a:rPr>
              <a:t> ✔ Speech Recognition</a:t>
            </a:r>
            <a:endParaRPr sz="1400"/>
          </a:p>
          <a:p>
            <a:pPr>
              <a:spcAft>
                <a:spcPct val="60000"/>
              </a:spcAft>
            </a:pPr>
            <a:r>
              <a:rPr sz="2000" b="1">
                <a:sym typeface="+mn-ea"/>
              </a:rPr>
              <a:t>🌎 Real-World Example:</a:t>
            </a:r>
            <a:endParaRPr sz="2000" b="1"/>
          </a:p>
          <a:p>
            <a:r>
              <a:rPr sz="1400">
                <a:sym typeface="+mn-ea"/>
              </a:rPr>
              <a:t>Consider classifying an image into one of three categories: Dog, Cat, or Bird.</a:t>
            </a:r>
            <a:endParaRPr sz="1400"/>
          </a:p>
          <a:p>
            <a:pPr>
              <a:buFont typeface="Arial" panose="020B0604020202020204"/>
              <a:buChar char="•"/>
            </a:pPr>
            <a:r>
              <a:rPr sz="1400">
                <a:sym typeface="+mn-ea"/>
              </a:rPr>
              <a:t>Actual label (one-hot encoded): [0, 1, 0] (It’s a cat).</a:t>
            </a:r>
            <a:endParaRPr sz="1400"/>
          </a:p>
          <a:p>
            <a:pPr>
              <a:buFont typeface="Arial" panose="020B0604020202020204"/>
              <a:buChar char="•"/>
            </a:pPr>
            <a:r>
              <a:rPr sz="1400">
                <a:sym typeface="+mn-ea"/>
              </a:rPr>
              <a:t>Model prediction (softmax output): [0.1, 0.8, 0.1] (80% chance it’s a cat).</a:t>
            </a:r>
            <a:endParaRPr sz="1400"/>
          </a:p>
          <a:p>
            <a:pPr>
              <a:buFont typeface="Arial" panose="020B0604020202020204"/>
              <a:buChar char="•"/>
            </a:pPr>
            <a:r>
              <a:rPr sz="1400">
                <a:sym typeface="+mn-ea"/>
              </a:rPr>
              <a:t>Loss is low because the predicted probability for the correct class (Cat) is high.</a:t>
            </a:r>
            <a:endParaRPr sz="1400"/>
          </a:p>
          <a:p>
            <a:pPr>
              <a:spcAft>
                <a:spcPct val="60000"/>
              </a:spcAft>
            </a:pPr>
            <a:r>
              <a:rPr sz="2000" b="1">
                <a:sym typeface="+mn-ea"/>
              </a:rPr>
              <a:t>✅ Pros:</a:t>
            </a:r>
            <a:endParaRPr sz="2000" b="1"/>
          </a:p>
          <a:p>
            <a:r>
              <a:rPr sz="1400">
                <a:sym typeface="+mn-ea"/>
              </a:rPr>
              <a:t>✔ Works well for multi-class classification with one-hot encoded labels.</a:t>
            </a:r>
            <a:endParaRPr sz="1400"/>
          </a:p>
          <a:p>
            <a:r>
              <a:rPr sz="1400">
                <a:sym typeface="+mn-ea"/>
              </a:rPr>
              <a:t> ✔ Encourages high confidence predictions for correct classes.</a:t>
            </a:r>
            <a:endParaRPr sz="1400"/>
          </a:p>
          <a:p>
            <a:pPr>
              <a:spcAft>
                <a:spcPct val="60000"/>
              </a:spcAft>
            </a:pPr>
            <a:r>
              <a:rPr sz="2000" b="1">
                <a:sym typeface="+mn-ea"/>
              </a:rPr>
              <a:t>❌ Cons:</a:t>
            </a:r>
            <a:endParaRPr sz="2000" b="1"/>
          </a:p>
          <a:p>
            <a:r>
              <a:rPr sz="1400">
                <a:sym typeface="+mn-ea"/>
              </a:rPr>
              <a:t>❌ Requires one-hot encoding, which increases memory usage for large datasets.</a:t>
            </a:r>
            <a:endParaRPr sz="1400"/>
          </a:p>
          <a:p>
            <a:pPr>
              <a:spcAft>
                <a:spcPct val="60000"/>
              </a:spcAft>
            </a:pPr>
            <a:r>
              <a:rPr sz="2000" b="1">
                <a:sym typeface="+mn-ea"/>
              </a:rPr>
              <a:t>🛠 How to Overcome:</a:t>
            </a:r>
            <a:endParaRPr sz="2000" b="1"/>
          </a:p>
          <a:p>
            <a:r>
              <a:rPr sz="1400">
                <a:sym typeface="+mn-ea"/>
              </a:rPr>
              <a:t>✔ If labels are integers instead of one-hot encoded, use Sparse Categorical Cross-Entropy instead.</a:t>
            </a:r>
            <a:endParaRPr sz="1400"/>
          </a:p>
          <a:p>
            <a:pPr>
              <a:spcAft>
                <a:spcPct val="60000"/>
              </a:spcAft>
            </a:pPr>
            <a:r>
              <a:rPr sz="2000" b="1">
                <a:sym typeface="+mn-ea"/>
              </a:rPr>
              <a:t>📍 Where to Use:</a:t>
            </a:r>
            <a:endParaRPr sz="2000" b="1"/>
          </a:p>
          <a:p>
            <a:r>
              <a:rPr sz="1400">
                <a:sym typeface="+mn-ea"/>
              </a:rPr>
              <a:t>✅ When labels are in one-hot encoded format.</a:t>
            </a:r>
            <a:endParaRPr sz="1400"/>
          </a:p>
          <a:p>
            <a:endParaRPr lang="en-US" sz="1400">
              <a:sym typeface="+mn-ea"/>
            </a:endParaRPr>
          </a:p>
        </p:txBody>
      </p:sp>
      <p:sp>
        <p:nvSpPr>
          <p:cNvPr id="4" name="Text Box 3"/>
          <p:cNvSpPr txBox="1"/>
          <p:nvPr/>
        </p:nvSpPr>
        <p:spPr>
          <a:xfrm>
            <a:off x="5531485" y="6013450"/>
            <a:ext cx="6096000" cy="583565"/>
          </a:xfrm>
          <a:prstGeom prst="rect">
            <a:avLst/>
          </a:prstGeom>
          <a:noFill/>
        </p:spPr>
        <p:txBody>
          <a:bodyPr wrap="square" rtlCol="0" anchor="t">
            <a:spAutoFit/>
          </a:bodyPr>
          <a:p>
            <a:r>
              <a:rPr sz="1600">
                <a:sym typeface="+mn-ea"/>
              </a:rPr>
              <a:t>model.compile(optimizer='adam', loss='categorical_crossentropy', metrics=['accuracy'])</a:t>
            </a:r>
            <a:endParaRPr lang="en-US" sz="1600">
              <a:sym typeface="+mn-ea"/>
            </a:endParaRPr>
          </a:p>
        </p:txBody>
      </p:sp>
      <p:pic>
        <p:nvPicPr>
          <p:cNvPr id="5" name="Picture 4"/>
          <p:cNvPicPr/>
          <p:nvPr/>
        </p:nvPicPr>
        <p:blipFill>
          <a:blip r:embed="rId1"/>
          <a:stretch>
            <a:fillRect/>
          </a:stretch>
        </p:blipFill>
        <p:spPr>
          <a:xfrm>
            <a:off x="248920" y="3916045"/>
            <a:ext cx="4845685" cy="1628775"/>
          </a:xfrm>
          <a:prstGeom prst="rect">
            <a:avLst/>
          </a:prstGeom>
        </p:spPr>
      </p:pic>
      <p:sp>
        <p:nvSpPr>
          <p:cNvPr id="6" name="Text Box 5"/>
          <p:cNvSpPr txBox="1"/>
          <p:nvPr/>
        </p:nvSpPr>
        <p:spPr>
          <a:xfrm>
            <a:off x="106045" y="5398135"/>
            <a:ext cx="5280660" cy="1198880"/>
          </a:xfrm>
          <a:prstGeom prst="rect">
            <a:avLst/>
          </a:prstGeom>
          <a:noFill/>
        </p:spPr>
        <p:txBody>
          <a:bodyPr wrap="square" rtlCol="0" anchor="t">
            <a:spAutoFit/>
          </a:bodyPr>
          <a:p>
            <a:pPr marL="0" indent="0">
              <a:spcBef>
                <a:spcPct val="0"/>
              </a:spcBef>
              <a:spcAft>
                <a:spcPts val="1000"/>
              </a:spcAft>
            </a:pPr>
            <a:r>
              <a:rPr sz="1200">
                <a:solidFill>
                  <a:srgbClr val="001D35"/>
                </a:solidFill>
                <a:latin typeface="Arial" panose="020B0604020202020204" pitchFamily="34" charset="0"/>
                <a:ea typeface="Google Sans"/>
                <a:cs typeface="Arial" panose="020B0604020202020204" pitchFamily="34" charset="0"/>
                <a:sym typeface="+mn-ea"/>
              </a:rPr>
              <a:t>Categorical Cross-Entropy (CCE), also known as Softmax Loss, is a loss function used in deep learning for multi-class classification problems where the output can be one of several mutually exclusive classes. It measures the difference between the predicted probability distribution and the true (one-hot encoded) distribution, guiding the model to minimize errors during training. </a:t>
            </a:r>
            <a:endParaRPr lang="en-US" sz="1200">
              <a:solidFill>
                <a:srgbClr val="001D35"/>
              </a:solidFill>
              <a:latin typeface="Arial" panose="020B0604020202020204" pitchFamily="34" charset="0"/>
              <a:ea typeface="Google Sans"/>
              <a:cs typeface="Arial" panose="020B0604020202020204" pitchFamily="34" charset="0"/>
              <a:sym typeface="+mn-ea"/>
            </a:endParaRPr>
          </a:p>
        </p:txBody>
      </p:sp>
      <p:sp>
        <p:nvSpPr>
          <p:cNvPr id="7" name="Text Box 6"/>
          <p:cNvSpPr txBox="1"/>
          <p:nvPr/>
        </p:nvSpPr>
        <p:spPr>
          <a:xfrm>
            <a:off x="106045" y="6489700"/>
            <a:ext cx="8771255" cy="368300"/>
          </a:xfrm>
          <a:prstGeom prst="rect">
            <a:avLst/>
          </a:prstGeom>
          <a:noFill/>
        </p:spPr>
        <p:txBody>
          <a:bodyPr wrap="square" rtlCol="0" anchor="t">
            <a:spAutoFit/>
          </a:bodyPr>
          <a:p>
            <a:r>
              <a:rPr lang="en-US" altLang="en-US"/>
              <a:t>https://www.geeksforgeeks.org/categorical-cross-entropy-in-multi-class-classification/</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170" y="95250"/>
            <a:ext cx="12011025" cy="6433820"/>
          </a:xfrm>
          <a:prstGeom prst="rect">
            <a:avLst/>
          </a:prstGeom>
        </p:spPr>
        <p:txBody>
          <a:bodyPr wrap="square">
            <a:spAutoFit/>
          </a:bodyPr>
          <a:p>
            <a:pPr marL="0" indent="0">
              <a:spcBef>
                <a:spcPts val="1000"/>
              </a:spcBef>
              <a:spcAft>
                <a:spcPts val="500"/>
              </a:spcAft>
            </a:pPr>
            <a:r>
              <a:rPr sz="1600" b="1" i="0">
                <a:solidFill>
                  <a:srgbClr val="FF0000"/>
                </a:solidFill>
                <a:effectLst>
                  <a:outerShdw blurRad="38100" dist="38100" dir="2700000" algn="tl">
                    <a:srgbClr val="000000">
                      <a:alpha val="43137"/>
                    </a:srgbClr>
                  </a:outerShdw>
                </a:effectLst>
                <a:latin typeface="Google Sans"/>
                <a:ea typeface="Google Sans"/>
              </a:rPr>
              <a:t>Here's a more detailed explanation:</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Multi-class Classification:</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CCE is specifically designed for scenarios where the model needs to predict one class from a set of multiple options (e.g., classifying images into different objects).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One-Hot Encoding:</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The true labels (ground truth) are typically represented in a one-hot encoded format, where a vector contains '1' for the correct class and '0' for all others.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Probability Distributions:</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CCE compares the predicted probability distribution (outputted by a softmax activation function) with the true one-hot encoded distribution.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Loss Calculation:</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The loss is calculated by summing the negative log-likelihoods of the predicted probabilities for the correct classes.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Softmax Activation:</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CCE is often used in conjunction with a softmax activation function, which outputs a probability distribution over the classes.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Minimizing Loss:</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During training, the model adjusts its weights to minimize the CCE loss, thus improving the accuracy of its predictions.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i="0">
                <a:solidFill>
                  <a:srgbClr val="001D35"/>
                </a:solidFill>
                <a:latin typeface="Google Sans"/>
                <a:ea typeface="Google Sans"/>
              </a:rPr>
              <a:t>Sparse Categorical Cross-Entropy:</a:t>
            </a:r>
            <a:endParaRPr sz="1600" b="1" i="0">
              <a:solidFill>
                <a:srgbClr val="001D35"/>
              </a:solidFill>
              <a:latin typeface="Google Sans"/>
              <a:ea typeface="Google Sans"/>
            </a:endParaRPr>
          </a:p>
          <a:p>
            <a:pPr marL="457200" lvl="1" indent="0">
              <a:spcBef>
                <a:spcPct val="0"/>
              </a:spcBef>
              <a:spcAft>
                <a:spcPct val="0"/>
              </a:spcAft>
            </a:pPr>
            <a:r>
              <a:rPr sz="1600" b="0" i="0">
                <a:solidFill>
                  <a:srgbClr val="001D35"/>
                </a:solidFill>
                <a:latin typeface="Google Sans"/>
                <a:ea typeface="Google Sans"/>
              </a:rPr>
              <a:t>An alternative to CCE is Sparse Categorical Cross-Entropy. The difference between the two is in how the truth labels are defined. Categorical Cross-Entropy expects the true labels to be one-hot encoded, while Sparse Categorical Cross-Entropy expects the labels to be integers representing the class indices. </a:t>
            </a:r>
            <a:endParaRPr sz="1600" b="0" i="0">
              <a:solidFill>
                <a:srgbClr val="001D35"/>
              </a:solidFill>
              <a:latin typeface="Google Sans"/>
              <a:ea typeface="Google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5890" y="108585"/>
            <a:ext cx="5560695" cy="6520180"/>
          </a:xfrm>
          <a:prstGeom prst="rect">
            <a:avLst/>
          </a:prstGeom>
        </p:spPr>
        <p:txBody>
          <a:bodyPr wrap="square">
            <a:spAutoFit/>
          </a:bodyPr>
          <a:p>
            <a:pPr>
              <a:spcAft>
                <a:spcPct val="60000"/>
              </a:spcAft>
            </a:pPr>
            <a:r>
              <a:rPr sz="2000" b="1">
                <a:solidFill>
                  <a:srgbClr val="FF0000"/>
                </a:solidFill>
                <a:effectLst>
                  <a:outerShdw blurRad="38100" dist="38100" dir="2700000" algn="tl">
                    <a:srgbClr val="000000">
                      <a:alpha val="43137"/>
                    </a:srgbClr>
                  </a:outerShdw>
                </a:effectLst>
              </a:rPr>
              <a:t>2. Sparse Categorical Cross-Entropy (SCCE)</a:t>
            </a:r>
            <a:endParaRPr sz="2000" b="1">
              <a:solidFill>
                <a:srgbClr val="FF0000"/>
              </a:solidFill>
              <a:effectLst>
                <a:outerShdw blurRad="38100" dist="38100" dir="2700000" algn="tl">
                  <a:srgbClr val="000000">
                    <a:alpha val="43137"/>
                  </a:srgbClr>
                </a:outerShdw>
              </a:effectLst>
            </a:endParaRPr>
          </a:p>
          <a:p>
            <a:pPr>
              <a:spcAft>
                <a:spcPct val="60000"/>
              </a:spcAft>
            </a:pPr>
            <a:r>
              <a:rPr sz="2000" b="1"/>
              <a:t>📖 Definition:</a:t>
            </a:r>
            <a:endParaRPr sz="2000" b="1"/>
          </a:p>
          <a:p>
            <a:r>
              <a:rPr sz="1400"/>
              <a:t>Sparse Categorical Cross-Entropy (SCCE) is the same as Categorical Cross-Entropy, but it works when</a:t>
            </a:r>
            <a:r>
              <a:rPr sz="1400" b="1"/>
              <a:t> labels are integers instead of one-hot encoded vectors.</a:t>
            </a:r>
            <a:endParaRPr sz="1400" b="1"/>
          </a:p>
          <a:p>
            <a:pPr>
              <a:spcAft>
                <a:spcPct val="60000"/>
              </a:spcAft>
            </a:pPr>
            <a:r>
              <a:rPr sz="2000" b="1"/>
              <a:t>📌 Formula:</a:t>
            </a:r>
            <a:endParaRPr sz="2000" b="1"/>
          </a:p>
          <a:p>
            <a:r>
              <a:rPr sz="1400"/>
              <a:t>Same as CCE, but instead of using one-hot encoded labels, it directly uses integer class labels.</a:t>
            </a:r>
            <a:endParaRPr sz="1400"/>
          </a:p>
          <a:p>
            <a:pPr>
              <a:spcAft>
                <a:spcPct val="60000"/>
              </a:spcAft>
            </a:pPr>
            <a:r>
              <a:rPr sz="2000" b="1"/>
              <a:t>📝 Explanation:</a:t>
            </a:r>
            <a:endParaRPr sz="2000" b="1"/>
          </a:p>
          <a:p>
            <a:pPr>
              <a:buFont typeface="Arial" panose="020B0604020202020204"/>
              <a:buChar char="•"/>
            </a:pPr>
            <a:r>
              <a:rPr sz="1400"/>
              <a:t>Instead of [0, 1, 0], labels are stored as 1 (just the class index).</a:t>
            </a:r>
            <a:endParaRPr sz="1400"/>
          </a:p>
          <a:p>
            <a:pPr>
              <a:buFont typeface="Arial" panose="020B0604020202020204"/>
              <a:buChar char="•"/>
            </a:pPr>
            <a:r>
              <a:rPr sz="1400"/>
              <a:t>Useful when dealing with many classes, as it saves memory.</a:t>
            </a:r>
            <a:endParaRPr sz="1400"/>
          </a:p>
          <a:p>
            <a:pPr>
              <a:buFont typeface="Arial" panose="020B0604020202020204"/>
              <a:buChar char="•"/>
            </a:pPr>
            <a:r>
              <a:rPr sz="1400"/>
              <a:t>Still uses softmax activation for probability distribution.</a:t>
            </a:r>
            <a:endParaRPr sz="1400"/>
          </a:p>
          <a:p>
            <a:pPr>
              <a:spcAft>
                <a:spcPct val="60000"/>
              </a:spcAft>
            </a:pPr>
            <a:r>
              <a:rPr sz="2000" b="1"/>
              <a:t>💡 Use Cases:</a:t>
            </a:r>
            <a:endParaRPr sz="2000" b="1"/>
          </a:p>
          <a:p>
            <a:r>
              <a:rPr sz="1400"/>
              <a:t>✔ Large multi-class classification problems (e.g., ImageNet dataset with 1,000+ categories).</a:t>
            </a:r>
            <a:endParaRPr sz="1400"/>
          </a:p>
          <a:p>
            <a:r>
              <a:rPr sz="1400"/>
              <a:t> ✔ Natural Language Processing (NLP) models (e.g., Word embeddings).</a:t>
            </a:r>
            <a:endParaRPr sz="1400"/>
          </a:p>
          <a:p>
            <a:pPr>
              <a:spcAft>
                <a:spcPct val="60000"/>
              </a:spcAft>
            </a:pPr>
            <a:r>
              <a:rPr sz="2000" b="1"/>
              <a:t>🌎 Real-World Example:</a:t>
            </a:r>
            <a:endParaRPr sz="2000" b="1"/>
          </a:p>
          <a:p>
            <a:r>
              <a:rPr sz="1400"/>
              <a:t>Classifying an image as Dog (0), Cat (1), or Bird (2).</a:t>
            </a:r>
            <a:endParaRPr sz="1400"/>
          </a:p>
          <a:p>
            <a:pPr>
              <a:buFont typeface="Arial" panose="020B0604020202020204"/>
              <a:buChar char="•"/>
            </a:pPr>
            <a:r>
              <a:rPr sz="1400"/>
              <a:t>Actual label:1 (Cat) instead of [0, 1, 0].</a:t>
            </a:r>
            <a:endParaRPr sz="1400"/>
          </a:p>
          <a:p>
            <a:pPr>
              <a:buFont typeface="Arial" panose="020B0604020202020204"/>
              <a:buChar char="•"/>
            </a:pPr>
            <a:r>
              <a:rPr sz="1400"/>
              <a:t>Predicted probabilities:[0.1, 0.8, 0.1].</a:t>
            </a:r>
            <a:endParaRPr sz="1400"/>
          </a:p>
          <a:p>
            <a:pPr>
              <a:buFont typeface="Arial" panose="020B0604020202020204"/>
              <a:buChar char="•"/>
            </a:pPr>
            <a:r>
              <a:rPr sz="1400"/>
              <a:t>Loss is still low because the probability for index 1 (Cat) is high.</a:t>
            </a:r>
            <a:endParaRPr sz="1400"/>
          </a:p>
        </p:txBody>
      </p:sp>
      <p:sp>
        <p:nvSpPr>
          <p:cNvPr id="3" name="Text Box 2"/>
          <p:cNvSpPr txBox="1"/>
          <p:nvPr/>
        </p:nvSpPr>
        <p:spPr>
          <a:xfrm>
            <a:off x="6493510" y="0"/>
            <a:ext cx="5080000" cy="6068695"/>
          </a:xfrm>
          <a:prstGeom prst="rect">
            <a:avLst/>
          </a:prstGeom>
        </p:spPr>
        <p:txBody>
          <a:bodyPr>
            <a:spAutoFit/>
          </a:bodyPr>
          <a:p>
            <a:pPr>
              <a:spcAft>
                <a:spcPct val="60000"/>
              </a:spcAft>
            </a:pPr>
            <a:r>
              <a:rPr sz="2200" b="1"/>
              <a:t>Pros:</a:t>
            </a:r>
            <a:endParaRPr sz="2200" b="1"/>
          </a:p>
          <a:p>
            <a:r>
              <a:rPr sz="1600"/>
              <a:t>✔ More memory efficient than CCE because it doesn't require one-hot encoding.</a:t>
            </a:r>
            <a:endParaRPr sz="1600"/>
          </a:p>
          <a:p>
            <a:r>
              <a:rPr sz="1600"/>
              <a:t> ✔ Works best for large datasets with many categories.</a:t>
            </a:r>
            <a:endParaRPr sz="1600"/>
          </a:p>
          <a:p>
            <a:pPr>
              <a:spcAft>
                <a:spcPct val="60000"/>
              </a:spcAft>
            </a:pPr>
            <a:r>
              <a:rPr sz="2200" b="1"/>
              <a:t>❌ Cons:</a:t>
            </a:r>
            <a:endParaRPr sz="2200" b="1"/>
          </a:p>
          <a:p>
            <a:r>
              <a:rPr sz="1600"/>
              <a:t>❌ Cannot be used if labels are already one-hot encoded.</a:t>
            </a:r>
            <a:endParaRPr sz="1600"/>
          </a:p>
          <a:p>
            <a:pPr>
              <a:spcAft>
                <a:spcPct val="60000"/>
              </a:spcAft>
            </a:pPr>
            <a:r>
              <a:rPr sz="2200" b="1"/>
              <a:t>🛠 How to Overcome:</a:t>
            </a:r>
            <a:endParaRPr sz="2200" b="1"/>
          </a:p>
          <a:p>
            <a:r>
              <a:rPr sz="1600"/>
              <a:t>✔ If labels are one-hot encoded, use Categorical Cross-Entropy instead.</a:t>
            </a:r>
            <a:endParaRPr sz="1600"/>
          </a:p>
          <a:p>
            <a:pPr>
              <a:spcAft>
                <a:spcPct val="60000"/>
              </a:spcAft>
            </a:pPr>
            <a:r>
              <a:rPr sz="2200" b="1"/>
              <a:t>📍 Where to Use:</a:t>
            </a:r>
            <a:endParaRPr sz="2200" b="1"/>
          </a:p>
          <a:p>
            <a:r>
              <a:rPr sz="1600"/>
              <a:t>✅ When labels are stored as integers (not one-hot encoded).</a:t>
            </a:r>
            <a:endParaRPr sz="1600"/>
          </a:p>
          <a:p>
            <a:pPr>
              <a:spcAft>
                <a:spcPct val="60000"/>
              </a:spcAft>
            </a:pPr>
            <a:r>
              <a:rPr sz="2200" b="1"/>
              <a:t>💻 Code Implementation (TensorFlow/Keras):</a:t>
            </a:r>
            <a:endParaRPr sz="2200" b="1"/>
          </a:p>
          <a:p>
            <a:r>
              <a:rPr sz="1600"/>
              <a:t>model.compile(optimizer='adam', loss='sparse_categorical_crossentropy', metrics=['accuracy'])</a:t>
            </a:r>
            <a:endParaRPr sz="1600"/>
          </a:p>
        </p:txBody>
      </p:sp>
      <p:sp>
        <p:nvSpPr>
          <p:cNvPr id="4" name="Text Box 3"/>
          <p:cNvSpPr txBox="1"/>
          <p:nvPr/>
        </p:nvSpPr>
        <p:spPr>
          <a:xfrm>
            <a:off x="5709285" y="5983605"/>
            <a:ext cx="6096000" cy="645160"/>
          </a:xfrm>
          <a:prstGeom prst="rect">
            <a:avLst/>
          </a:prstGeom>
          <a:noFill/>
        </p:spPr>
        <p:txBody>
          <a:bodyPr wrap="square" rtlCol="0" anchor="t">
            <a:spAutoFit/>
          </a:bodyPr>
          <a:p>
            <a:r>
              <a:rPr lang="en-US" altLang="en-US"/>
              <a:t>https://www.geeksforgeeks.org/sparse-categorical-crossentropy-vs-categorical-crossentropy/</a:t>
            </a:r>
            <a:endParaRPr lang="en-US"/>
          </a:p>
        </p:txBody>
      </p:sp>
      <p:sp>
        <p:nvSpPr>
          <p:cNvPr id="5" name="Text Box 4"/>
          <p:cNvSpPr txBox="1"/>
          <p:nvPr/>
        </p:nvSpPr>
        <p:spPr>
          <a:xfrm>
            <a:off x="226060" y="6464300"/>
            <a:ext cx="11819890" cy="645160"/>
          </a:xfrm>
          <a:prstGeom prst="rect">
            <a:avLst/>
          </a:prstGeom>
          <a:noFill/>
        </p:spPr>
        <p:txBody>
          <a:bodyPr wrap="square" rtlCol="0" anchor="t">
            <a:spAutoFit/>
          </a:bodyPr>
          <a:p>
            <a:r>
              <a:rPr lang="en-US" altLang="en-US"/>
              <a:t>https://medium.com/@shireenchand/choosing-between-cross-entropy-and-sparse-cross-entropy-the-only-guide-you-need-abea92c84662</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99390" y="124143"/>
            <a:ext cx="5080000" cy="337185"/>
          </a:xfrm>
          <a:prstGeom prst="rect">
            <a:avLst/>
          </a:prstGeom>
        </p:spPr>
        <p:txBody>
          <a:bodyPr>
            <a:spAutoFit/>
          </a:bodyPr>
          <a:p>
            <a:pPr>
              <a:spcAft>
                <a:spcPct val="60000"/>
              </a:spcAft>
            </a:pPr>
            <a:r>
              <a:rPr sz="1600" b="1"/>
              <a:t> Key Differences:</a:t>
            </a:r>
            <a:endParaRPr sz="1600" b="1"/>
          </a:p>
        </p:txBody>
      </p:sp>
      <p:graphicFrame>
        <p:nvGraphicFramePr>
          <p:cNvPr id="3" name="Table 2"/>
          <p:cNvGraphicFramePr/>
          <p:nvPr/>
        </p:nvGraphicFramePr>
        <p:xfrm>
          <a:off x="199390" y="461328"/>
          <a:ext cx="10485120" cy="491490"/>
        </p:xfrm>
        <a:graphic>
          <a:graphicData uri="http://schemas.openxmlformats.org/drawingml/2006/table">
            <a:tbl>
              <a:tblPr>
                <a:tableStyleId>{3C2FFA5D-87B4-456A-9821-1D502468CF0F}</a:tableStyleId>
              </a:tblPr>
              <a:tblGrid>
                <a:gridCol w="3495040"/>
                <a:gridCol w="3495040"/>
                <a:gridCol w="3495040"/>
              </a:tblGrid>
              <a:tr h="0">
                <a:tc>
                  <a:txBody>
                    <a:bodyPr/>
                    <a:p>
                      <a:pPr algn="l"/>
                      <a:r>
                        <a:rPr sz="2400"/>
                        <a:t>Feature</a:t>
                      </a:r>
                      <a:endParaRPr sz="2400"/>
                    </a:p>
                  </a:txBody>
                  <a:tcPr marL="0" marR="0" marT="0" marB="0" anchor="t" anchorCtr="0"/>
                </a:tc>
                <a:tc>
                  <a:txBody>
                    <a:bodyPr/>
                    <a:p>
                      <a:pPr algn="l"/>
                      <a:r>
                        <a:rPr sz="2400"/>
                        <a:t>Categorical Cross-Entropy</a:t>
                      </a:r>
                      <a:endParaRPr sz="2400"/>
                    </a:p>
                  </a:txBody>
                  <a:tcPr marL="0" marR="0" marT="0" marB="0" anchor="t" anchorCtr="0"/>
                </a:tc>
                <a:tc>
                  <a:txBody>
                    <a:bodyPr/>
                    <a:p>
                      <a:pPr algn="l"/>
                      <a:r>
                        <a:rPr sz="2400"/>
                        <a:t>Sparse Categorical Cross-Entropy</a:t>
                      </a:r>
                      <a:endParaRPr sz="2400"/>
                    </a:p>
                  </a:txBody>
                  <a:tcPr marL="0" marR="0" marT="0" marB="0" anchor="t" anchorCtr="0"/>
                </a:tc>
              </a:tr>
              <a:tr h="0">
                <a:tc>
                  <a:txBody>
                    <a:bodyPr/>
                    <a:p>
                      <a:pPr algn="l"/>
                      <a:r>
                        <a:rPr sz="2400"/>
                        <a:t>Label Format</a:t>
                      </a:r>
                      <a:endParaRPr sz="2400"/>
                    </a:p>
                  </a:txBody>
                  <a:tcPr marL="0" marR="0" marT="0" marB="0" anchor="t" anchorCtr="0"/>
                </a:tc>
                <a:tc>
                  <a:txBody>
                    <a:bodyPr/>
                    <a:p>
                      <a:pPr algn="l"/>
                      <a:r>
                        <a:rPr sz="2400"/>
                        <a:t>One-hot encoded (e.g., [0, 1, 0])</a:t>
                      </a:r>
                      <a:endParaRPr sz="2400"/>
                    </a:p>
                  </a:txBody>
                  <a:tcPr marL="0" marR="0" marT="0" marB="0" anchor="t" anchorCtr="0"/>
                </a:tc>
                <a:tc>
                  <a:txBody>
                    <a:bodyPr/>
                    <a:p>
                      <a:pPr algn="l"/>
                      <a:r>
                        <a:rPr sz="2400"/>
                        <a:t>Integer encoded (e.g., 1)</a:t>
                      </a:r>
                      <a:endParaRPr sz="2400"/>
                    </a:p>
                  </a:txBody>
                  <a:tcPr marL="0" marR="0" marT="0" marB="0" anchor="t" anchorCtr="0"/>
                </a:tc>
              </a:tr>
              <a:tr h="491490">
                <a:tc>
                  <a:txBody>
                    <a:bodyPr/>
                    <a:p>
                      <a:pPr algn="l"/>
                      <a:r>
                        <a:rPr sz="2400"/>
                        <a:t>Memory Usage</a:t>
                      </a:r>
                      <a:endParaRPr sz="2400"/>
                    </a:p>
                  </a:txBody>
                  <a:tcPr marL="0" marR="0" marT="0" marB="0" anchor="t" anchorCtr="0"/>
                </a:tc>
                <a:tc>
                  <a:txBody>
                    <a:bodyPr/>
                    <a:p>
                      <a:pPr algn="l"/>
                      <a:r>
                        <a:rPr sz="2400"/>
                        <a:t>Higher (stores full one-hot vectors)</a:t>
                      </a:r>
                      <a:endParaRPr sz="2400"/>
                    </a:p>
                  </a:txBody>
                  <a:tcPr marL="0" marR="0" marT="0" marB="0" anchor="t" anchorCtr="0"/>
                </a:tc>
                <a:tc>
                  <a:txBody>
                    <a:bodyPr/>
                    <a:p>
                      <a:pPr algn="l"/>
                      <a:r>
                        <a:rPr sz="2400"/>
                        <a:t>Lower (stores a single integer per label)</a:t>
                      </a:r>
                      <a:endParaRPr sz="2400"/>
                    </a:p>
                  </a:txBody>
                  <a:tcPr marL="0" marR="0" marT="0" marB="0" anchor="t" anchorCtr="0"/>
                </a:tc>
              </a:tr>
              <a:tr h="0">
                <a:tc>
                  <a:txBody>
                    <a:bodyPr/>
                    <a:p>
                      <a:pPr algn="l"/>
                      <a:r>
                        <a:rPr sz="2400"/>
                        <a:t>Performance</a:t>
                      </a:r>
                      <a:endParaRPr sz="2400"/>
                    </a:p>
                  </a:txBody>
                  <a:tcPr marL="0" marR="0" marT="0" marB="0" anchor="t" anchorCtr="0"/>
                </a:tc>
                <a:tc>
                  <a:txBody>
                    <a:bodyPr/>
                    <a:p>
                      <a:pPr algn="l"/>
                      <a:r>
                        <a:rPr sz="2400"/>
                        <a:t>Works well for small-medium class sizes</a:t>
                      </a:r>
                      <a:endParaRPr sz="2400"/>
                    </a:p>
                  </a:txBody>
                  <a:tcPr marL="0" marR="0" marT="0" marB="0" anchor="t" anchorCtr="0"/>
                </a:tc>
                <a:tc>
                  <a:txBody>
                    <a:bodyPr/>
                    <a:p>
                      <a:pPr algn="l"/>
                      <a:r>
                        <a:rPr sz="2400"/>
                        <a:t>Best for large class sizes</a:t>
                      </a:r>
                      <a:endParaRPr sz="2400"/>
                    </a:p>
                  </a:txBody>
                  <a:tcPr marL="0" marR="0" marT="0" marB="0" anchor="t" anchorCtr="0"/>
                </a:tc>
              </a:tr>
              <a:tr h="0">
                <a:tc>
                  <a:txBody>
                    <a:bodyPr/>
                    <a:p>
                      <a:pPr algn="l"/>
                      <a:r>
                        <a:rPr sz="2400"/>
                        <a:t>Softmax Needed?</a:t>
                      </a:r>
                      <a:endParaRPr sz="2400"/>
                    </a:p>
                  </a:txBody>
                  <a:tcPr marL="0" marR="0" marT="0" marB="0" anchor="t" anchorCtr="0"/>
                </a:tc>
                <a:tc>
                  <a:txBody>
                    <a:bodyPr/>
                    <a:p>
                      <a:pPr algn="l"/>
                      <a:r>
                        <a:rPr sz="2400"/>
                        <a:t>Yes</a:t>
                      </a:r>
                      <a:endParaRPr sz="2400"/>
                    </a:p>
                  </a:txBody>
                  <a:tcPr marL="0" marR="0" marT="0" marB="0" anchor="t" anchorCtr="0"/>
                </a:tc>
                <a:tc>
                  <a:txBody>
                    <a:bodyPr/>
                    <a:p>
                      <a:pPr algn="l"/>
                      <a:r>
                        <a:rPr sz="2400"/>
                        <a:t>Yes</a:t>
                      </a:r>
                      <a:endParaRPr sz="2400"/>
                    </a:p>
                  </a:txBody>
                  <a:tcPr marL="0" marR="0" marT="0" marB="0" anchor="t" anchorCtr="0"/>
                </a:tc>
              </a:tr>
              <a:tr h="0">
                <a:tc>
                  <a:txBody>
                    <a:bodyPr/>
                    <a:p>
                      <a:pPr algn="l"/>
                      <a:r>
                        <a:rPr sz="2400"/>
                        <a:t>Best For</a:t>
                      </a:r>
                      <a:endParaRPr sz="2400"/>
                    </a:p>
                  </a:txBody>
                  <a:tcPr marL="0" marR="0" marT="0" marB="0" anchor="t" anchorCtr="0"/>
                </a:tc>
                <a:tc>
                  <a:txBody>
                    <a:bodyPr/>
                    <a:p>
                      <a:pPr algn="l"/>
                      <a:r>
                        <a:rPr sz="2400"/>
                        <a:t>Small to medium datasets (e.g., CIFAR-10)</a:t>
                      </a:r>
                      <a:endParaRPr sz="2400"/>
                    </a:p>
                  </a:txBody>
                  <a:tcPr marL="0" marR="0" marT="0" marB="0" anchor="t" anchorCtr="0"/>
                </a:tc>
                <a:tc>
                  <a:txBody>
                    <a:bodyPr/>
                    <a:p>
                      <a:pPr algn="l"/>
                      <a:r>
                        <a:rPr sz="2400"/>
                        <a:t>Large datasets with many classes (e.g., ImageNet)</a:t>
                      </a:r>
                      <a:endParaRPr sz="2400"/>
                    </a:p>
                  </a:txBody>
                  <a:tcPr marL="0" marR="0" marT="0" marB="0" anchor="t" anchorCtr="0"/>
                </a:tc>
              </a:tr>
            </a:tbl>
          </a:graphicData>
        </a:graphic>
      </p:graphicFrame>
      <p:sp>
        <p:nvSpPr>
          <p:cNvPr id="4" name="Text Box 3"/>
          <p:cNvSpPr txBox="1"/>
          <p:nvPr/>
        </p:nvSpPr>
        <p:spPr>
          <a:xfrm>
            <a:off x="345440" y="4638040"/>
            <a:ext cx="9779000" cy="1760220"/>
          </a:xfrm>
          <a:prstGeom prst="rect">
            <a:avLst/>
          </a:prstGeom>
        </p:spPr>
        <p:txBody>
          <a:bodyPr wrap="square">
            <a:spAutoFit/>
          </a:bodyPr>
          <a:p>
            <a:pPr>
              <a:spcAft>
                <a:spcPct val="60000"/>
              </a:spcAft>
            </a:pPr>
            <a:r>
              <a:rPr sz="2800" b="1"/>
              <a:t>Which One Should You Use?</a:t>
            </a:r>
            <a:endParaRPr sz="2800" b="1"/>
          </a:p>
          <a:p>
            <a:pPr>
              <a:buFont typeface="Arial" panose="020B0604020202020204"/>
              <a:buChar char="•"/>
            </a:pPr>
            <a:r>
              <a:rPr sz="2000"/>
              <a:t>If labels are one-hot encoded → Use Categorical Cross-Entropy.</a:t>
            </a:r>
            <a:endParaRPr sz="2000"/>
          </a:p>
          <a:p>
            <a:pPr>
              <a:buFont typeface="Arial" panose="020B0604020202020204"/>
              <a:buChar char="•"/>
            </a:pPr>
            <a:r>
              <a:rPr sz="2000"/>
              <a:t>If labels are integers → Use Sparse Categorical Cross-Entropy.</a:t>
            </a:r>
            <a:endParaRPr sz="2000"/>
          </a:p>
          <a:p>
            <a:pPr>
              <a:buFont typeface="Arial" panose="020B0604020202020204"/>
              <a:buChar char="•"/>
            </a:pPr>
            <a:r>
              <a:rPr sz="2000"/>
              <a:t>For large datasets with many classes → Use Sparse CCE for better memory efficiency.</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37565" y="435928"/>
            <a:ext cx="5080000" cy="2181225"/>
          </a:xfrm>
          <a:prstGeom prst="rect">
            <a:avLst/>
          </a:prstGeom>
        </p:spPr>
        <p:txBody>
          <a:bodyPr>
            <a:spAutoFit/>
          </a:bodyPr>
          <a:p>
            <a:pPr>
              <a:spcAft>
                <a:spcPct val="60000"/>
              </a:spcAft>
            </a:pPr>
            <a:r>
              <a:rPr sz="2300" b="1"/>
              <a:t>More Loss Functions to Explore:</a:t>
            </a:r>
            <a:endParaRPr sz="2300" b="1"/>
          </a:p>
          <a:p>
            <a:pPr lvl="1">
              <a:buFont typeface="Arial" panose="020B0604020202020204"/>
              <a:buChar char="•"/>
            </a:pPr>
            <a:r>
              <a:rPr sz="1600"/>
              <a:t>Categorical Cross-Entropy → Used for multi-class classification.</a:t>
            </a:r>
            <a:endParaRPr sz="1600"/>
          </a:p>
          <a:p>
            <a:pPr lvl="1">
              <a:buFont typeface="Arial" panose="020B0604020202020204"/>
              <a:buChar char="•"/>
            </a:pPr>
            <a:r>
              <a:rPr sz="1600"/>
              <a:t>Sparse Categorical Cross-Entropy → Same as categorical cross-entropy but used for integer labels.</a:t>
            </a:r>
            <a:endParaRPr sz="1600"/>
          </a:p>
          <a:p>
            <a:pPr lvl="1">
              <a:buFont typeface="Arial" panose="020B0604020202020204"/>
              <a:buChar char="•"/>
            </a:pPr>
            <a:r>
              <a:rPr sz="1600"/>
              <a:t>Dice Loss → Used for image segmentation tasks.</a:t>
            </a:r>
            <a:endParaRPr sz="1600"/>
          </a:p>
          <a:p>
            <a:pPr lvl="1">
              <a:buFont typeface="Arial" panose="020B0604020202020204"/>
              <a:buChar char="•"/>
            </a:pPr>
            <a:r>
              <a:rPr sz="1600"/>
              <a:t>Triplet Loss → Used in face recognition models.</a:t>
            </a:r>
            <a:endParaRPr sz="1600"/>
          </a:p>
        </p:txBody>
      </p:sp>
      <p:sp>
        <p:nvSpPr>
          <p:cNvPr id="3" name="Text Box 2"/>
          <p:cNvSpPr txBox="1"/>
          <p:nvPr/>
        </p:nvSpPr>
        <p:spPr>
          <a:xfrm>
            <a:off x="581025" y="3325178"/>
            <a:ext cx="5080000" cy="521970"/>
          </a:xfrm>
          <a:prstGeom prst="rect">
            <a:avLst/>
          </a:prstGeom>
        </p:spPr>
        <p:txBody>
          <a:bodyPr>
            <a:spAutoFit/>
          </a:bodyPr>
          <a:p>
            <a:pPr>
              <a:spcAft>
                <a:spcPct val="60000"/>
              </a:spcAft>
            </a:pPr>
            <a:r>
              <a:rPr sz="2800" b="1"/>
              <a:t>Summary Table</a:t>
            </a:r>
            <a:endParaRPr sz="2800" b="1"/>
          </a:p>
        </p:txBody>
      </p:sp>
      <p:graphicFrame>
        <p:nvGraphicFramePr>
          <p:cNvPr id="4" name="Table 3"/>
          <p:cNvGraphicFramePr/>
          <p:nvPr/>
        </p:nvGraphicFramePr>
        <p:xfrm>
          <a:off x="581025" y="3662363"/>
          <a:ext cx="10485120" cy="0"/>
        </p:xfrm>
        <a:graphic>
          <a:graphicData uri="http://schemas.openxmlformats.org/drawingml/2006/table">
            <a:tbl>
              <a:tblPr/>
              <a:tblGrid>
                <a:gridCol w="2621280"/>
                <a:gridCol w="2621280"/>
                <a:gridCol w="2621280"/>
                <a:gridCol w="2621280"/>
              </a:tblGrid>
              <a:tr h="0">
                <a:tc>
                  <a:txBody>
                    <a:bodyPr/>
                    <a:p>
                      <a:r>
                        <a:rPr sz="1800"/>
                        <a:t>Loss Function</a:t>
                      </a:r>
                      <a:endParaRPr sz="1800"/>
                    </a:p>
                  </a:txBody>
                  <a:tcPr marL="0" marR="0" marT="0" marB="0" anchor="ctr" anchorCtr="0">
                    <a:lnL>
                      <a:noFill/>
                    </a:lnL>
                    <a:lnR>
                      <a:noFill/>
                    </a:lnR>
                    <a:lnT>
                      <a:noFill/>
                    </a:lnT>
                    <a:lnB>
                      <a:noFill/>
                    </a:lnB>
                    <a:noFill/>
                  </a:tcPr>
                </a:tc>
                <a:tc>
                  <a:txBody>
                    <a:bodyPr/>
                    <a:p>
                      <a:r>
                        <a:rPr sz="1800"/>
                        <a:t>Use Case</a:t>
                      </a:r>
                      <a:endParaRPr sz="1800"/>
                    </a:p>
                  </a:txBody>
                  <a:tcPr marL="0" marR="0" marT="0" marB="0" anchor="ctr" anchorCtr="0">
                    <a:lnL>
                      <a:noFill/>
                    </a:lnL>
                    <a:lnR>
                      <a:noFill/>
                    </a:lnR>
                    <a:lnT>
                      <a:noFill/>
                    </a:lnT>
                    <a:lnB>
                      <a:noFill/>
                    </a:lnB>
                    <a:noFill/>
                  </a:tcPr>
                </a:tc>
                <a:tc>
                  <a:txBody>
                    <a:bodyPr/>
                    <a:p>
                      <a:r>
                        <a:rPr sz="1800"/>
                        <a:t>Best For</a:t>
                      </a:r>
                      <a:endParaRPr sz="1800"/>
                    </a:p>
                  </a:txBody>
                  <a:tcPr marL="0" marR="0" marT="0" marB="0" anchor="ctr" anchorCtr="0">
                    <a:lnL>
                      <a:noFill/>
                    </a:lnL>
                    <a:lnR>
                      <a:noFill/>
                    </a:lnR>
                    <a:lnT>
                      <a:noFill/>
                    </a:lnT>
                    <a:lnB>
                      <a:noFill/>
                    </a:lnB>
                    <a:noFill/>
                  </a:tcPr>
                </a:tc>
                <a:tc>
                  <a:txBody>
                    <a:bodyPr/>
                    <a:p>
                      <a:r>
                        <a:rPr sz="1800"/>
                        <a:t>Handling Outliers?</a:t>
                      </a:r>
                      <a:endParaRPr sz="1800"/>
                    </a:p>
                  </a:txBody>
                  <a:tcPr marL="0" marR="0" marT="0" marB="0" anchor="ctr" anchorCtr="0">
                    <a:lnL>
                      <a:noFill/>
                    </a:lnL>
                    <a:lnR>
                      <a:noFill/>
                    </a:lnR>
                    <a:lnT>
                      <a:noFill/>
                    </a:lnT>
                    <a:lnB>
                      <a:noFill/>
                    </a:lnB>
                    <a:noFill/>
                  </a:tcPr>
                </a:tc>
              </a:tr>
              <a:tr h="0">
                <a:tc>
                  <a:txBody>
                    <a:bodyPr/>
                    <a:p>
                      <a:r>
                        <a:rPr sz="1800"/>
                        <a:t>MSE</a:t>
                      </a:r>
                      <a:endParaRPr sz="1800"/>
                    </a:p>
                  </a:txBody>
                  <a:tcPr marL="0" marR="0" marT="0" marB="0" anchor="ctr" anchorCtr="0">
                    <a:lnL>
                      <a:noFill/>
                    </a:lnL>
                    <a:lnR>
                      <a:noFill/>
                    </a:lnR>
                    <a:lnT>
                      <a:noFill/>
                    </a:lnT>
                    <a:lnB>
                      <a:noFill/>
                    </a:lnB>
                    <a:noFill/>
                  </a:tcPr>
                </a:tc>
                <a:tc>
                  <a:txBody>
                    <a:bodyPr/>
                    <a:p>
                      <a:r>
                        <a:rPr sz="1800"/>
                        <a:t>Regression</a:t>
                      </a:r>
                      <a:endParaRPr sz="1800"/>
                    </a:p>
                  </a:txBody>
                  <a:tcPr marL="0" marR="0" marT="0" marB="0" anchor="ctr" anchorCtr="0">
                    <a:lnL>
                      <a:noFill/>
                    </a:lnL>
                    <a:lnR>
                      <a:noFill/>
                    </a:lnR>
                    <a:lnT>
                      <a:noFill/>
                    </a:lnT>
                    <a:lnB>
                      <a:noFill/>
                    </a:lnB>
                    <a:noFill/>
                  </a:tcPr>
                </a:tc>
                <a:tc>
                  <a:txBody>
                    <a:bodyPr/>
                    <a:p>
                      <a:r>
                        <a:rPr sz="1800"/>
                        <a:t>General Predictions</a:t>
                      </a:r>
                      <a:endParaRPr sz="1800"/>
                    </a:p>
                  </a:txBody>
                  <a:tcPr marL="0" marR="0" marT="0" marB="0" anchor="ctr" anchorCtr="0">
                    <a:lnL>
                      <a:noFill/>
                    </a:lnL>
                    <a:lnR>
                      <a:noFill/>
                    </a:lnR>
                    <a:lnT>
                      <a:noFill/>
                    </a:lnT>
                    <a:lnB>
                      <a:noFill/>
                    </a:lnB>
                    <a:noFill/>
                  </a:tcPr>
                </a:tc>
                <a:tc>
                  <a:txBody>
                    <a:bodyPr/>
                    <a:p>
                      <a:r>
                        <a:rPr sz="1800"/>
                        <a:t>❌ No</a:t>
                      </a:r>
                      <a:endParaRPr sz="1800"/>
                    </a:p>
                  </a:txBody>
                  <a:tcPr marL="0" marR="0" marT="0" marB="0" anchor="ctr" anchorCtr="0">
                    <a:lnL>
                      <a:noFill/>
                    </a:lnL>
                    <a:lnR>
                      <a:noFill/>
                    </a:lnR>
                    <a:lnT>
                      <a:noFill/>
                    </a:lnT>
                    <a:lnB>
                      <a:noFill/>
                    </a:lnB>
                    <a:noFill/>
                  </a:tcPr>
                </a:tc>
              </a:tr>
              <a:tr h="0">
                <a:tc>
                  <a:txBody>
                    <a:bodyPr/>
                    <a:p>
                      <a:r>
                        <a:rPr sz="1800"/>
                        <a:t>MAE</a:t>
                      </a:r>
                      <a:endParaRPr sz="1800"/>
                    </a:p>
                  </a:txBody>
                  <a:tcPr marL="0" marR="0" marT="0" marB="0" anchor="ctr" anchorCtr="0">
                    <a:lnL>
                      <a:noFill/>
                    </a:lnL>
                    <a:lnR>
                      <a:noFill/>
                    </a:lnR>
                    <a:lnT>
                      <a:noFill/>
                    </a:lnT>
                    <a:lnB>
                      <a:noFill/>
                    </a:lnB>
                    <a:noFill/>
                  </a:tcPr>
                </a:tc>
                <a:tc>
                  <a:txBody>
                    <a:bodyPr/>
                    <a:p>
                      <a:r>
                        <a:rPr sz="1800"/>
                        <a:t>Regression</a:t>
                      </a:r>
                      <a:endParaRPr sz="1800"/>
                    </a:p>
                  </a:txBody>
                  <a:tcPr marL="0" marR="0" marT="0" marB="0" anchor="ctr" anchorCtr="0">
                    <a:lnL>
                      <a:noFill/>
                    </a:lnL>
                    <a:lnR>
                      <a:noFill/>
                    </a:lnR>
                    <a:lnT>
                      <a:noFill/>
                    </a:lnT>
                    <a:lnB>
                      <a:noFill/>
                    </a:lnB>
                    <a:noFill/>
                  </a:tcPr>
                </a:tc>
                <a:tc>
                  <a:txBody>
                    <a:bodyPr/>
                    <a:p>
                      <a:r>
                        <a:rPr sz="1800"/>
                        <a:t>Robust Predictions</a:t>
                      </a:r>
                      <a:endParaRPr sz="1800"/>
                    </a:p>
                  </a:txBody>
                  <a:tcPr marL="0" marR="0" marT="0" marB="0" anchor="ctr" anchorCtr="0">
                    <a:lnL>
                      <a:noFill/>
                    </a:lnL>
                    <a:lnR>
                      <a:noFill/>
                    </a:lnR>
                    <a:lnT>
                      <a:noFill/>
                    </a:lnT>
                    <a:lnB>
                      <a:noFill/>
                    </a:lnB>
                    <a:noFill/>
                  </a:tcPr>
                </a:tc>
                <a:tc>
                  <a:txBody>
                    <a:bodyPr/>
                    <a:p>
                      <a:r>
                        <a:rPr sz="1800"/>
                        <a:t>✅ Yes</a:t>
                      </a:r>
                      <a:endParaRPr sz="1800"/>
                    </a:p>
                  </a:txBody>
                  <a:tcPr marL="0" marR="0" marT="0" marB="0" anchor="ctr" anchorCtr="0">
                    <a:lnL>
                      <a:noFill/>
                    </a:lnL>
                    <a:lnR>
                      <a:noFill/>
                    </a:lnR>
                    <a:lnT>
                      <a:noFill/>
                    </a:lnT>
                    <a:lnB>
                      <a:noFill/>
                    </a:lnB>
                    <a:noFill/>
                  </a:tcPr>
                </a:tc>
              </a:tr>
              <a:tr h="0">
                <a:tc>
                  <a:txBody>
                    <a:bodyPr/>
                    <a:p>
                      <a:r>
                        <a:rPr sz="1800"/>
                        <a:t>Huber Loss</a:t>
                      </a:r>
                      <a:endParaRPr sz="1800"/>
                    </a:p>
                  </a:txBody>
                  <a:tcPr marL="0" marR="0" marT="0" marB="0" anchor="ctr" anchorCtr="0">
                    <a:lnL>
                      <a:noFill/>
                    </a:lnL>
                    <a:lnR>
                      <a:noFill/>
                    </a:lnR>
                    <a:lnT>
                      <a:noFill/>
                    </a:lnT>
                    <a:lnB>
                      <a:noFill/>
                    </a:lnB>
                    <a:noFill/>
                  </a:tcPr>
                </a:tc>
                <a:tc>
                  <a:txBody>
                    <a:bodyPr/>
                    <a:p>
                      <a:r>
                        <a:rPr sz="1800"/>
                        <a:t>Regression</a:t>
                      </a:r>
                      <a:endParaRPr sz="1800"/>
                    </a:p>
                  </a:txBody>
                  <a:tcPr marL="0" marR="0" marT="0" marB="0" anchor="ctr" anchorCtr="0">
                    <a:lnL>
                      <a:noFill/>
                    </a:lnL>
                    <a:lnR>
                      <a:noFill/>
                    </a:lnR>
                    <a:lnT>
                      <a:noFill/>
                    </a:lnT>
                    <a:lnB>
                      <a:noFill/>
                    </a:lnB>
                    <a:noFill/>
                  </a:tcPr>
                </a:tc>
                <a:tc>
                  <a:txBody>
                    <a:bodyPr/>
                    <a:p>
                      <a:r>
                        <a:rPr sz="1800"/>
                        <a:t>Noisy Data</a:t>
                      </a:r>
                      <a:endParaRPr sz="1800"/>
                    </a:p>
                  </a:txBody>
                  <a:tcPr marL="0" marR="0" marT="0" marB="0" anchor="ctr" anchorCtr="0">
                    <a:lnL>
                      <a:noFill/>
                    </a:lnL>
                    <a:lnR>
                      <a:noFill/>
                    </a:lnR>
                    <a:lnT>
                      <a:noFill/>
                    </a:lnT>
                    <a:lnB>
                      <a:noFill/>
                    </a:lnB>
                    <a:noFill/>
                  </a:tcPr>
                </a:tc>
                <a:tc>
                  <a:txBody>
                    <a:bodyPr/>
                    <a:p>
                      <a:r>
                        <a:rPr sz="1800"/>
                        <a:t>✅ Yes</a:t>
                      </a:r>
                      <a:endParaRPr sz="1800"/>
                    </a:p>
                  </a:txBody>
                  <a:tcPr marL="0" marR="0" marT="0" marB="0" anchor="ctr" anchorCtr="0">
                    <a:lnL>
                      <a:noFill/>
                    </a:lnL>
                    <a:lnR>
                      <a:noFill/>
                    </a:lnR>
                    <a:lnT>
                      <a:noFill/>
                    </a:lnT>
                    <a:lnB>
                      <a:noFill/>
                    </a:lnB>
                    <a:noFill/>
                  </a:tcPr>
                </a:tc>
              </a:tr>
              <a:tr h="0">
                <a:tc>
                  <a:txBody>
                    <a:bodyPr/>
                    <a:p>
                      <a:r>
                        <a:rPr sz="1800"/>
                        <a:t>Binary Cross-Entropy</a:t>
                      </a:r>
                      <a:endParaRPr sz="1800"/>
                    </a:p>
                  </a:txBody>
                  <a:tcPr marL="0" marR="0" marT="0" marB="0" anchor="ctr" anchorCtr="0">
                    <a:lnL>
                      <a:noFill/>
                    </a:lnL>
                    <a:lnR>
                      <a:noFill/>
                    </a:lnR>
                    <a:lnT>
                      <a:noFill/>
                    </a:lnT>
                    <a:lnB>
                      <a:noFill/>
                    </a:lnB>
                    <a:noFill/>
                  </a:tcPr>
                </a:tc>
                <a:tc>
                  <a:txBody>
                    <a:bodyPr/>
                    <a:p>
                      <a:r>
                        <a:rPr sz="1800"/>
                        <a:t>Binary Classification</a:t>
                      </a:r>
                      <a:endParaRPr sz="1800"/>
                    </a:p>
                  </a:txBody>
                  <a:tcPr marL="0" marR="0" marT="0" marB="0" anchor="ctr" anchorCtr="0">
                    <a:lnL>
                      <a:noFill/>
                    </a:lnL>
                    <a:lnR>
                      <a:noFill/>
                    </a:lnR>
                    <a:lnT>
                      <a:noFill/>
                    </a:lnT>
                    <a:lnB>
                      <a:noFill/>
                    </a:lnB>
                    <a:noFill/>
                  </a:tcPr>
                </a:tc>
                <a:tc>
                  <a:txBody>
                    <a:bodyPr/>
                    <a:p>
                      <a:r>
                        <a:rPr sz="1800"/>
                        <a:t>Probabilistic Outputs</a:t>
                      </a:r>
                      <a:endParaRPr sz="1800"/>
                    </a:p>
                  </a:txBody>
                  <a:tcPr marL="0" marR="0" marT="0" marB="0" anchor="ctr" anchorCtr="0">
                    <a:lnL>
                      <a:noFill/>
                    </a:lnL>
                    <a:lnR>
                      <a:noFill/>
                    </a:lnR>
                    <a:lnT>
                      <a:noFill/>
                    </a:lnT>
                    <a:lnB>
                      <a:noFill/>
                    </a:lnB>
                    <a:noFill/>
                  </a:tcPr>
                </a:tc>
                <a:tc>
                  <a:txBody>
                    <a:bodyPr/>
                    <a:p>
                      <a:r>
                        <a:rPr sz="1800"/>
                        <a:t>❌ No</a:t>
                      </a:r>
                      <a:endParaRPr sz="1800"/>
                    </a:p>
                  </a:txBody>
                  <a:tcPr marL="0" marR="0" marT="0" marB="0" anchor="ctr" anchorCtr="0">
                    <a:lnL>
                      <a:noFill/>
                    </a:lnL>
                    <a:lnR>
                      <a:noFill/>
                    </a:lnR>
                    <a:lnT>
                      <a:noFill/>
                    </a:lnT>
                    <a:lnB>
                      <a:noFill/>
                    </a:lnB>
                    <a:noFill/>
                  </a:tcPr>
                </a:tc>
              </a:tr>
              <a:tr h="0">
                <a:tc>
                  <a:txBody>
                    <a:bodyPr/>
                    <a:p>
                      <a:r>
                        <a:rPr sz="1800"/>
                        <a:t>Categorical Cross-Entropy</a:t>
                      </a:r>
                      <a:endParaRPr sz="1800"/>
                    </a:p>
                  </a:txBody>
                  <a:tcPr marL="0" marR="0" marT="0" marB="0" anchor="ctr" anchorCtr="0">
                    <a:lnL>
                      <a:noFill/>
                    </a:lnL>
                    <a:lnR>
                      <a:noFill/>
                    </a:lnR>
                    <a:lnT>
                      <a:noFill/>
                    </a:lnT>
                    <a:lnB>
                      <a:noFill/>
                    </a:lnB>
                    <a:noFill/>
                  </a:tcPr>
                </a:tc>
                <a:tc>
                  <a:txBody>
                    <a:bodyPr/>
                    <a:p>
                      <a:r>
                        <a:rPr sz="1800"/>
                        <a:t>Multi-Class Classification</a:t>
                      </a:r>
                      <a:endParaRPr sz="1800"/>
                    </a:p>
                  </a:txBody>
                  <a:tcPr marL="0" marR="0" marT="0" marB="0" anchor="ctr" anchorCtr="0">
                    <a:lnL>
                      <a:noFill/>
                    </a:lnL>
                    <a:lnR>
                      <a:noFill/>
                    </a:lnR>
                    <a:lnT>
                      <a:noFill/>
                    </a:lnT>
                    <a:lnB>
                      <a:noFill/>
                    </a:lnB>
                    <a:noFill/>
                  </a:tcPr>
                </a:tc>
                <a:tc>
                  <a:txBody>
                    <a:bodyPr/>
                    <a:p>
                      <a:r>
                        <a:rPr sz="1800"/>
                        <a:t>Image Classification</a:t>
                      </a:r>
                      <a:endParaRPr sz="1800"/>
                    </a:p>
                  </a:txBody>
                  <a:tcPr marL="0" marR="0" marT="0" marB="0" anchor="ctr" anchorCtr="0">
                    <a:lnL>
                      <a:noFill/>
                    </a:lnL>
                    <a:lnR>
                      <a:noFill/>
                    </a:lnR>
                    <a:lnT>
                      <a:noFill/>
                    </a:lnT>
                    <a:lnB>
                      <a:noFill/>
                    </a:lnB>
                    <a:noFill/>
                  </a:tcPr>
                </a:tc>
                <a:tc>
                  <a:txBody>
                    <a:bodyPr/>
                    <a:p>
                      <a:r>
                        <a:rPr sz="1800"/>
                        <a:t>❌ No</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84730" y="2068830"/>
            <a:ext cx="7621905" cy="1014730"/>
          </a:xfrm>
          <a:prstGeom prst="rect">
            <a:avLst/>
          </a:prstGeom>
          <a:noFill/>
        </p:spPr>
        <p:txBody>
          <a:bodyPr wrap="square" rtlCol="0" anchor="t">
            <a:spAutoFit/>
          </a:bodyPr>
          <a:p>
            <a:pPr marL="0" indent="0" fontAlgn="base">
              <a:spcBef>
                <a:spcPct val="0"/>
              </a:spcBef>
              <a:spcAft>
                <a:spcPts val="200"/>
              </a:spcAft>
            </a:pPr>
            <a:r>
              <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Gradient Descent</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791210" y="5802947"/>
            <a:ext cx="5080000" cy="583565"/>
          </a:xfrm>
          <a:prstGeom prst="rect">
            <a:avLst/>
          </a:prstGeom>
        </p:spPr>
        <p:txBody>
          <a:bodyPr>
            <a:spAutoFit/>
          </a:bodyPr>
          <a:p>
            <a:pPr marL="0" indent="0"/>
            <a:r>
              <a:rPr sz="1600" b="0" i="0">
                <a:solidFill>
                  <a:srgbClr val="555770"/>
                </a:solidFill>
                <a:latin typeface="Roboto-Regular"/>
                <a:ea typeface="Roboto-Regular"/>
              </a:rPr>
              <a:t> Revisiting Gradient Descent, Momentum Optimizer, RMSProp, Adam</a:t>
            </a:r>
            <a:endParaRPr sz="1600" b="0" i="0">
              <a:solidFill>
                <a:srgbClr val="555770"/>
              </a:solidFill>
              <a:latin typeface="Roboto-Regular"/>
              <a:ea typeface="Roboto-Regular"/>
            </a:endParaRPr>
          </a:p>
        </p:txBody>
      </p:sp>
      <p:sp>
        <p:nvSpPr>
          <p:cNvPr id="4" name="Text Box 3"/>
          <p:cNvSpPr txBox="1"/>
          <p:nvPr/>
        </p:nvSpPr>
        <p:spPr>
          <a:xfrm>
            <a:off x="2176145" y="4810760"/>
            <a:ext cx="8484235" cy="645160"/>
          </a:xfrm>
          <a:prstGeom prst="rect">
            <a:avLst/>
          </a:prstGeom>
          <a:noFill/>
        </p:spPr>
        <p:txBody>
          <a:bodyPr wrap="square" rtlCol="0" anchor="t">
            <a:spAutoFit/>
          </a:bodyPr>
          <a:p>
            <a:r>
              <a:rPr lang="en-US" altLang="en-US"/>
              <a:t>https://www.geeksforgeeks.org/data-science/what-is-gradient-descent/</a:t>
            </a:r>
            <a:endParaRPr lang="en-US" altLang="en-US"/>
          </a:p>
          <a:p>
            <a:r>
              <a:rPr lang="en-US" altLang="en-US"/>
              <a:t>https://www.geeksforgeeks.org/optimization-rule-in-deep-neural-networks/</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99695" y="6212840"/>
            <a:ext cx="10569575" cy="368300"/>
          </a:xfrm>
          <a:prstGeom prst="rect">
            <a:avLst/>
          </a:prstGeom>
          <a:noFill/>
        </p:spPr>
        <p:txBody>
          <a:bodyPr wrap="square" rtlCol="0" anchor="t">
            <a:spAutoFit/>
          </a:bodyPr>
          <a:p>
            <a:r>
              <a:rPr lang="en-US" altLang="en-US"/>
              <a:t>https://vitalflux.com/gradient-descent-explained-simply-with-examples/</a:t>
            </a:r>
            <a:endParaRPr lang="en-US"/>
          </a:p>
        </p:txBody>
      </p:sp>
      <p:sp>
        <p:nvSpPr>
          <p:cNvPr id="4" name="Text Box 3"/>
          <p:cNvSpPr txBox="1"/>
          <p:nvPr/>
        </p:nvSpPr>
        <p:spPr>
          <a:xfrm>
            <a:off x="503555" y="228918"/>
            <a:ext cx="5080000" cy="398780"/>
          </a:xfrm>
          <a:prstGeom prst="rect">
            <a:avLst/>
          </a:prstGeom>
        </p:spPr>
        <p:txBody>
          <a:bodyPr>
            <a:spAutoFit/>
          </a:bodyPr>
          <a:p>
            <a:pPr marL="0" indent="0" fontAlgn="base">
              <a:spcBef>
                <a:spcPct val="0"/>
              </a:spcBef>
              <a:spcAft>
                <a:spcPts val="200"/>
              </a:spcAft>
            </a:pPr>
            <a:r>
              <a:rPr sz="2000" b="1">
                <a:solidFill>
                  <a:srgbClr val="FF0000"/>
                </a:solidFill>
                <a:effectLst>
                  <a:outerShdw blurRad="38100" dist="38100" dir="2700000" algn="tl">
                    <a:srgbClr val="000000">
                      <a:alpha val="43137"/>
                    </a:srgbClr>
                  </a:outerShdw>
                </a:effectLst>
                <a:latin typeface="Georgia" panose="02040502050405020303"/>
                <a:ea typeface="Georgia" panose="02040502050405020303"/>
              </a:rPr>
              <a:t>Gradient Descent</a:t>
            </a:r>
            <a:endParaRPr sz="2000" b="1">
              <a:solidFill>
                <a:srgbClr val="FF0000"/>
              </a:solidFill>
              <a:effectLst>
                <a:outerShdw blurRad="38100" dist="38100" dir="2700000" algn="tl">
                  <a:srgbClr val="000000">
                    <a:alpha val="43137"/>
                  </a:srgbClr>
                </a:outerShdw>
              </a:effectLst>
              <a:latin typeface="Georgia" panose="02040502050405020303"/>
              <a:ea typeface="Georgia" panose="02040502050405020303"/>
            </a:endParaRPr>
          </a:p>
        </p:txBody>
      </p:sp>
      <p:sp>
        <p:nvSpPr>
          <p:cNvPr id="8" name="Text Box 7"/>
          <p:cNvSpPr txBox="1"/>
          <p:nvPr/>
        </p:nvSpPr>
        <p:spPr>
          <a:xfrm>
            <a:off x="597535" y="566420"/>
            <a:ext cx="10798175" cy="1076325"/>
          </a:xfrm>
          <a:prstGeom prst="rect">
            <a:avLst/>
          </a:prstGeom>
        </p:spPr>
        <p:txBody>
          <a:bodyPr wrap="square">
            <a:spAutoFit/>
          </a:bodyPr>
          <a:p>
            <a:pPr marL="0" indent="0" algn="just"/>
            <a:r>
              <a:rPr sz="1600" b="0" i="0">
                <a:solidFill>
                  <a:srgbClr val="575757"/>
                </a:solidFill>
                <a:latin typeface="Georgia" panose="02040502050405020303"/>
                <a:ea typeface="Georgia" panose="02040502050405020303"/>
              </a:rPr>
              <a:t>The gradient descent algorithm is an </a:t>
            </a:r>
            <a:r>
              <a:rPr sz="1600" b="1" i="0">
                <a:solidFill>
                  <a:srgbClr val="575757"/>
                </a:solidFill>
                <a:latin typeface="Georgia" panose="02040502050405020303"/>
                <a:ea typeface="Georgia" panose="02040502050405020303"/>
              </a:rPr>
              <a:t>optimization algorithm </a:t>
            </a:r>
            <a:r>
              <a:rPr sz="1600" b="0" i="0">
                <a:solidFill>
                  <a:srgbClr val="575757"/>
                </a:solidFill>
                <a:latin typeface="Georgia" panose="02040502050405020303"/>
                <a:ea typeface="Georgia" panose="02040502050405020303"/>
              </a:rPr>
              <a:t>used to </a:t>
            </a:r>
            <a:r>
              <a:rPr sz="1600" b="1" i="0">
                <a:solidFill>
                  <a:srgbClr val="575757"/>
                </a:solidFill>
                <a:latin typeface="Georgia" panose="02040502050405020303"/>
                <a:ea typeface="Georgia" panose="02040502050405020303"/>
              </a:rPr>
              <a:t>minimize an objective function,</a:t>
            </a:r>
            <a:r>
              <a:rPr sz="1600" b="0" i="0">
                <a:solidFill>
                  <a:srgbClr val="575757"/>
                </a:solidFill>
                <a:latin typeface="Georgia" panose="02040502050405020303"/>
                <a:ea typeface="Georgia" panose="02040502050405020303"/>
              </a:rPr>
              <a:t> commonly called the</a:t>
            </a:r>
            <a:r>
              <a:rPr sz="1600" b="0" i="0" u="sng">
                <a:solidFill>
                  <a:srgbClr val="62A6E4"/>
                </a:solidFill>
                <a:latin typeface="Georgia" panose="02040502050405020303"/>
                <a:ea typeface="Georgia" panose="02040502050405020303"/>
                <a:hlinkClick r:id="rId1"/>
              </a:rPr>
              <a:t> </a:t>
            </a:r>
            <a:r>
              <a:rPr sz="1600" b="0" i="0" u="sng">
                <a:solidFill>
                  <a:srgbClr val="62A6E4"/>
                </a:solidFill>
                <a:latin typeface="Georgia" panose="02040502050405020303"/>
                <a:ea typeface="Georgia" panose="02040502050405020303"/>
                <a:hlinkClick r:id="rId1"/>
              </a:rPr>
              <a:t>cost or loss function in machine learning</a:t>
            </a:r>
            <a:r>
              <a:rPr sz="1600" b="0" i="0">
                <a:solidFill>
                  <a:srgbClr val="575757"/>
                </a:solidFill>
                <a:latin typeface="Georgia" panose="02040502050405020303"/>
                <a:ea typeface="Georgia" panose="02040502050405020303"/>
              </a:rPr>
              <a:t>. This cost function is a mathematical function used to calculate loss or error which is the difference between the model’s predicted value and the actual value in the real world for a given input data set.</a:t>
            </a:r>
            <a:endParaRPr sz="1600" b="0" i="0">
              <a:solidFill>
                <a:srgbClr val="575757"/>
              </a:solidFill>
              <a:latin typeface="Georgia" panose="02040502050405020303"/>
              <a:ea typeface="Georgia" panose="02040502050405020303"/>
            </a:endParaRPr>
          </a:p>
        </p:txBody>
      </p:sp>
      <p:sp>
        <p:nvSpPr>
          <p:cNvPr id="9" name="Text Box 8"/>
          <p:cNvSpPr txBox="1"/>
          <p:nvPr/>
        </p:nvSpPr>
        <p:spPr>
          <a:xfrm>
            <a:off x="722630" y="1715135"/>
            <a:ext cx="10286365" cy="337185"/>
          </a:xfrm>
          <a:prstGeom prst="rect">
            <a:avLst/>
          </a:prstGeom>
        </p:spPr>
        <p:txBody>
          <a:bodyPr wrap="square">
            <a:spAutoFit/>
          </a:bodyPr>
          <a:p>
            <a:pPr marL="0" indent="0"/>
            <a:r>
              <a:rPr sz="1600" b="0" i="0">
                <a:solidFill>
                  <a:srgbClr val="575757"/>
                </a:solidFill>
                <a:latin typeface="Georgia" panose="02040502050405020303"/>
                <a:ea typeface="Georgia" panose="02040502050405020303"/>
              </a:rPr>
              <a:t> term “gradient descent” is derived from two key concepts: “</a:t>
            </a:r>
            <a:r>
              <a:rPr sz="1600" b="1" i="0">
                <a:solidFill>
                  <a:srgbClr val="575757"/>
                </a:solidFill>
                <a:latin typeface="Georgia" panose="02040502050405020303"/>
                <a:ea typeface="Georgia" panose="02040502050405020303"/>
              </a:rPr>
              <a:t>gradient</a:t>
            </a:r>
            <a:r>
              <a:rPr sz="1600" b="0" i="0">
                <a:solidFill>
                  <a:srgbClr val="575757"/>
                </a:solidFill>
                <a:latin typeface="Georgia" panose="02040502050405020303"/>
                <a:ea typeface="Georgia" panose="02040502050405020303"/>
              </a:rPr>
              <a:t>” and “</a:t>
            </a:r>
            <a:r>
              <a:rPr sz="1600" b="1" i="0">
                <a:solidFill>
                  <a:srgbClr val="575757"/>
                </a:solidFill>
                <a:latin typeface="Georgia" panose="02040502050405020303"/>
                <a:ea typeface="Georgia" panose="02040502050405020303"/>
              </a:rPr>
              <a:t>descent</a:t>
            </a:r>
            <a:r>
              <a:rPr sz="1600" b="0" i="0">
                <a:solidFill>
                  <a:srgbClr val="575757"/>
                </a:solidFill>
                <a:latin typeface="Georgia" panose="02040502050405020303"/>
                <a:ea typeface="Georgia" panose="02040502050405020303"/>
              </a:rPr>
              <a:t>.”</a:t>
            </a:r>
            <a:endParaRPr sz="1600" b="0" i="0">
              <a:solidFill>
                <a:srgbClr val="575757"/>
              </a:solidFill>
              <a:latin typeface="Georgia" panose="02040502050405020303"/>
              <a:ea typeface="Georgia" panose="02040502050405020303"/>
            </a:endParaRPr>
          </a:p>
        </p:txBody>
      </p:sp>
      <p:sp>
        <p:nvSpPr>
          <p:cNvPr id="10" name="Text Box 9"/>
          <p:cNvSpPr txBox="1"/>
          <p:nvPr/>
        </p:nvSpPr>
        <p:spPr>
          <a:xfrm>
            <a:off x="722630" y="2079625"/>
            <a:ext cx="11017250" cy="1322070"/>
          </a:xfrm>
          <a:prstGeom prst="rect">
            <a:avLst/>
          </a:prstGeom>
        </p:spPr>
        <p:txBody>
          <a:bodyPr wrap="square">
            <a:spAutoFit/>
          </a:bodyPr>
          <a:p>
            <a:pPr marL="0" indent="0" fontAlgn="base">
              <a:spcBef>
                <a:spcPct val="0"/>
              </a:spcBef>
              <a:spcAft>
                <a:spcPct val="0"/>
              </a:spcAft>
              <a:buAutoNum type="arabicPeriod"/>
            </a:pPr>
            <a:r>
              <a:rPr sz="1600" b="1" i="0">
                <a:solidFill>
                  <a:srgbClr val="575757"/>
                </a:solidFill>
                <a:latin typeface="Georgia" panose="02040502050405020303"/>
                <a:ea typeface="Georgia" panose="02040502050405020303"/>
              </a:rPr>
              <a:t>Gradient</a:t>
            </a:r>
            <a:r>
              <a:rPr sz="1600" b="0" i="0">
                <a:solidFill>
                  <a:srgbClr val="575757"/>
                </a:solidFill>
                <a:latin typeface="Georgia" panose="02040502050405020303"/>
                <a:ea typeface="Georgia" panose="02040502050405020303"/>
              </a:rPr>
              <a:t>: In mathematics and physics, the gradient of a function at any point is a </a:t>
            </a:r>
            <a:r>
              <a:rPr sz="1600" b="1" i="0">
                <a:solidFill>
                  <a:srgbClr val="575757"/>
                </a:solidFill>
                <a:latin typeface="Georgia" panose="02040502050405020303"/>
                <a:ea typeface="Georgia" panose="02040502050405020303"/>
              </a:rPr>
              <a:t>multi-dimensional vector that points in the direction of the steepest increase of that function</a:t>
            </a:r>
            <a:r>
              <a:rPr sz="1600" b="0" i="0">
                <a:solidFill>
                  <a:srgbClr val="575757"/>
                </a:solidFill>
                <a:latin typeface="Georgia" panose="02040502050405020303"/>
                <a:ea typeface="Georgia" panose="02040502050405020303"/>
              </a:rPr>
              <a:t>. </a:t>
            </a:r>
            <a:endParaRPr sz="1600" b="0" i="0">
              <a:solidFill>
                <a:srgbClr val="575757"/>
              </a:solidFill>
              <a:latin typeface="Georgia" panose="02040502050405020303"/>
              <a:ea typeface="Georgia" panose="02040502050405020303"/>
            </a:endParaRPr>
          </a:p>
          <a:p>
            <a:pPr marL="0" indent="0" fontAlgn="base">
              <a:spcBef>
                <a:spcPct val="0"/>
              </a:spcBef>
              <a:spcAft>
                <a:spcPct val="0"/>
              </a:spcAft>
              <a:buAutoNum type="arabicPeriod"/>
            </a:pPr>
            <a:endParaRPr sz="1600" b="0" i="0">
              <a:solidFill>
                <a:srgbClr val="575757"/>
              </a:solidFill>
              <a:latin typeface="Georgia" panose="02040502050405020303"/>
              <a:ea typeface="Georgia" panose="02040502050405020303"/>
            </a:endParaRPr>
          </a:p>
          <a:p>
            <a:pPr marL="0" indent="0" fontAlgn="base">
              <a:spcBef>
                <a:spcPct val="0"/>
              </a:spcBef>
              <a:spcAft>
                <a:spcPct val="0"/>
              </a:spcAft>
              <a:buAutoNum type="arabicPeriod"/>
            </a:pPr>
            <a:r>
              <a:rPr sz="1600" b="1" i="0">
                <a:solidFill>
                  <a:srgbClr val="575757"/>
                </a:solidFill>
                <a:latin typeface="Georgia" panose="02040502050405020303"/>
                <a:ea typeface="Georgia" panose="02040502050405020303"/>
              </a:rPr>
              <a:t>Descent</a:t>
            </a:r>
            <a:r>
              <a:rPr sz="1600" b="0" i="0">
                <a:solidFill>
                  <a:srgbClr val="575757"/>
                </a:solidFill>
                <a:latin typeface="Georgia" panose="02040502050405020303"/>
                <a:ea typeface="Georgia" panose="02040502050405020303"/>
              </a:rPr>
              <a:t>: The word “descent” refers to the method’s objective of </a:t>
            </a:r>
            <a:r>
              <a:rPr sz="1600" b="1" i="0">
                <a:solidFill>
                  <a:srgbClr val="575757"/>
                </a:solidFill>
                <a:latin typeface="Georgia" panose="02040502050405020303"/>
                <a:ea typeface="Georgia" panose="02040502050405020303"/>
              </a:rPr>
              <a:t>moving downwards to find the minima of the function</a:t>
            </a:r>
            <a:r>
              <a:rPr sz="1600" b="0" i="0">
                <a:solidFill>
                  <a:srgbClr val="575757"/>
                </a:solidFill>
                <a:latin typeface="Georgia" panose="02040502050405020303"/>
                <a:ea typeface="Georgia" panose="02040502050405020303"/>
              </a:rPr>
              <a:t>.</a:t>
            </a:r>
            <a:endParaRPr sz="1600" b="0" i="0">
              <a:solidFill>
                <a:srgbClr val="575757"/>
              </a:solidFill>
              <a:latin typeface="Georgia" panose="02040502050405020303"/>
              <a:ea typeface="Georgia" panose="02040502050405020303"/>
            </a:endParaRPr>
          </a:p>
        </p:txBody>
      </p:sp>
      <p:pic>
        <p:nvPicPr>
          <p:cNvPr id="11" name="Picture 10"/>
          <p:cNvPicPr/>
          <p:nvPr/>
        </p:nvPicPr>
        <p:blipFill>
          <a:blip r:embed="rId2"/>
          <a:stretch>
            <a:fillRect/>
          </a:stretch>
        </p:blipFill>
        <p:spPr>
          <a:xfrm>
            <a:off x="1830705" y="3428683"/>
            <a:ext cx="4762500" cy="2867025"/>
          </a:xfrm>
          <a:prstGeom prst="rect">
            <a:avLst/>
          </a:prstGeom>
        </p:spPr>
      </p:pic>
      <p:pic>
        <p:nvPicPr>
          <p:cNvPr id="14" name="Picture 13" descr="gradient-descent-algorithm-explained"/>
          <p:cNvPicPr>
            <a:picLocks noChangeAspect="1"/>
          </p:cNvPicPr>
          <p:nvPr/>
        </p:nvPicPr>
        <p:blipFill>
          <a:blip r:embed="rId3"/>
          <a:stretch>
            <a:fillRect/>
          </a:stretch>
        </p:blipFill>
        <p:spPr>
          <a:xfrm>
            <a:off x="7036435" y="3619500"/>
            <a:ext cx="5069840" cy="3269615"/>
          </a:xfrm>
          <a:prstGeom prst="rect">
            <a:avLst/>
          </a:prstGeom>
        </p:spPr>
      </p:pic>
      <p:sp>
        <p:nvSpPr>
          <p:cNvPr id="2" name="Text Box 1"/>
          <p:cNvSpPr txBox="1"/>
          <p:nvPr/>
        </p:nvSpPr>
        <p:spPr>
          <a:xfrm>
            <a:off x="178435" y="5927725"/>
            <a:ext cx="6706235" cy="368300"/>
          </a:xfrm>
          <a:prstGeom prst="rect">
            <a:avLst/>
          </a:prstGeom>
          <a:noFill/>
        </p:spPr>
        <p:txBody>
          <a:bodyPr wrap="square" rtlCol="0" anchor="t">
            <a:spAutoFit/>
          </a:bodyPr>
          <a:p>
            <a:r>
              <a:rPr lang="en-US" altLang="en-US">
                <a:sym typeface="+mn-ea"/>
              </a:rPr>
              <a:t>https://www.mathsisfun.com/gradient.html</a:t>
            </a:r>
            <a:endParaRPr lang="en-US" altLang="en-US">
              <a:sym typeface="+mn-ea"/>
            </a:endParaRPr>
          </a:p>
        </p:txBody>
      </p:sp>
      <p:sp>
        <p:nvSpPr>
          <p:cNvPr id="5" name="Text Box 4"/>
          <p:cNvSpPr txBox="1"/>
          <p:nvPr/>
        </p:nvSpPr>
        <p:spPr>
          <a:xfrm>
            <a:off x="178435" y="6489700"/>
            <a:ext cx="7024370" cy="368300"/>
          </a:xfrm>
          <a:prstGeom prst="rect">
            <a:avLst/>
          </a:prstGeom>
          <a:noFill/>
        </p:spPr>
        <p:txBody>
          <a:bodyPr wrap="square" rtlCol="0" anchor="t">
            <a:spAutoFit/>
          </a:bodyPr>
          <a:p>
            <a:r>
              <a:rPr lang="en-US" altLang="en-US"/>
              <a:t>https://www.coursera.org/articles/what-is-gradient-descent</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3035" y="38100"/>
            <a:ext cx="9575800" cy="5596890"/>
          </a:xfrm>
          <a:prstGeom prst="rect">
            <a:avLst/>
          </a:prstGeom>
          <a:noFill/>
        </p:spPr>
        <p:txBody>
          <a:bodyPr wrap="square" rtlCol="0" anchor="t">
            <a:spAutoFit/>
          </a:bodyPr>
          <a:p>
            <a:pPr>
              <a:spcAft>
                <a:spcPct val="60000"/>
              </a:spcAft>
            </a:pPr>
            <a:r>
              <a:rPr sz="2200" b="1">
                <a:sym typeface="+mn-ea"/>
              </a:rPr>
              <a:t>Gradient Descent in Machine Learning vs. Deep Learning: Same or Different?</a:t>
            </a:r>
            <a:endParaRPr sz="2200" b="1"/>
          </a:p>
          <a:p>
            <a:r>
              <a:rPr sz="1600">
                <a:sym typeface="+mn-ea"/>
              </a:rPr>
              <a:t>✅ Short Answer:Conceptually the same (both optimize a loss function by updating parameters), but in deep learning, gradient descent works with backpropagation and complex architectures.</a:t>
            </a:r>
            <a:endParaRPr sz="1600"/>
          </a:p>
          <a:p>
            <a:pPr>
              <a:spcAft>
                <a:spcPct val="60000"/>
              </a:spcAft>
            </a:pPr>
            <a:r>
              <a:rPr sz="2300" b="1">
                <a:sym typeface="+mn-ea"/>
              </a:rPr>
              <a:t>1. What is Gradient Descent?</a:t>
            </a:r>
            <a:endParaRPr sz="2300" b="1"/>
          </a:p>
          <a:p>
            <a:r>
              <a:rPr sz="1600">
                <a:sym typeface="+mn-ea"/>
              </a:rPr>
              <a:t>Gradient Descent is an optimization algorithm used to minimize a loss function by iteratively updating model parameters (weights and biases).</a:t>
            </a:r>
            <a:endParaRPr sz="1600"/>
          </a:p>
          <a:p>
            <a:pPr>
              <a:buFont typeface="Arial" panose="020B0604020202020204"/>
              <a:buChar char="•"/>
            </a:pPr>
            <a:r>
              <a:rPr sz="1600">
                <a:sym typeface="+mn-ea"/>
              </a:rPr>
              <a:t>Goal: Find the optimal parameters that </a:t>
            </a:r>
            <a:r>
              <a:rPr sz="1600" b="1">
                <a:sym typeface="+mn-ea"/>
              </a:rPr>
              <a:t>minimize the error.</a:t>
            </a:r>
            <a:endParaRPr sz="1600" b="1"/>
          </a:p>
          <a:p>
            <a:pPr>
              <a:buFont typeface="Arial" panose="020B0604020202020204"/>
              <a:buChar char="•"/>
            </a:pPr>
            <a:r>
              <a:rPr sz="1600">
                <a:sym typeface="+mn-ea"/>
              </a:rPr>
              <a:t>Used in both traditional ML and deep learning models.</a:t>
            </a:r>
            <a:endParaRPr sz="1600"/>
          </a:p>
          <a:p>
            <a:pPr>
              <a:spcAft>
                <a:spcPct val="60000"/>
              </a:spcAft>
            </a:pPr>
            <a:r>
              <a:rPr sz="2300" b="1">
                <a:sym typeface="+mn-ea"/>
              </a:rPr>
              <a:t>2. Gradient Descent in Traditional Machine Learning</a:t>
            </a:r>
            <a:endParaRPr sz="2300" b="1"/>
          </a:p>
          <a:p>
            <a:r>
              <a:rPr sz="1600">
                <a:sym typeface="+mn-ea"/>
              </a:rPr>
              <a:t>🔹 Used in models like Linear Regression, Logistic Regression, SVM, etc.</a:t>
            </a:r>
            <a:endParaRPr sz="1600"/>
          </a:p>
          <a:p>
            <a:r>
              <a:rPr sz="1600">
                <a:sym typeface="+mn-ea"/>
              </a:rPr>
              <a:t> 🔹 Involves fewer parameters (only a few weights).</a:t>
            </a:r>
            <a:endParaRPr sz="1600"/>
          </a:p>
          <a:p>
            <a:r>
              <a:rPr sz="1600">
                <a:sym typeface="+mn-ea"/>
              </a:rPr>
              <a:t> 🔹 Can use closed-form solutions (e.g., Normal Equation in Linear Regression) when feasible.</a:t>
            </a:r>
            <a:endParaRPr sz="1600"/>
          </a:p>
          <a:p>
            <a:r>
              <a:rPr sz="1600">
                <a:sym typeface="+mn-ea"/>
              </a:rPr>
              <a:t>✅ Example: Gradient Descent in Linear Regression</a:t>
            </a:r>
            <a:endParaRPr sz="1600"/>
          </a:p>
          <a:p>
            <a:r>
              <a:rPr sz="1600">
                <a:sym typeface="+mn-ea"/>
              </a:rPr>
              <a:t>w=w−η⋅∂∂wJ(w)w = w - \eta \cdot \frac{\partial}{\partial w} J(w)</a:t>
            </a:r>
            <a:endParaRPr sz="1600"/>
          </a:p>
          <a:p>
            <a:r>
              <a:rPr sz="1600">
                <a:sym typeface="+mn-ea"/>
              </a:rPr>
              <a:t>where:</a:t>
            </a:r>
            <a:endParaRPr sz="1600"/>
          </a:p>
          <a:p>
            <a:pPr>
              <a:buFont typeface="Arial" panose="020B0604020202020204"/>
              <a:buChar char="•"/>
            </a:pPr>
            <a:r>
              <a:rPr sz="1600">
                <a:sym typeface="+mn-ea"/>
              </a:rPr>
              <a:t>ww = model weights</a:t>
            </a:r>
            <a:endParaRPr sz="1600"/>
          </a:p>
          <a:p>
            <a:pPr>
              <a:buFont typeface="Arial" panose="020B0604020202020204"/>
              <a:buChar char="•"/>
            </a:pPr>
            <a:r>
              <a:rPr sz="1600">
                <a:sym typeface="+mn-ea"/>
              </a:rPr>
              <a:t>η\eta = learning rate</a:t>
            </a:r>
            <a:endParaRPr sz="1600"/>
          </a:p>
          <a:p>
            <a:pPr>
              <a:buFont typeface="Arial" panose="020B0604020202020204"/>
              <a:buChar char="•"/>
            </a:pPr>
            <a:r>
              <a:rPr sz="1600">
                <a:sym typeface="+mn-ea"/>
              </a:rPr>
              <a:t>J(w)J(w) = loss function</a:t>
            </a:r>
            <a:endParaRPr lang="en-US" sz="1600">
              <a:sym typeface="+mn-ea"/>
            </a:endParaRPr>
          </a:p>
        </p:txBody>
      </p:sp>
      <p:pic>
        <p:nvPicPr>
          <p:cNvPr id="3" name="Picture 2"/>
          <p:cNvPicPr/>
          <p:nvPr/>
        </p:nvPicPr>
        <p:blipFill>
          <a:blip r:embed="rId1"/>
          <a:stretch>
            <a:fillRect/>
          </a:stretch>
        </p:blipFill>
        <p:spPr>
          <a:xfrm>
            <a:off x="7620635" y="4154170"/>
            <a:ext cx="4254500" cy="264096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19125" y="243840"/>
            <a:ext cx="10108565" cy="3520440"/>
          </a:xfrm>
          <a:prstGeom prst="rect">
            <a:avLst/>
          </a:prstGeom>
        </p:spPr>
        <p:txBody>
          <a:bodyPr wrap="square">
            <a:spAutoFit/>
          </a:bodyPr>
          <a:p>
            <a:pPr>
              <a:spcAft>
                <a:spcPct val="60000"/>
              </a:spcAft>
            </a:pPr>
            <a:r>
              <a:rPr sz="2300" b="1"/>
              <a:t>3.</a:t>
            </a:r>
            <a:r>
              <a:rPr sz="2300" b="1">
                <a:solidFill>
                  <a:srgbClr val="FF0000"/>
                </a:solidFill>
                <a:effectLst>
                  <a:outerShdw blurRad="38100" dist="38100" dir="2700000" algn="tl">
                    <a:srgbClr val="000000">
                      <a:alpha val="43137"/>
                    </a:srgbClr>
                  </a:outerShdw>
                </a:effectLst>
              </a:rPr>
              <a:t> Gradient Descent in Deep Learning</a:t>
            </a:r>
            <a:endParaRPr sz="2300" b="1"/>
          </a:p>
          <a:p>
            <a:pPr lvl="1"/>
            <a:r>
              <a:rPr sz="1600"/>
              <a:t>🔹 Used in neural networks (CNNs, RNNs, Transformers, etc.).</a:t>
            </a:r>
            <a:endParaRPr sz="1600"/>
          </a:p>
          <a:p>
            <a:pPr lvl="1"/>
            <a:r>
              <a:rPr sz="1600"/>
              <a:t> 🔹 Works with millions of parameters (weights, biases in multiple layers).</a:t>
            </a:r>
            <a:endParaRPr sz="1600"/>
          </a:p>
          <a:p>
            <a:pPr lvl="1"/>
            <a:r>
              <a:rPr sz="1600"/>
              <a:t> 🔹 Uses Backpropagation to compute gradients efficiently.</a:t>
            </a:r>
            <a:endParaRPr sz="1600"/>
          </a:p>
          <a:p>
            <a:pPr lvl="1"/>
            <a:r>
              <a:rPr sz="1600"/>
              <a:t> 🔹 Requires GPU acceleration for large models.</a:t>
            </a:r>
            <a:endParaRPr sz="1600"/>
          </a:p>
          <a:p>
            <a:r>
              <a:rPr sz="1600"/>
              <a:t>✅ </a:t>
            </a:r>
            <a:r>
              <a:rPr sz="1600" b="1"/>
              <a:t>Example: Gradient Descent in Neural Networks (with Backpropagation)</a:t>
            </a:r>
            <a:endParaRPr sz="1600" b="1"/>
          </a:p>
          <a:p>
            <a:pPr lvl="1">
              <a:buAutoNum type="arabicPeriod"/>
            </a:pPr>
            <a:r>
              <a:rPr sz="1600"/>
              <a:t>Compute forward pass (calculate activations).</a:t>
            </a:r>
            <a:endParaRPr sz="1600"/>
          </a:p>
          <a:p>
            <a:pPr lvl="1">
              <a:buAutoNum type="arabicPeriod"/>
            </a:pPr>
            <a:r>
              <a:rPr sz="1600"/>
              <a:t>Compute loss using a loss function.</a:t>
            </a:r>
            <a:endParaRPr sz="1600"/>
          </a:p>
          <a:p>
            <a:pPr lvl="1">
              <a:buAutoNum type="arabicPeriod"/>
            </a:pPr>
            <a:r>
              <a:rPr sz="1600"/>
              <a:t>Backpropagation: Calculate gradients of loss w.r.t. each weight using chain rule.</a:t>
            </a:r>
            <a:endParaRPr sz="1600"/>
          </a:p>
          <a:p>
            <a:pPr lvl="1">
              <a:buAutoNum type="arabicPeriod"/>
            </a:pPr>
            <a:r>
              <a:rPr sz="1600"/>
              <a:t>Update weights using: w(l)=w(l)−η⋅∂∂w(l)J(w)w^{(l)} = w^{(l)} - \eta \cdot \frac{\partial}{\partial w^{(l)}} J(w) (where ll is the layer index)</a:t>
            </a:r>
            <a:endParaRPr sz="1600"/>
          </a:p>
          <a:p>
            <a:pPr>
              <a:spcAft>
                <a:spcPct val="60000"/>
              </a:spcAft>
            </a:pPr>
            <a:r>
              <a:rPr sz="2300" b="1"/>
              <a:t>4. Are They the Same or Different?</a:t>
            </a:r>
            <a:endParaRPr sz="2300" b="1"/>
          </a:p>
        </p:txBody>
      </p:sp>
      <p:graphicFrame>
        <p:nvGraphicFramePr>
          <p:cNvPr id="3" name="Table 2"/>
          <p:cNvGraphicFramePr/>
          <p:nvPr/>
        </p:nvGraphicFramePr>
        <p:xfrm>
          <a:off x="765175" y="3686493"/>
          <a:ext cx="10485120" cy="0"/>
        </p:xfrm>
        <a:graphic>
          <a:graphicData uri="http://schemas.openxmlformats.org/drawingml/2006/table">
            <a:tbl>
              <a:tblPr/>
              <a:tblGrid>
                <a:gridCol w="3495040"/>
                <a:gridCol w="3495040"/>
                <a:gridCol w="3495040"/>
              </a:tblGrid>
              <a:tr h="0">
                <a:tc>
                  <a:txBody>
                    <a:bodyPr/>
                    <a:p>
                      <a:r>
                        <a:rPr sz="1600"/>
                        <a:t>Feature</a:t>
                      </a:r>
                      <a:endParaRPr sz="1600"/>
                    </a:p>
                  </a:txBody>
                  <a:tcPr marL="0" marR="0" marT="0" marB="0" anchor="ctr" anchorCtr="0">
                    <a:lnL>
                      <a:noFill/>
                    </a:lnL>
                    <a:lnR>
                      <a:noFill/>
                    </a:lnR>
                    <a:lnT>
                      <a:noFill/>
                    </a:lnT>
                    <a:lnB>
                      <a:noFill/>
                    </a:lnB>
                    <a:noFill/>
                  </a:tcPr>
                </a:tc>
                <a:tc>
                  <a:txBody>
                    <a:bodyPr/>
                    <a:p>
                      <a:r>
                        <a:rPr sz="1600"/>
                        <a:t>Gradient Descent in ML</a:t>
                      </a:r>
                      <a:endParaRPr sz="1600"/>
                    </a:p>
                  </a:txBody>
                  <a:tcPr marL="0" marR="0" marT="0" marB="0" anchor="ctr" anchorCtr="0">
                    <a:lnL>
                      <a:noFill/>
                    </a:lnL>
                    <a:lnR>
                      <a:noFill/>
                    </a:lnR>
                    <a:lnT>
                      <a:noFill/>
                    </a:lnT>
                    <a:lnB>
                      <a:noFill/>
                    </a:lnB>
                    <a:noFill/>
                  </a:tcPr>
                </a:tc>
                <a:tc>
                  <a:txBody>
                    <a:bodyPr/>
                    <a:p>
                      <a:r>
                        <a:rPr sz="1600"/>
                        <a:t>Gradient Descent in Deep Learning</a:t>
                      </a:r>
                      <a:endParaRPr sz="1600"/>
                    </a:p>
                  </a:txBody>
                  <a:tcPr marL="0" marR="0" marT="0" marB="0" anchor="ctr" anchorCtr="0">
                    <a:lnL>
                      <a:noFill/>
                    </a:lnL>
                    <a:lnR>
                      <a:noFill/>
                    </a:lnR>
                    <a:lnT>
                      <a:noFill/>
                    </a:lnT>
                    <a:lnB>
                      <a:noFill/>
                    </a:lnB>
                    <a:noFill/>
                  </a:tcPr>
                </a:tc>
              </a:tr>
              <a:tr h="0">
                <a:tc>
                  <a:txBody>
                    <a:bodyPr/>
                    <a:p>
                      <a:r>
                        <a:rPr sz="1600"/>
                        <a:t>Usage</a:t>
                      </a:r>
                      <a:endParaRPr sz="1600"/>
                    </a:p>
                  </a:txBody>
                  <a:tcPr marL="0" marR="0" marT="0" marB="0" anchor="ctr" anchorCtr="0">
                    <a:lnL>
                      <a:noFill/>
                    </a:lnL>
                    <a:lnR>
                      <a:noFill/>
                    </a:lnR>
                    <a:lnT>
                      <a:noFill/>
                    </a:lnT>
                    <a:lnB>
                      <a:noFill/>
                    </a:lnB>
                    <a:noFill/>
                  </a:tcPr>
                </a:tc>
                <a:tc>
                  <a:txBody>
                    <a:bodyPr/>
                    <a:p>
                      <a:r>
                        <a:rPr sz="1600"/>
                        <a:t>Optimizes models like Linear/Logistic Regression, SVMs</a:t>
                      </a:r>
                      <a:endParaRPr sz="1600"/>
                    </a:p>
                  </a:txBody>
                  <a:tcPr marL="0" marR="0" marT="0" marB="0" anchor="ctr" anchorCtr="0">
                    <a:lnL>
                      <a:noFill/>
                    </a:lnL>
                    <a:lnR>
                      <a:noFill/>
                    </a:lnR>
                    <a:lnT>
                      <a:noFill/>
                    </a:lnT>
                    <a:lnB>
                      <a:noFill/>
                    </a:lnB>
                    <a:noFill/>
                  </a:tcPr>
                </a:tc>
                <a:tc>
                  <a:txBody>
                    <a:bodyPr/>
                    <a:p>
                      <a:r>
                        <a:rPr sz="1600"/>
                        <a:t>Optimizes Neural Networks (CNNs, RNNs, Transformers)</a:t>
                      </a:r>
                      <a:endParaRPr sz="1600"/>
                    </a:p>
                  </a:txBody>
                  <a:tcPr marL="0" marR="0" marT="0" marB="0" anchor="ctr" anchorCtr="0">
                    <a:lnL>
                      <a:noFill/>
                    </a:lnL>
                    <a:lnR>
                      <a:noFill/>
                    </a:lnR>
                    <a:lnT>
                      <a:noFill/>
                    </a:lnT>
                    <a:lnB>
                      <a:noFill/>
                    </a:lnB>
                    <a:noFill/>
                  </a:tcPr>
                </a:tc>
              </a:tr>
              <a:tr h="0">
                <a:tc>
                  <a:txBody>
                    <a:bodyPr/>
                    <a:p>
                      <a:r>
                        <a:rPr sz="1600"/>
                        <a:t>Complexity</a:t>
                      </a:r>
                      <a:endParaRPr sz="1600"/>
                    </a:p>
                  </a:txBody>
                  <a:tcPr marL="0" marR="0" marT="0" marB="0" anchor="ctr" anchorCtr="0">
                    <a:lnL>
                      <a:noFill/>
                    </a:lnL>
                    <a:lnR>
                      <a:noFill/>
                    </a:lnR>
                    <a:lnT>
                      <a:noFill/>
                    </a:lnT>
                    <a:lnB>
                      <a:noFill/>
                    </a:lnB>
                    <a:noFill/>
                  </a:tcPr>
                </a:tc>
                <a:tc>
                  <a:txBody>
                    <a:bodyPr/>
                    <a:p>
                      <a:r>
                        <a:rPr sz="1600"/>
                        <a:t>Few parameters (simple weight updates)</a:t>
                      </a:r>
                      <a:endParaRPr sz="1600"/>
                    </a:p>
                  </a:txBody>
                  <a:tcPr marL="0" marR="0" marT="0" marB="0" anchor="ctr" anchorCtr="0">
                    <a:lnL>
                      <a:noFill/>
                    </a:lnL>
                    <a:lnR>
                      <a:noFill/>
                    </a:lnR>
                    <a:lnT>
                      <a:noFill/>
                    </a:lnT>
                    <a:lnB>
                      <a:noFill/>
                    </a:lnB>
                    <a:noFill/>
                  </a:tcPr>
                </a:tc>
                <a:tc>
                  <a:txBody>
                    <a:bodyPr/>
                    <a:p>
                      <a:r>
                        <a:rPr sz="1600"/>
                        <a:t>Millions of parameters (complex backpropagation)</a:t>
                      </a:r>
                      <a:endParaRPr sz="1600"/>
                    </a:p>
                  </a:txBody>
                  <a:tcPr marL="0" marR="0" marT="0" marB="0" anchor="ctr" anchorCtr="0">
                    <a:lnL>
                      <a:noFill/>
                    </a:lnL>
                    <a:lnR>
                      <a:noFill/>
                    </a:lnR>
                    <a:lnT>
                      <a:noFill/>
                    </a:lnT>
                    <a:lnB>
                      <a:noFill/>
                    </a:lnB>
                    <a:noFill/>
                  </a:tcPr>
                </a:tc>
              </a:tr>
              <a:tr h="0">
                <a:tc>
                  <a:txBody>
                    <a:bodyPr/>
                    <a:p>
                      <a:r>
                        <a:rPr sz="1600"/>
                        <a:t>Training Time</a:t>
                      </a:r>
                      <a:endParaRPr sz="1600"/>
                    </a:p>
                  </a:txBody>
                  <a:tcPr marL="0" marR="0" marT="0" marB="0" anchor="ctr" anchorCtr="0">
                    <a:lnL>
                      <a:noFill/>
                    </a:lnL>
                    <a:lnR>
                      <a:noFill/>
                    </a:lnR>
                    <a:lnT>
                      <a:noFill/>
                    </a:lnT>
                    <a:lnB>
                      <a:noFill/>
                    </a:lnB>
                    <a:noFill/>
                  </a:tcPr>
                </a:tc>
                <a:tc>
                  <a:txBody>
                    <a:bodyPr/>
                    <a:p>
                      <a:r>
                        <a:rPr sz="1600"/>
                        <a:t>Fast, can use closed-form solutions</a:t>
                      </a:r>
                      <a:endParaRPr sz="1600"/>
                    </a:p>
                  </a:txBody>
                  <a:tcPr marL="0" marR="0" marT="0" marB="0" anchor="ctr" anchorCtr="0">
                    <a:lnL>
                      <a:noFill/>
                    </a:lnL>
                    <a:lnR>
                      <a:noFill/>
                    </a:lnR>
                    <a:lnT>
                      <a:noFill/>
                    </a:lnT>
                    <a:lnB>
                      <a:noFill/>
                    </a:lnB>
                    <a:noFill/>
                  </a:tcPr>
                </a:tc>
                <a:tc>
                  <a:txBody>
                    <a:bodyPr/>
                    <a:p>
                      <a:r>
                        <a:rPr sz="1600"/>
                        <a:t>Slow without GPUs, requires batch updates</a:t>
                      </a:r>
                      <a:endParaRPr sz="1600"/>
                    </a:p>
                  </a:txBody>
                  <a:tcPr marL="0" marR="0" marT="0" marB="0" anchor="ctr" anchorCtr="0">
                    <a:lnL>
                      <a:noFill/>
                    </a:lnL>
                    <a:lnR>
                      <a:noFill/>
                    </a:lnR>
                    <a:lnT>
                      <a:noFill/>
                    </a:lnT>
                    <a:lnB>
                      <a:noFill/>
                    </a:lnB>
                    <a:noFill/>
                  </a:tcPr>
                </a:tc>
              </a:tr>
              <a:tr h="0">
                <a:tc>
                  <a:txBody>
                    <a:bodyPr/>
                    <a:p>
                      <a:r>
                        <a:rPr sz="1600"/>
                        <a:t>Backpropagation?</a:t>
                      </a:r>
                      <a:endParaRPr sz="1600"/>
                    </a:p>
                  </a:txBody>
                  <a:tcPr marL="0" marR="0" marT="0" marB="0" anchor="ctr" anchorCtr="0">
                    <a:lnL>
                      <a:noFill/>
                    </a:lnL>
                    <a:lnR>
                      <a:noFill/>
                    </a:lnR>
                    <a:lnT>
                      <a:noFill/>
                    </a:lnT>
                    <a:lnB>
                      <a:noFill/>
                    </a:lnB>
                    <a:noFill/>
                  </a:tcPr>
                </a:tc>
                <a:tc>
                  <a:txBody>
                    <a:bodyPr/>
                    <a:p>
                      <a:r>
                        <a:rPr sz="1600"/>
                        <a:t>❌ No backpropagation needed</a:t>
                      </a:r>
                      <a:endParaRPr sz="1600"/>
                    </a:p>
                  </a:txBody>
                  <a:tcPr marL="0" marR="0" marT="0" marB="0" anchor="ctr" anchorCtr="0">
                    <a:lnL>
                      <a:noFill/>
                    </a:lnL>
                    <a:lnR>
                      <a:noFill/>
                    </a:lnR>
                    <a:lnT>
                      <a:noFill/>
                    </a:lnT>
                    <a:lnB>
                      <a:noFill/>
                    </a:lnB>
                    <a:noFill/>
                  </a:tcPr>
                </a:tc>
                <a:tc>
                  <a:txBody>
                    <a:bodyPr/>
                    <a:p>
                      <a:r>
                        <a:rPr sz="1600"/>
                        <a:t>✅ Uses backpropagation for weight updates</a:t>
                      </a:r>
                      <a:endParaRPr sz="1600"/>
                    </a:p>
                  </a:txBody>
                  <a:tcPr marL="0" marR="0" marT="0" marB="0" anchor="ctr" anchorCtr="0">
                    <a:lnL>
                      <a:noFill/>
                    </a:lnL>
                    <a:lnR>
                      <a:noFill/>
                    </a:lnR>
                    <a:lnT>
                      <a:noFill/>
                    </a:lnT>
                    <a:lnB>
                      <a:noFill/>
                    </a:lnB>
                    <a:noFill/>
                  </a:tcPr>
                </a:tc>
              </a:tr>
              <a:tr h="0">
                <a:tc>
                  <a:txBody>
                    <a:bodyPr/>
                    <a:p>
                      <a:r>
                        <a:rPr sz="1600"/>
                        <a:t>Memory Usage</a:t>
                      </a:r>
                      <a:endParaRPr sz="1600"/>
                    </a:p>
                  </a:txBody>
                  <a:tcPr marL="0" marR="0" marT="0" marB="0" anchor="ctr" anchorCtr="0">
                    <a:lnL>
                      <a:noFill/>
                    </a:lnL>
                    <a:lnR>
                      <a:noFill/>
                    </a:lnR>
                    <a:lnT>
                      <a:noFill/>
                    </a:lnT>
                    <a:lnB>
                      <a:noFill/>
                    </a:lnB>
                    <a:noFill/>
                  </a:tcPr>
                </a:tc>
                <a:tc>
                  <a:txBody>
                    <a:bodyPr/>
                    <a:p>
                      <a:r>
                        <a:rPr sz="1600"/>
                        <a:t>Low</a:t>
                      </a:r>
                      <a:endParaRPr sz="1600"/>
                    </a:p>
                  </a:txBody>
                  <a:tcPr marL="0" marR="0" marT="0" marB="0" anchor="ctr" anchorCtr="0">
                    <a:lnL>
                      <a:noFill/>
                    </a:lnL>
                    <a:lnR>
                      <a:noFill/>
                    </a:lnR>
                    <a:lnT>
                      <a:noFill/>
                    </a:lnT>
                    <a:lnB>
                      <a:noFill/>
                    </a:lnB>
                    <a:noFill/>
                  </a:tcPr>
                </a:tc>
                <a:tc>
                  <a:txBody>
                    <a:bodyPr/>
                    <a:p>
                      <a:r>
                        <a:rPr sz="1600"/>
                        <a:t>High (due to multiple layers)</a:t>
                      </a:r>
                      <a:endParaRPr sz="1600"/>
                    </a:p>
                  </a:txBody>
                  <a:tcPr marL="0" marR="0" marT="0" marB="0" anchor="ctr" anchorCtr="0">
                    <a:lnL>
                      <a:noFill/>
                    </a:lnL>
                    <a:lnR>
                      <a:noFill/>
                    </a:lnR>
                    <a:lnT>
                      <a:noFill/>
                    </a:lnT>
                    <a:lnB>
                      <a:noFill/>
                    </a:lnB>
                    <a:noFill/>
                  </a:tcPr>
                </a:tc>
              </a:tr>
            </a:tbl>
          </a:graphicData>
        </a:graphic>
      </p:graphicFrame>
      <p:sp>
        <p:nvSpPr>
          <p:cNvPr id="4" name="Text Box 3"/>
          <p:cNvSpPr txBox="1"/>
          <p:nvPr/>
        </p:nvSpPr>
        <p:spPr>
          <a:xfrm>
            <a:off x="556260" y="5836920"/>
            <a:ext cx="10964545" cy="680720"/>
          </a:xfrm>
          <a:prstGeom prst="rect">
            <a:avLst/>
          </a:prstGeom>
        </p:spPr>
        <p:txBody>
          <a:bodyPr wrap="square">
            <a:noAutofit/>
          </a:bodyPr>
          <a:p>
            <a:endParaRPr sz="2600"/>
          </a:p>
          <a:p>
            <a:r>
              <a:rPr b="1">
                <a:solidFill>
                  <a:srgbClr val="FF0000"/>
                </a:solidFill>
              </a:rPr>
              <a:t>✅ Conclusion:</a:t>
            </a:r>
            <a:r>
              <a:rPr lang="en-IN" b="1"/>
              <a:t> </a:t>
            </a:r>
            <a:r>
              <a:rPr sz="1600"/>
              <a:t>Same fundamental concept, but deep learning gradient descent is more complex due to backpropagation and large parameter spaces.</a:t>
            </a:r>
            <a:endParaRPr sz="1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88620" y="556895"/>
            <a:ext cx="5708015" cy="5914390"/>
          </a:xfrm>
          <a:prstGeom prst="rect">
            <a:avLst/>
          </a:prstGeom>
        </p:spPr>
        <p:txBody>
          <a:bodyPr>
            <a:noAutofit/>
          </a:bodyPr>
          <a:p>
            <a:pPr marL="0" indent="0" algn="l" fontAlgn="base">
              <a:lnSpc>
                <a:spcPct val="100000"/>
              </a:lnSpc>
              <a:spcBef>
                <a:spcPct val="0"/>
              </a:spcBef>
              <a:spcAft>
                <a:spcPct val="0"/>
              </a:spcAft>
            </a:pPr>
            <a:r>
              <a:rPr b="1" i="0">
                <a:solidFill>
                  <a:srgbClr val="006699"/>
                </a:solidFill>
                <a:latin typeface="Arial" panose="020B0604020202020204" pitchFamily="34" charset="0"/>
                <a:ea typeface="Monaco"/>
                <a:cs typeface="Arial" panose="020B0604020202020204" pitchFamily="34" charset="0"/>
              </a:rPr>
              <a:t>import</a:t>
            </a:r>
            <a:r>
              <a:rPr b="0" i="0">
                <a:solidFill>
                  <a:srgbClr val="000000"/>
                </a:solidFill>
                <a:latin typeface="Arial" panose="020B0604020202020204" pitchFamily="34" charset="0"/>
                <a:ea typeface="Monaco"/>
                <a:cs typeface="Arial" panose="020B0604020202020204" pitchFamily="34" charset="0"/>
              </a:rPr>
              <a:t>numpy as np</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1" i="0">
                <a:solidFill>
                  <a:srgbClr val="006699"/>
                </a:solidFill>
                <a:latin typeface="Arial" panose="020B0604020202020204" pitchFamily="34" charset="0"/>
                <a:ea typeface="Monaco"/>
                <a:cs typeface="Arial" panose="020B0604020202020204" pitchFamily="34" charset="0"/>
              </a:rPr>
              <a:t>import</a:t>
            </a:r>
            <a:r>
              <a:rPr b="0" i="0">
                <a:solidFill>
                  <a:srgbClr val="000000"/>
                </a:solidFill>
                <a:latin typeface="Arial" panose="020B0604020202020204" pitchFamily="34" charset="0"/>
                <a:ea typeface="Monaco"/>
                <a:cs typeface="Arial" panose="020B0604020202020204" pitchFamily="34" charset="0"/>
              </a:rPr>
              <a:t>matplotlib.pyplot as plt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Defining a simple quadratic function and its derivative</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f </a:t>
            </a:r>
            <a:r>
              <a:rPr b="1" i="0">
                <a:solidFill>
                  <a:srgbClr val="006699"/>
                </a:solidFill>
                <a:latin typeface="Arial" panose="020B0604020202020204" pitchFamily="34" charset="0"/>
                <a:ea typeface="Monaco"/>
                <a:cs typeface="Arial" panose="020B0604020202020204" pitchFamily="34" charset="0"/>
              </a:rPr>
              <a:t>=lambda</a:t>
            </a:r>
            <a:r>
              <a:rPr b="0" i="0">
                <a:solidFill>
                  <a:srgbClr val="000000"/>
                </a:solidFill>
                <a:latin typeface="Arial" panose="020B0604020202020204" pitchFamily="34" charset="0"/>
                <a:ea typeface="Monaco"/>
                <a:cs typeface="Arial" panose="020B0604020202020204" pitchFamily="34" charset="0"/>
              </a:rPr>
              <a:t>x: x</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2</a:t>
            </a:r>
            <a:endParaRPr b="0" i="0">
              <a:solidFill>
                <a:srgbClr val="0099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f_prime </a:t>
            </a:r>
            <a:r>
              <a:rPr b="1" i="0">
                <a:solidFill>
                  <a:srgbClr val="006699"/>
                </a:solidFill>
                <a:latin typeface="Arial" panose="020B0604020202020204" pitchFamily="34" charset="0"/>
                <a:ea typeface="Monaco"/>
                <a:cs typeface="Arial" panose="020B0604020202020204" pitchFamily="34" charset="0"/>
              </a:rPr>
              <a:t>=lambda</a:t>
            </a:r>
            <a:r>
              <a:rPr b="0" i="0">
                <a:solidFill>
                  <a:srgbClr val="000000"/>
                </a:solidFill>
                <a:latin typeface="Arial" panose="020B0604020202020204" pitchFamily="34" charset="0"/>
                <a:ea typeface="Monaco"/>
                <a:cs typeface="Arial" panose="020B0604020202020204" pitchFamily="34" charset="0"/>
              </a:rPr>
              <a:t>x: </a:t>
            </a:r>
            <a:r>
              <a:rPr b="0" i="0">
                <a:solidFill>
                  <a:srgbClr val="009900"/>
                </a:solidFill>
                <a:latin typeface="Arial" panose="020B0604020202020204" pitchFamily="34" charset="0"/>
                <a:ea typeface="Monaco"/>
                <a:cs typeface="Arial" panose="020B0604020202020204" pitchFamily="34" charset="0"/>
              </a:rPr>
              <a:t>2</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x</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Generating values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x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np.linspace(</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10</a:t>
            </a:r>
            <a:r>
              <a:rPr b="0" i="0">
                <a:solidFill>
                  <a:srgbClr val="000000"/>
                </a:solidFill>
                <a:latin typeface="Arial" panose="020B0604020202020204" pitchFamily="34" charset="0"/>
                <a:ea typeface="Monaco"/>
                <a:cs typeface="Arial" panose="020B0604020202020204" pitchFamily="34" charset="0"/>
              </a:rPr>
              <a:t>, </a:t>
            </a:r>
            <a:r>
              <a:rPr b="0" i="0">
                <a:solidFill>
                  <a:srgbClr val="009900"/>
                </a:solidFill>
                <a:latin typeface="Arial" panose="020B0604020202020204" pitchFamily="34" charset="0"/>
                <a:ea typeface="Monaco"/>
                <a:cs typeface="Arial" panose="020B0604020202020204" pitchFamily="34" charset="0"/>
              </a:rPr>
              <a:t>10</a:t>
            </a:r>
            <a:r>
              <a:rPr b="0" i="0">
                <a:solidFill>
                  <a:srgbClr val="000000"/>
                </a:solidFill>
                <a:latin typeface="Arial" panose="020B0604020202020204" pitchFamily="34" charset="0"/>
                <a:ea typeface="Monaco"/>
                <a:cs typeface="Arial" panose="020B0604020202020204" pitchFamily="34" charset="0"/>
              </a:rPr>
              <a:t>, </a:t>
            </a:r>
            <a:r>
              <a:rPr b="0" i="0">
                <a:solidFill>
                  <a:srgbClr val="009900"/>
                </a:solidFill>
                <a:latin typeface="Arial" panose="020B0604020202020204" pitchFamily="34" charset="0"/>
                <a:ea typeface="Monaco"/>
                <a:cs typeface="Arial" panose="020B0604020202020204" pitchFamily="34" charset="0"/>
              </a:rPr>
              <a:t>400</a:t>
            </a:r>
            <a:r>
              <a:rPr b="0" i="0">
                <a:solidFill>
                  <a:srgbClr val="000000"/>
                </a:solidFill>
                <a:latin typeface="Arial" panose="020B0604020202020204" pitchFamily="34" charset="0"/>
                <a:ea typeface="Monaco"/>
                <a:cs typeface="Arial" panose="020B0604020202020204" pitchFamily="34" charset="0"/>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y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f(x)</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Gradient descent settings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learning_rate </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0.15</a:t>
            </a:r>
            <a:endParaRPr b="0" i="0">
              <a:solidFill>
                <a:srgbClr val="0099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x_start </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9</a:t>
            </a:r>
            <a:r>
              <a:rPr b="0" i="0">
                <a:solidFill>
                  <a:srgbClr val="575757"/>
                </a:solidFill>
                <a:latin typeface="Arial" panose="020B0604020202020204" pitchFamily="34" charset="0"/>
                <a:ea typeface="Monaco"/>
                <a:cs typeface="Arial" panose="020B0604020202020204" pitchFamily="34" charset="0"/>
              </a:rPr>
              <a:t>  </a:t>
            </a:r>
            <a:r>
              <a:rPr b="0" i="0">
                <a:solidFill>
                  <a:srgbClr val="008200"/>
                </a:solidFill>
                <a:latin typeface="Arial" panose="020B0604020202020204" pitchFamily="34" charset="0"/>
                <a:ea typeface="Monaco"/>
                <a:cs typeface="Arial" panose="020B0604020202020204" pitchFamily="34" charset="0"/>
              </a:rPr>
              <a:t># Starting point</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steps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[x_start]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n_iterations </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15</a:t>
            </a:r>
            <a:endParaRPr b="0" i="0">
              <a:solidFill>
                <a:srgbClr val="0099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Gradient Descent Iteration</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1" i="0">
                <a:solidFill>
                  <a:srgbClr val="006699"/>
                </a:solidFill>
                <a:latin typeface="Arial" panose="020B0604020202020204" pitchFamily="34" charset="0"/>
                <a:ea typeface="Monaco"/>
                <a:cs typeface="Arial" panose="020B0604020202020204" pitchFamily="34" charset="0"/>
              </a:rPr>
              <a:t>for</a:t>
            </a:r>
            <a:r>
              <a:rPr b="0" i="0">
                <a:solidFill>
                  <a:srgbClr val="000000"/>
                </a:solidFill>
                <a:latin typeface="Arial" panose="020B0604020202020204" pitchFamily="34" charset="0"/>
                <a:ea typeface="Monaco"/>
                <a:cs typeface="Arial" panose="020B0604020202020204" pitchFamily="34" charset="0"/>
              </a:rPr>
              <a:t>_ </a:t>
            </a:r>
            <a:r>
              <a:rPr b="1" i="0">
                <a:solidFill>
                  <a:srgbClr val="006699"/>
                </a:solidFill>
                <a:latin typeface="Arial" panose="020B0604020202020204" pitchFamily="34" charset="0"/>
                <a:ea typeface="Monaco"/>
                <a:cs typeface="Arial" panose="020B0604020202020204" pitchFamily="34" charset="0"/>
              </a:rPr>
              <a:t>in</a:t>
            </a:r>
            <a:r>
              <a:rPr lang="en-US" b="1" i="0">
                <a:solidFill>
                  <a:srgbClr val="006699"/>
                </a:solidFill>
                <a:latin typeface="Arial" panose="020B0604020202020204" pitchFamily="34" charset="0"/>
                <a:ea typeface="Monaco"/>
                <a:cs typeface="Arial" panose="020B0604020202020204" pitchFamily="34" charset="0"/>
              </a:rPr>
              <a:t> </a:t>
            </a:r>
            <a:r>
              <a:rPr b="0" i="0">
                <a:solidFill>
                  <a:srgbClr val="FF1493"/>
                </a:solidFill>
                <a:latin typeface="Arial" panose="020B0604020202020204" pitchFamily="34" charset="0"/>
                <a:ea typeface="Monaco"/>
                <a:cs typeface="Arial" panose="020B0604020202020204" pitchFamily="34" charset="0"/>
              </a:rPr>
              <a:t>range</a:t>
            </a:r>
            <a:r>
              <a:rPr b="0" i="0">
                <a:solidFill>
                  <a:srgbClr val="000000"/>
                </a:solidFill>
                <a:latin typeface="Arial" panose="020B0604020202020204" pitchFamily="34" charset="0"/>
                <a:ea typeface="Monaco"/>
                <a:cs typeface="Arial" panose="020B0604020202020204" pitchFamily="34" charset="0"/>
              </a:rPr>
              <a:t>(n_iterations):</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r>
              <a:rPr b="0" i="0">
                <a:solidFill>
                  <a:srgbClr val="000000"/>
                </a:solidFill>
                <a:latin typeface="Arial" panose="020B0604020202020204" pitchFamily="34" charset="0"/>
                <a:ea typeface="Monaco"/>
                <a:cs typeface="Arial" panose="020B0604020202020204" pitchFamily="34" charset="0"/>
              </a:rPr>
              <a:t>x_start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x_start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learning_rate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f_prime(x_start)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r>
              <a:rPr b="0" i="0">
                <a:solidFill>
                  <a:srgbClr val="000000"/>
                </a:solidFill>
                <a:latin typeface="Arial" panose="020B0604020202020204" pitchFamily="34" charset="0"/>
                <a:ea typeface="Monaco"/>
                <a:cs typeface="Arial" panose="020B0604020202020204" pitchFamily="34" charset="0"/>
              </a:rPr>
              <a:t>steps.append(x_start)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000000"/>
              </a:solidFill>
              <a:latin typeface="Arial" panose="020B0604020202020204" pitchFamily="34" charset="0"/>
              <a:ea typeface="Monaco"/>
              <a:cs typeface="Arial" panose="020B0604020202020204" pitchFamily="34" charset="0"/>
            </a:endParaRPr>
          </a:p>
        </p:txBody>
      </p:sp>
      <p:sp>
        <p:nvSpPr>
          <p:cNvPr id="2" name="Text Box 1"/>
          <p:cNvSpPr txBox="1"/>
          <p:nvPr/>
        </p:nvSpPr>
        <p:spPr>
          <a:xfrm>
            <a:off x="6096000" y="556895"/>
            <a:ext cx="6096000" cy="5077460"/>
          </a:xfrm>
          <a:prstGeom prst="rect">
            <a:avLst/>
          </a:prstGeom>
          <a:noFill/>
        </p:spPr>
        <p:txBody>
          <a:bodyPr wrap="square" rtlCol="0" anchor="t">
            <a:spAutoFit/>
          </a:bodyPr>
          <a:p>
            <a:pPr marL="0" indent="0" algn="l" fontAlgn="base">
              <a:lnSpc>
                <a:spcPct val="100000"/>
              </a:lnSpc>
              <a:spcBef>
                <a:spcPct val="0"/>
              </a:spcBef>
              <a:spcAft>
                <a:spcPct val="0"/>
              </a:spcAft>
            </a:pP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8200"/>
                </a:solidFill>
                <a:latin typeface="Arial" panose="020B0604020202020204" pitchFamily="34" charset="0"/>
                <a:ea typeface="Monaco"/>
                <a:cs typeface="Arial" panose="020B0604020202020204" pitchFamily="34" charset="0"/>
                <a:sym typeface="+mn-ea"/>
              </a:rPr>
              <a:t># Plotting the function</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plt.figure(figsize</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10</a:t>
            </a:r>
            <a:r>
              <a:rPr>
                <a:solidFill>
                  <a:srgbClr val="000000"/>
                </a:solidFill>
                <a:latin typeface="Arial" panose="020B0604020202020204" pitchFamily="34" charset="0"/>
                <a:ea typeface="Monaco"/>
                <a:cs typeface="Arial" panose="020B0604020202020204" pitchFamily="34" charset="0"/>
                <a:sym typeface="+mn-ea"/>
              </a:rPr>
              <a:t>, </a:t>
            </a:r>
            <a:r>
              <a:rPr>
                <a:solidFill>
                  <a:srgbClr val="009900"/>
                </a:solidFill>
                <a:latin typeface="Arial" panose="020B0604020202020204" pitchFamily="34" charset="0"/>
                <a:ea typeface="Monaco"/>
                <a:cs typeface="Arial" panose="020B0604020202020204" pitchFamily="34" charset="0"/>
                <a:sym typeface="+mn-ea"/>
              </a:rPr>
              <a:t>6</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plt.plot(x, y, lw</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2</a:t>
            </a:r>
            <a:r>
              <a:rPr>
                <a:solidFill>
                  <a:srgbClr val="000000"/>
                </a:solidFill>
                <a:latin typeface="Arial" panose="020B0604020202020204" pitchFamily="34" charset="0"/>
                <a:ea typeface="Monaco"/>
                <a:cs typeface="Arial" panose="020B0604020202020204" pitchFamily="34" charset="0"/>
                <a:sym typeface="+mn-ea"/>
              </a:rPr>
              <a:t>, label</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&amp;amp;quot;f(x) </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x²&amp;amp;quot;)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575757"/>
                </a:solidFill>
                <a:latin typeface="Arial" panose="020B0604020202020204" pitchFamily="34" charset="0"/>
                <a:ea typeface="Monaco"/>
                <a:cs typeface="Arial" panose="020B0604020202020204" pitchFamily="34" charset="0"/>
                <a:sym typeface="+mn-ea"/>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8200"/>
                </a:solidFill>
                <a:latin typeface="Arial" panose="020B0604020202020204" pitchFamily="34" charset="0"/>
                <a:ea typeface="Monaco"/>
                <a:cs typeface="Arial" panose="020B0604020202020204" pitchFamily="34" charset="0"/>
                <a:sym typeface="+mn-ea"/>
              </a:rPr>
              <a:t># Plotting the steps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plt.scatter(steps, f(np.array(steps)), color</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'red'</a:t>
            </a:r>
            <a:r>
              <a:rPr>
                <a:solidFill>
                  <a:srgbClr val="000000"/>
                </a:solidFill>
                <a:latin typeface="Arial" panose="020B0604020202020204" pitchFamily="34" charset="0"/>
                <a:ea typeface="Monaco"/>
                <a:cs typeface="Arial" panose="020B0604020202020204" pitchFamily="34" charset="0"/>
                <a:sym typeface="+mn-ea"/>
              </a:rPr>
              <a:t>, s</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100</a:t>
            </a:r>
            <a:r>
              <a:rPr>
                <a:solidFill>
                  <a:srgbClr val="000000"/>
                </a:solidFill>
                <a:latin typeface="Arial" panose="020B0604020202020204" pitchFamily="34" charset="0"/>
                <a:ea typeface="Monaco"/>
                <a:cs typeface="Arial" panose="020B0604020202020204" pitchFamily="34" charset="0"/>
                <a:sym typeface="+mn-ea"/>
              </a:rPr>
              <a:t>, label</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'Steps'</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plt.plot(steps, f(np.array(steps)), color</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'red'</a:t>
            </a:r>
            <a:r>
              <a:rPr>
                <a:solidFill>
                  <a:srgbClr val="000000"/>
                </a:solidFill>
                <a:latin typeface="Arial" panose="020B0604020202020204" pitchFamily="34" charset="0"/>
                <a:ea typeface="Monaco"/>
                <a:cs typeface="Arial" panose="020B0604020202020204" pitchFamily="34" charset="0"/>
                <a:sym typeface="+mn-ea"/>
              </a:rPr>
              <a:t>, linestyle</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 lw</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1.5</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575757"/>
                </a:solidFill>
                <a:latin typeface="Arial" panose="020B0604020202020204" pitchFamily="34" charset="0"/>
                <a:ea typeface="Monaco"/>
                <a:cs typeface="Arial" panose="020B0604020202020204" pitchFamily="34" charset="0"/>
                <a:sym typeface="+mn-ea"/>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8200"/>
                </a:solidFill>
                <a:latin typeface="Arial" panose="020B0604020202020204" pitchFamily="34" charset="0"/>
                <a:ea typeface="Monaco"/>
                <a:cs typeface="Arial" panose="020B0604020202020204" pitchFamily="34" charset="0"/>
                <a:sym typeface="+mn-ea"/>
              </a:rPr>
              <a:t># Annotations and labels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plt.title(</a:t>
            </a:r>
            <a:r>
              <a:rPr>
                <a:solidFill>
                  <a:srgbClr val="0000FF"/>
                </a:solidFill>
                <a:latin typeface="Arial" panose="020B0604020202020204" pitchFamily="34" charset="0"/>
                <a:ea typeface="Monaco"/>
                <a:cs typeface="Arial" panose="020B0604020202020204" pitchFamily="34" charset="0"/>
                <a:sym typeface="+mn-ea"/>
              </a:rPr>
              <a:t>'Gradient Descent on f(x) = x²'</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plt.xlabel(</a:t>
            </a:r>
            <a:r>
              <a:rPr>
                <a:solidFill>
                  <a:srgbClr val="0000FF"/>
                </a:solidFill>
                <a:latin typeface="Arial" panose="020B0604020202020204" pitchFamily="34" charset="0"/>
                <a:ea typeface="Monaco"/>
                <a:cs typeface="Arial" panose="020B0604020202020204" pitchFamily="34" charset="0"/>
                <a:sym typeface="+mn-ea"/>
              </a:rPr>
              <a:t>'x'</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plt.ylabel(</a:t>
            </a:r>
            <a:r>
              <a:rPr>
                <a:solidFill>
                  <a:srgbClr val="0000FF"/>
                </a:solidFill>
                <a:latin typeface="Arial" panose="020B0604020202020204" pitchFamily="34" charset="0"/>
                <a:ea typeface="Monaco"/>
                <a:cs typeface="Arial" panose="020B0604020202020204" pitchFamily="34" charset="0"/>
                <a:sym typeface="+mn-ea"/>
              </a:rPr>
              <a:t>'f(x)'</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plt.legend()</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plt.grid(</a:t>
            </a:r>
            <a:r>
              <a:rPr>
                <a:solidFill>
                  <a:srgbClr val="808080"/>
                </a:solidFill>
                <a:latin typeface="Arial" panose="020B0604020202020204" pitchFamily="34" charset="0"/>
                <a:ea typeface="Monaco"/>
                <a:cs typeface="Arial" panose="020B0604020202020204" pitchFamily="34" charset="0"/>
                <a:sym typeface="+mn-ea"/>
              </a:rPr>
              <a:t>True</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plt.show()</a:t>
            </a:r>
            <a:endParaRPr lang="en-US">
              <a:solidFill>
                <a:srgbClr val="000000"/>
              </a:solidFill>
              <a:latin typeface="Arial" panose="020B0604020202020204" pitchFamily="34" charset="0"/>
              <a:ea typeface="Monaco"/>
              <a:cs typeface="Arial" panose="020B0604020202020204" pitchFamily="34" charset="0"/>
              <a:sym typeface="+mn-ea"/>
            </a:endParaRPr>
          </a:p>
        </p:txBody>
      </p:sp>
      <p:sp>
        <p:nvSpPr>
          <p:cNvPr id="4" name="Text Box 3"/>
          <p:cNvSpPr txBox="1"/>
          <p:nvPr/>
        </p:nvSpPr>
        <p:spPr>
          <a:xfrm>
            <a:off x="388620" y="158115"/>
            <a:ext cx="4064000" cy="398780"/>
          </a:xfrm>
          <a:prstGeom prst="rect">
            <a:avLst/>
          </a:prstGeom>
          <a:noFill/>
        </p:spPr>
        <p:txBody>
          <a:bodyPr wrap="square" rtlCol="0">
            <a:spAutoFit/>
          </a:bodyPr>
          <a:p>
            <a:r>
              <a:rPr lang="en-US" sz="2000" b="1">
                <a:solidFill>
                  <a:srgbClr val="FF0000"/>
                </a:solidFill>
                <a:effectLst>
                  <a:outerShdw blurRad="38100" dist="38100" dir="2700000" algn="tl">
                    <a:srgbClr val="000000">
                      <a:alpha val="43137"/>
                    </a:srgbClr>
                  </a:outerShdw>
                </a:effectLst>
              </a:rPr>
              <a:t>GRADIENT CODE</a:t>
            </a:r>
            <a:endParaRPr lang="en-US" sz="2000" b="1">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5755" y="781685"/>
            <a:ext cx="11425555" cy="2339975"/>
          </a:xfrm>
          <a:prstGeom prst="rect">
            <a:avLst/>
          </a:prstGeom>
        </p:spPr>
        <p:txBody>
          <a:bodyPr wrap="square">
            <a:spAutoFit/>
          </a:bodyPr>
          <a:p>
            <a:pPr marL="0" indent="0" algn="just"/>
            <a:r>
              <a:rPr sz="28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The main types of gradient descent algorithms are </a:t>
            </a:r>
            <a:r>
              <a:rPr lang="en-IN" sz="1600" b="0" i="0">
                <a:solidFill>
                  <a:srgbClr val="001D35"/>
                </a:solidFill>
                <a:latin typeface="Arial" panose="020B0604020202020204" pitchFamily="34" charset="0"/>
                <a:ea typeface="Google Sans"/>
                <a:cs typeface="Arial" panose="020B0604020202020204" pitchFamily="34" charset="0"/>
              </a:rPr>
              <a:t>	</a:t>
            </a:r>
            <a:endParaRPr lang="en-IN" sz="1600" b="0" i="0">
              <a:solidFill>
                <a:srgbClr val="001D35"/>
              </a:solidFill>
              <a:latin typeface="Arial" panose="020B0604020202020204" pitchFamily="34" charset="0"/>
              <a:ea typeface="Google Sans"/>
              <a:cs typeface="Arial" panose="020B0604020202020204" pitchFamily="34" charset="0"/>
            </a:endParaRPr>
          </a:p>
          <a:p>
            <a:pPr marL="0" indent="457200" algn="just"/>
            <a:endParaRPr lang="en-IN" sz="1600" b="0" i="0">
              <a:solidFill>
                <a:srgbClr val="001D35"/>
              </a:solidFill>
              <a:latin typeface="Arial" panose="020B0604020202020204" pitchFamily="34" charset="0"/>
              <a:ea typeface="Google Sans"/>
              <a:cs typeface="Arial" panose="020B0604020202020204" pitchFamily="34" charset="0"/>
            </a:endParaRPr>
          </a:p>
          <a:p>
            <a:pPr marL="0" indent="457200" algn="just">
              <a:lnSpc>
                <a:spcPct val="130000"/>
              </a:lnSpc>
            </a:pPr>
            <a:r>
              <a:rPr lang="en-IN" b="1" i="0">
                <a:solidFill>
                  <a:srgbClr val="001D35"/>
                </a:solidFill>
                <a:latin typeface="Arial" panose="020B0604020202020204" pitchFamily="34" charset="0"/>
                <a:ea typeface="Google Sans"/>
                <a:cs typeface="Arial" panose="020B0604020202020204" pitchFamily="34" charset="0"/>
              </a:rPr>
              <a:t>1. </a:t>
            </a:r>
            <a:r>
              <a:rPr b="1" i="0">
                <a:solidFill>
                  <a:srgbClr val="001D35"/>
                </a:solidFill>
                <a:latin typeface="Arial" panose="020B0604020202020204" pitchFamily="34" charset="0"/>
                <a:ea typeface="Google Sans"/>
                <a:cs typeface="Arial" panose="020B0604020202020204" pitchFamily="34" charset="0"/>
              </a:rPr>
              <a:t>batch gradient descent</a:t>
            </a:r>
            <a:endParaRPr b="1" i="0">
              <a:solidFill>
                <a:srgbClr val="001D35"/>
              </a:solidFill>
              <a:latin typeface="Arial" panose="020B0604020202020204" pitchFamily="34" charset="0"/>
              <a:ea typeface="Google Sans"/>
              <a:cs typeface="Arial" panose="020B0604020202020204" pitchFamily="34" charset="0"/>
            </a:endParaRPr>
          </a:p>
          <a:p>
            <a:pPr marL="0" indent="457200" algn="just">
              <a:lnSpc>
                <a:spcPct val="130000"/>
              </a:lnSpc>
            </a:pPr>
            <a:r>
              <a:rPr lang="en-IN" b="1" i="0">
                <a:solidFill>
                  <a:srgbClr val="001D35"/>
                </a:solidFill>
                <a:latin typeface="Arial" panose="020B0604020202020204" pitchFamily="34" charset="0"/>
                <a:ea typeface="Google Sans"/>
                <a:cs typeface="Arial" panose="020B0604020202020204" pitchFamily="34" charset="0"/>
              </a:rPr>
              <a:t>2. </a:t>
            </a:r>
            <a:r>
              <a:rPr b="1" i="0">
                <a:solidFill>
                  <a:srgbClr val="001D35"/>
                </a:solidFill>
                <a:latin typeface="Arial" panose="020B0604020202020204" pitchFamily="34" charset="0"/>
                <a:ea typeface="Google Sans"/>
                <a:cs typeface="Arial" panose="020B0604020202020204" pitchFamily="34" charset="0"/>
              </a:rPr>
              <a:t>stochastic gradient descent (SGD) </a:t>
            </a:r>
            <a:endParaRPr b="1" i="0">
              <a:solidFill>
                <a:srgbClr val="001D35"/>
              </a:solidFill>
              <a:latin typeface="Arial" panose="020B0604020202020204" pitchFamily="34" charset="0"/>
              <a:ea typeface="Google Sans"/>
              <a:cs typeface="Arial" panose="020B0604020202020204" pitchFamily="34" charset="0"/>
            </a:endParaRPr>
          </a:p>
          <a:p>
            <a:pPr marL="0" indent="457200" algn="just">
              <a:lnSpc>
                <a:spcPct val="130000"/>
              </a:lnSpc>
            </a:pPr>
            <a:r>
              <a:rPr lang="en-IN" b="1" i="0">
                <a:solidFill>
                  <a:srgbClr val="001D35"/>
                </a:solidFill>
                <a:latin typeface="Arial" panose="020B0604020202020204" pitchFamily="34" charset="0"/>
                <a:ea typeface="Google Sans"/>
                <a:cs typeface="Arial" panose="020B0604020202020204" pitchFamily="34" charset="0"/>
              </a:rPr>
              <a:t>3. </a:t>
            </a:r>
            <a:r>
              <a:rPr b="1" i="0">
                <a:solidFill>
                  <a:srgbClr val="001D35"/>
                </a:solidFill>
                <a:latin typeface="Arial" panose="020B0604020202020204" pitchFamily="34" charset="0"/>
                <a:ea typeface="Google Sans"/>
                <a:cs typeface="Arial" panose="020B0604020202020204" pitchFamily="34" charset="0"/>
              </a:rPr>
              <a:t>mini-batch gradient descent</a:t>
            </a:r>
            <a:r>
              <a:rPr b="0" i="0">
                <a:solidFill>
                  <a:srgbClr val="001D35"/>
                </a:solidFill>
                <a:latin typeface="Arial" panose="020B0604020202020204" pitchFamily="34" charset="0"/>
                <a:ea typeface="Google Sans"/>
                <a:cs typeface="Arial" panose="020B0604020202020204" pitchFamily="34" charset="0"/>
              </a:rPr>
              <a:t> </a:t>
            </a:r>
            <a:endParaRPr sz="1600" b="0" i="0">
              <a:solidFill>
                <a:srgbClr val="001D35"/>
              </a:solidFill>
              <a:latin typeface="Arial" panose="020B0604020202020204" pitchFamily="34" charset="0"/>
              <a:ea typeface="Google Sans"/>
              <a:cs typeface="Arial" panose="020B0604020202020204" pitchFamily="34" charset="0"/>
            </a:endParaRPr>
          </a:p>
          <a:p>
            <a:pPr marL="0" indent="457200" algn="just"/>
            <a:endParaRPr sz="1600" b="0" i="0">
              <a:solidFill>
                <a:srgbClr val="001D35"/>
              </a:solidFill>
              <a:latin typeface="Arial" panose="020B0604020202020204" pitchFamily="34" charset="0"/>
              <a:ea typeface="Google Sans"/>
              <a:cs typeface="Arial" panose="020B0604020202020204" pitchFamily="34" charset="0"/>
            </a:endParaRPr>
          </a:p>
          <a:p>
            <a:pPr marL="0" indent="457200" algn="just"/>
            <a:r>
              <a:rPr lang="en-IN" sz="1600" b="0" i="0">
                <a:solidFill>
                  <a:srgbClr val="001D35"/>
                </a:solidFill>
                <a:latin typeface="Arial" panose="020B0604020202020204" pitchFamily="34" charset="0"/>
                <a:ea typeface="Google Sans"/>
                <a:cs typeface="Arial" panose="020B0604020202020204" pitchFamily="34" charset="0"/>
              </a:rPr>
              <a:t>E</a:t>
            </a:r>
            <a:r>
              <a:rPr sz="1600" b="0" i="0">
                <a:solidFill>
                  <a:srgbClr val="001D35"/>
                </a:solidFill>
                <a:latin typeface="Arial" panose="020B0604020202020204" pitchFamily="34" charset="0"/>
                <a:ea typeface="Google Sans"/>
                <a:cs typeface="Arial" panose="020B0604020202020204" pitchFamily="34" charset="0"/>
              </a:rPr>
              <a:t>ach differing in how they update model parameters during training.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4670" y="154940"/>
            <a:ext cx="6528435" cy="1496695"/>
          </a:xfrm>
          <a:prstGeom prst="rect">
            <a:avLst/>
          </a:prstGeom>
        </p:spPr>
        <p:txBody>
          <a:bodyPr wrap="square">
            <a:spAutoFit/>
          </a:bodyPr>
          <a:p>
            <a:pPr marL="0" indent="0">
              <a:spcBef>
                <a:spcPct val="0"/>
              </a:spcBef>
              <a:spcAft>
                <a:spcPts val="400"/>
              </a:spcAft>
              <a:buFont typeface="Arial" panose="020B0604020202020204"/>
              <a:buNone/>
            </a:pPr>
            <a:r>
              <a:rPr lang="en-IN" sz="2400" b="1" i="0">
                <a:solidFill>
                  <a:srgbClr val="FF0000"/>
                </a:solidFill>
                <a:effectLst>
                  <a:outerShdw blurRad="38100" dist="38100" dir="2700000" algn="tl">
                    <a:srgbClr val="000000">
                      <a:alpha val="43137"/>
                    </a:srgbClr>
                  </a:outerShdw>
                </a:effectLst>
                <a:latin typeface="Google Sans"/>
                <a:ea typeface="Google Sans"/>
              </a:rPr>
              <a:t>1. </a:t>
            </a:r>
            <a:r>
              <a:rPr sz="2400" b="1" i="0">
                <a:solidFill>
                  <a:srgbClr val="FF0000"/>
                </a:solidFill>
                <a:effectLst>
                  <a:outerShdw blurRad="38100" dist="38100" dir="2700000" algn="tl">
                    <a:srgbClr val="000000">
                      <a:alpha val="43137"/>
                    </a:srgbClr>
                  </a:outerShdw>
                </a:effectLst>
                <a:latin typeface="Google Sans"/>
                <a:ea typeface="Google Sans"/>
              </a:rPr>
              <a:t>Batch Gradient Descent:</a:t>
            </a:r>
            <a:endParaRPr sz="2400" b="1" i="0">
              <a:solidFill>
                <a:srgbClr val="FF0000"/>
              </a:solidFill>
              <a:effectLst>
                <a:outerShdw blurRad="38100" dist="38100" dir="2700000" algn="tl">
                  <a:srgbClr val="000000">
                    <a:alpha val="43137"/>
                  </a:srgbClr>
                </a:outerShdw>
              </a:effectLst>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This method calculates the error for each example in the entire training dataset and only updates the pavery slow for large datasets as it requires processing the entire dataset for each iteration.</a:t>
            </a:r>
            <a:endParaRPr sz="1600" b="0" i="0">
              <a:solidFill>
                <a:srgbClr val="001D35"/>
              </a:solidFill>
              <a:latin typeface="Google Sans"/>
              <a:ea typeface="Google Sans"/>
            </a:endParaRPr>
          </a:p>
        </p:txBody>
      </p:sp>
      <p:pic>
        <p:nvPicPr>
          <p:cNvPr id="3" name="Picture 2"/>
          <p:cNvPicPr/>
          <p:nvPr/>
        </p:nvPicPr>
        <p:blipFill>
          <a:blip r:embed="rId1"/>
          <a:srcRect l="19716" r="11939" b="5969"/>
          <a:stretch>
            <a:fillRect/>
          </a:stretch>
        </p:blipFill>
        <p:spPr>
          <a:xfrm>
            <a:off x="7062470" y="0"/>
            <a:ext cx="4975225" cy="3533775"/>
          </a:xfrm>
          <a:prstGeom prst="rect">
            <a:avLst/>
          </a:prstGeom>
        </p:spPr>
      </p:pic>
      <p:sp>
        <p:nvSpPr>
          <p:cNvPr id="4" name="Text Box 3"/>
          <p:cNvSpPr txBox="1"/>
          <p:nvPr/>
        </p:nvSpPr>
        <p:spPr>
          <a:xfrm>
            <a:off x="335915" y="3257550"/>
            <a:ext cx="10861040" cy="3158490"/>
          </a:xfrm>
          <a:prstGeom prst="rect">
            <a:avLst/>
          </a:prstGeom>
        </p:spPr>
        <p:txBody>
          <a:bodyPr wrap="square">
            <a:spAutoFit/>
          </a:bodyPr>
          <a:p>
            <a:pPr marL="0" indent="0">
              <a:spcBef>
                <a:spcPct val="0"/>
              </a:spcBef>
              <a:spcAft>
                <a:spcPts val="400"/>
              </a:spcAft>
              <a:buFont typeface="Arial" panose="020B0604020202020204"/>
              <a:buChar char="•"/>
            </a:pPr>
            <a:r>
              <a:rPr sz="1600" b="1" i="0">
                <a:solidFill>
                  <a:srgbClr val="FF0000"/>
                </a:solidFill>
                <a:effectLst>
                  <a:outerShdw blurRad="38100" dist="38100" dir="2700000" algn="tl">
                    <a:srgbClr val="000000">
                      <a:alpha val="43137"/>
                    </a:srgbClr>
                  </a:outerShdw>
                </a:effectLst>
                <a:latin typeface="Google Sans"/>
                <a:ea typeface="Google Sans"/>
              </a:rPr>
              <a:t>How it works: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BGD calculates the average gradient of the cost function across all training examples. </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It then updates the model's parameters in the opposite direction of the calculated gradient. </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This process repeats for a specified number of iterations (epochs).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0" i="0">
                <a:solidFill>
                  <a:srgbClr val="001D35"/>
                </a:solidFill>
                <a:latin typeface="Google Sans"/>
                <a:ea typeface="Google Sans"/>
              </a:rPr>
              <a:t>The model parameters are updated only once per epoch, after all training examples have been evaluated.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FF0000"/>
                </a:solidFill>
                <a:effectLst>
                  <a:outerShdw blurRad="38100" dist="38100" dir="2700000" algn="tl">
                    <a:srgbClr val="000000">
                      <a:alpha val="43137"/>
                    </a:srgbClr>
                  </a:outerShdw>
                </a:effectLst>
                <a:latin typeface="Google Sans"/>
                <a:ea typeface="Google Sans"/>
              </a:rPr>
              <a:t>Advantages: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Stable error gradient and convergence: </a:t>
            </a:r>
            <a:r>
              <a:rPr sz="1600" b="0" i="0">
                <a:solidFill>
                  <a:srgbClr val="001D35"/>
                </a:solidFill>
                <a:latin typeface="Google Sans"/>
                <a:ea typeface="Google Sans"/>
              </a:rPr>
              <a:t>BGD typically produces a stable error gradient and convergence, meaning the algorithm tends to converge to a stable solution.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lang="en-IN" sz="1600" b="1" i="0">
                <a:solidFill>
                  <a:srgbClr val="001D35"/>
                </a:solidFill>
                <a:latin typeface="Google Sans"/>
                <a:ea typeface="Google Sans"/>
              </a:rPr>
              <a:t>. </a:t>
            </a:r>
            <a:endParaRPr lang="en-IN" sz="1600" b="0" i="0">
              <a:solidFill>
                <a:srgbClr val="001D35"/>
              </a:solidFill>
              <a:latin typeface="Google Sans"/>
              <a:ea typeface="Google Sans"/>
            </a:endParaRPr>
          </a:p>
        </p:txBody>
      </p:sp>
      <p:sp>
        <p:nvSpPr>
          <p:cNvPr id="5" name="Text Box 4"/>
          <p:cNvSpPr txBox="1"/>
          <p:nvPr/>
        </p:nvSpPr>
        <p:spPr>
          <a:xfrm>
            <a:off x="191770" y="1651635"/>
            <a:ext cx="8413115" cy="1722120"/>
          </a:xfrm>
          <a:prstGeom prst="rect">
            <a:avLst/>
          </a:prstGeom>
          <a:noFill/>
        </p:spPr>
        <p:txBody>
          <a:bodyPr wrap="square" rtlCol="0">
            <a:spAutoFit/>
          </a:bodyPr>
          <a:p>
            <a:pPr marL="457200" lvl="1" indent="0">
              <a:spcBef>
                <a:spcPct val="0"/>
              </a:spcBef>
              <a:spcAft>
                <a:spcPts val="400"/>
              </a:spcAft>
            </a:pPr>
            <a:r>
              <a:rPr lang="en-US" sz="1600">
                <a:solidFill>
                  <a:srgbClr val="001D35"/>
                </a:solidFill>
                <a:latin typeface="Google Sans"/>
                <a:ea typeface="Google Sans"/>
                <a:sym typeface="+mn-ea"/>
              </a:rPr>
              <a:t>P</a:t>
            </a:r>
            <a:r>
              <a:rPr sz="1600">
                <a:solidFill>
                  <a:srgbClr val="001D35"/>
                </a:solidFill>
                <a:latin typeface="Google Sans"/>
                <a:ea typeface="Google Sans"/>
                <a:sym typeface="+mn-ea"/>
              </a:rPr>
              <a:t>rameters after evaluating all examples.</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1">
                <a:solidFill>
                  <a:srgbClr val="001D35"/>
                </a:solidFill>
                <a:latin typeface="Google Sans"/>
                <a:ea typeface="Google Sans"/>
                <a:sym typeface="+mn-ea"/>
              </a:rPr>
              <a:t>Pros:</a:t>
            </a:r>
            <a:r>
              <a:rPr sz="1600">
                <a:solidFill>
                  <a:srgbClr val="001D35"/>
                </a:solidFill>
                <a:latin typeface="Google Sans"/>
                <a:ea typeface="Google Sans"/>
                <a:sym typeface="+mn-ea"/>
              </a:rPr>
              <a:t> </a:t>
            </a:r>
            <a:endParaRPr sz="1600" b="0" i="0">
              <a:solidFill>
                <a:srgbClr val="001D35"/>
              </a:solidFill>
              <a:latin typeface="Google Sans"/>
              <a:ea typeface="Google Sans"/>
            </a:endParaRPr>
          </a:p>
          <a:p>
            <a:pPr lvl="2" indent="0">
              <a:spcBef>
                <a:spcPct val="0"/>
              </a:spcBef>
              <a:spcAft>
                <a:spcPts val="400"/>
              </a:spcAft>
              <a:buFont typeface="Arial" panose="020B0604020202020204"/>
              <a:buNone/>
            </a:pPr>
            <a:r>
              <a:rPr sz="1600">
                <a:solidFill>
                  <a:srgbClr val="001D35"/>
                </a:solidFill>
                <a:latin typeface="Google Sans"/>
                <a:ea typeface="Google Sans"/>
                <a:sym typeface="+mn-ea"/>
              </a:rPr>
              <a:t>Guarantees convergence to a global minimum for convex functions, and is more stable than SGD.</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a:solidFill>
                  <a:srgbClr val="001D35"/>
                </a:solidFill>
                <a:latin typeface="Google Sans"/>
                <a:ea typeface="Google Sans"/>
                <a:sym typeface="+mn-ea"/>
              </a:rPr>
              <a:t>Cons:</a:t>
            </a:r>
            <a:r>
              <a:rPr sz="1600">
                <a:solidFill>
                  <a:srgbClr val="001D35"/>
                </a:solidFill>
                <a:latin typeface="Google Sans"/>
                <a:ea typeface="Google Sans"/>
                <a:sym typeface="+mn-ea"/>
              </a:rPr>
              <a:t> </a:t>
            </a:r>
            <a:endParaRPr sz="1600" b="0" i="0">
              <a:solidFill>
                <a:srgbClr val="001D35"/>
              </a:solidFill>
              <a:latin typeface="Google Sans"/>
              <a:ea typeface="Google Sans"/>
            </a:endParaRPr>
          </a:p>
          <a:p>
            <a:pPr lvl="2" indent="0">
              <a:spcBef>
                <a:spcPct val="0"/>
              </a:spcBef>
              <a:spcAft>
                <a:spcPct val="0"/>
              </a:spcAft>
              <a:buFont typeface="Arial" panose="020B0604020202020204"/>
              <a:buNone/>
            </a:pPr>
            <a:r>
              <a:rPr sz="1600">
                <a:solidFill>
                  <a:srgbClr val="001D35"/>
                </a:solidFill>
                <a:latin typeface="Google Sans"/>
                <a:ea typeface="Google Sans"/>
                <a:sym typeface="+mn-ea"/>
              </a:rPr>
              <a:t>Can be </a:t>
            </a:r>
            <a:endParaRPr sz="1600">
              <a:solidFill>
                <a:srgbClr val="001D35"/>
              </a:solidFill>
              <a:latin typeface="Google Sans"/>
              <a:ea typeface="Google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5135" y="229235"/>
            <a:ext cx="11196320" cy="3528060"/>
          </a:xfrm>
          <a:prstGeom prst="rect">
            <a:avLst/>
          </a:prstGeom>
          <a:noFill/>
        </p:spPr>
        <p:txBody>
          <a:bodyPr wrap="square" rtlCol="0" anchor="t">
            <a:spAutoFit/>
          </a:bodyPr>
          <a:p>
            <a:pPr marL="0" indent="0">
              <a:spcBef>
                <a:spcPct val="0"/>
              </a:spcBef>
              <a:spcAft>
                <a:spcPts val="400"/>
              </a:spcAft>
              <a:buFont typeface="Arial" panose="020B0604020202020204"/>
              <a:buChar char="•"/>
            </a:pPr>
            <a:r>
              <a:rPr sz="1600" b="1">
                <a:solidFill>
                  <a:srgbClr val="FF0000"/>
                </a:solidFill>
                <a:effectLst>
                  <a:outerShdw blurRad="38100" dist="38100" dir="2700000" algn="tl">
                    <a:srgbClr val="000000">
                      <a:alpha val="43137"/>
                    </a:srgbClr>
                  </a:outerShdw>
                </a:effectLst>
                <a:latin typeface="Google Sans"/>
                <a:ea typeface="Google Sans"/>
                <a:sym typeface="+mn-ea"/>
              </a:rPr>
              <a:t>Disadvantages: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b="1">
                <a:solidFill>
                  <a:srgbClr val="001D35"/>
                </a:solidFill>
                <a:latin typeface="Google Sans"/>
                <a:ea typeface="Google Sans"/>
                <a:sym typeface="+mn-ea"/>
              </a:rPr>
              <a:t>Slow for large datasets: </a:t>
            </a:r>
            <a:r>
              <a:rPr sz="1600">
                <a:solidFill>
                  <a:srgbClr val="001D35"/>
                </a:solidFill>
                <a:latin typeface="Google Sans"/>
                <a:ea typeface="Google Sans"/>
                <a:sym typeface="+mn-ea"/>
              </a:rPr>
              <a:t>BGD can be slow and memory-intensive when dealing with large datasets, as it requires storing and processing the entire dataset in memory.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a:solidFill>
                  <a:srgbClr val="001D35"/>
                </a:solidFill>
                <a:latin typeface="Google Sans"/>
                <a:ea typeface="Google Sans"/>
                <a:sym typeface="+mn-ea"/>
              </a:rPr>
              <a:t>Potential for local minima:</a:t>
            </a:r>
            <a:r>
              <a:rPr sz="1600">
                <a:solidFill>
                  <a:srgbClr val="001D35"/>
                </a:solidFill>
                <a:latin typeface="Google Sans"/>
                <a:ea typeface="Google Sans"/>
                <a:sym typeface="+mn-ea"/>
              </a:rPr>
              <a:t> While BGD generally converges to a stable solution, it may sometimes get stuck in local minima, which are not the optimal solutions. </a:t>
            </a:r>
            <a:endParaRPr sz="1600">
              <a:solidFill>
                <a:srgbClr val="001D35"/>
              </a:solidFill>
              <a:latin typeface="Google Sans"/>
              <a:ea typeface="Google Sans"/>
              <a:sym typeface="+mn-ea"/>
            </a:endParaRPr>
          </a:p>
          <a:p>
            <a:pPr marL="0" lvl="1" indent="0">
              <a:spcBef>
                <a:spcPct val="0"/>
              </a:spcBef>
              <a:spcAft>
                <a:spcPct val="0"/>
              </a:spcAft>
              <a:buFont typeface="Arial" panose="020B0604020202020204"/>
              <a:buNone/>
            </a:pPr>
            <a:endParaRPr sz="1600" b="0" i="0">
              <a:solidFill>
                <a:srgbClr val="001D35"/>
              </a:solidFill>
              <a:latin typeface="Google Sans"/>
              <a:ea typeface="Google Sans"/>
            </a:endParaRPr>
          </a:p>
          <a:p>
            <a:pPr marL="0" lvl="1" indent="0">
              <a:spcBef>
                <a:spcPct val="0"/>
              </a:spcBef>
              <a:spcAft>
                <a:spcPct val="0"/>
              </a:spcAft>
              <a:buFont typeface="Arial" panose="020B0604020202020204"/>
              <a:buNone/>
            </a:pP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b="1">
                <a:solidFill>
                  <a:srgbClr val="FF0000"/>
                </a:solidFill>
                <a:effectLst>
                  <a:outerShdw blurRad="38100" dist="38100" dir="2700000" algn="tl">
                    <a:srgbClr val="000000">
                      <a:alpha val="43137"/>
                    </a:srgbClr>
                  </a:outerShdw>
                </a:effectLst>
                <a:latin typeface="Google Sans"/>
                <a:ea typeface="Google Sans"/>
                <a:sym typeface="+mn-ea"/>
              </a:rPr>
              <a:t>Variants:</a:t>
            </a:r>
            <a:endParaRPr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a:solidFill>
                  <a:srgbClr val="001D35"/>
                </a:solidFill>
                <a:effectLst>
                  <a:outerShdw blurRad="38100" dist="38100" dir="2700000" algn="tl">
                    <a:srgbClr val="000000">
                      <a:alpha val="43137"/>
                    </a:srgbClr>
                  </a:outerShdw>
                </a:effectLst>
                <a:latin typeface="Google Sans"/>
                <a:ea typeface="Google Sans"/>
                <a:sym typeface="+mn-ea"/>
              </a:rPr>
              <a:t>Stochastic Gradient Descent (SGD):</a:t>
            </a:r>
            <a:r>
              <a:rPr sz="1600">
                <a:solidFill>
                  <a:srgbClr val="001D35"/>
                </a:solidFill>
                <a:latin typeface="Google Sans"/>
                <a:ea typeface="Google Sans"/>
                <a:sym typeface="+mn-ea"/>
              </a:rPr>
              <a:t> SGD updates parameters after processing each training example, leading to faster but potentially noisier convergence. </a:t>
            </a:r>
            <a:endParaRPr sz="1600">
              <a:solidFill>
                <a:srgbClr val="001D35"/>
              </a:solidFill>
              <a:latin typeface="Google Sans"/>
              <a:ea typeface="Google Sans"/>
              <a:sym typeface="+mn-ea"/>
            </a:endParaRPr>
          </a:p>
          <a:p>
            <a:pPr marL="0" lvl="1" indent="0">
              <a:spcBef>
                <a:spcPct val="0"/>
              </a:spcBef>
              <a:spcAft>
                <a:spcPts val="400"/>
              </a:spcAft>
              <a:buFont typeface="Arial" panose="020B0604020202020204"/>
              <a:buNone/>
            </a:pP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a:solidFill>
                  <a:srgbClr val="001D35"/>
                </a:solidFill>
                <a:effectLst>
                  <a:outerShdw blurRad="38100" dist="38100" dir="2700000" algn="tl">
                    <a:srgbClr val="000000">
                      <a:alpha val="43137"/>
                    </a:srgbClr>
                  </a:outerShdw>
                </a:effectLst>
                <a:latin typeface="Google Sans"/>
                <a:ea typeface="Google Sans"/>
                <a:sym typeface="+mn-ea"/>
              </a:rPr>
              <a:t>Mini-batch Gradient Descent:</a:t>
            </a:r>
            <a:r>
              <a:rPr sz="1600">
                <a:solidFill>
                  <a:srgbClr val="001D35"/>
                </a:solidFill>
                <a:latin typeface="Google Sans"/>
                <a:ea typeface="Google Sans"/>
                <a:sym typeface="+mn-ea"/>
              </a:rPr>
              <a:t> This method finds a balance between SGD and BGD by processing the data in small batches, updating the parameters after each batch. </a:t>
            </a:r>
            <a:endParaRPr lang="en-US" sz="1600">
              <a:solidFill>
                <a:srgbClr val="001D35"/>
              </a:solidFill>
              <a:latin typeface="Google Sans"/>
              <a:ea typeface="Google Sans"/>
              <a:sym typeface="+mn-ea"/>
            </a:endParaRPr>
          </a:p>
        </p:txBody>
      </p:sp>
      <p:sp>
        <p:nvSpPr>
          <p:cNvPr id="3" name="Text Box 2"/>
          <p:cNvSpPr txBox="1"/>
          <p:nvPr/>
        </p:nvSpPr>
        <p:spPr>
          <a:xfrm>
            <a:off x="371475" y="6368415"/>
            <a:ext cx="11583670" cy="368300"/>
          </a:xfrm>
          <a:prstGeom prst="rect">
            <a:avLst/>
          </a:prstGeom>
          <a:noFill/>
        </p:spPr>
        <p:txBody>
          <a:bodyPr wrap="square" rtlCol="0" anchor="t">
            <a:spAutoFit/>
          </a:bodyPr>
          <a:p>
            <a:r>
              <a:rPr lang="en-US" altLang="en-US"/>
              <a:t>https://medium.com/data-science/batch-mini-batch-stochastic-gradient-descent-7a62ecba642a</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6580" y="306070"/>
            <a:ext cx="11091545" cy="2389505"/>
          </a:xfrm>
          <a:prstGeom prst="rect">
            <a:avLst/>
          </a:prstGeom>
        </p:spPr>
        <p:txBody>
          <a:bodyPr wrap="square">
            <a:spAutoFit/>
          </a:bodyPr>
          <a:p>
            <a:pPr marL="0" indent="0">
              <a:spcBef>
                <a:spcPct val="0"/>
              </a:spcBef>
              <a:spcAft>
                <a:spcPts val="400"/>
              </a:spcAft>
              <a:buFont typeface="Arial" panose="020B0604020202020204"/>
              <a:buNone/>
            </a:pPr>
            <a:r>
              <a:rPr lang="en-IN" sz="2400" b="1" i="0">
                <a:solidFill>
                  <a:srgbClr val="FF0000"/>
                </a:solidFill>
                <a:effectLst>
                  <a:outerShdw blurRad="38100" dist="38100" dir="2700000" algn="tl">
                    <a:srgbClr val="000000">
                      <a:alpha val="43137"/>
                    </a:srgbClr>
                  </a:outerShdw>
                </a:effectLst>
                <a:latin typeface="Google Sans"/>
                <a:ea typeface="Google Sans"/>
              </a:rPr>
              <a:t>2. </a:t>
            </a:r>
            <a:r>
              <a:rPr sz="2400" b="1" i="0">
                <a:solidFill>
                  <a:srgbClr val="FF0000"/>
                </a:solidFill>
                <a:effectLst>
                  <a:outerShdw blurRad="38100" dist="38100" dir="2700000" algn="tl">
                    <a:srgbClr val="000000">
                      <a:alpha val="43137"/>
                    </a:srgbClr>
                  </a:outerShdw>
                </a:effectLst>
                <a:latin typeface="Google Sans"/>
                <a:ea typeface="Google Sans"/>
              </a:rPr>
              <a:t>Stochastic Gradient Descent (SGD):</a:t>
            </a:r>
            <a:endParaRPr sz="2400" b="1" i="0">
              <a:solidFill>
                <a:srgbClr val="FF0000"/>
              </a:solidFill>
              <a:effectLst>
                <a:outerShdw blurRad="38100" dist="38100" dir="2700000" algn="tl">
                  <a:srgbClr val="000000">
                    <a:alpha val="43137"/>
                  </a:srgbClr>
                </a:outerShdw>
              </a:effectLst>
              <a:latin typeface="Google Sans"/>
              <a:ea typeface="Google Sans"/>
            </a:endParaRPr>
          </a:p>
          <a:p>
            <a:pPr marL="0" indent="457200">
              <a:spcBef>
                <a:spcPct val="0"/>
              </a:spcBef>
              <a:spcAft>
                <a:spcPts val="400"/>
              </a:spcAft>
            </a:pPr>
            <a:r>
              <a:rPr sz="1600" b="0" i="0">
                <a:solidFill>
                  <a:srgbClr val="001D35"/>
                </a:solidFill>
                <a:latin typeface="Google Sans"/>
                <a:ea typeface="Google Sans"/>
              </a:rPr>
              <a:t>Updates the model parameters for each training example individually.</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1" i="0">
                <a:solidFill>
                  <a:srgbClr val="001D35"/>
                </a:solidFill>
                <a:latin typeface="Google Sans"/>
                <a:ea typeface="Google Sans"/>
              </a:rPr>
              <a:t>Pros</a:t>
            </a:r>
            <a:r>
              <a:rPr sz="1600" b="0" i="0">
                <a:solidFill>
                  <a:srgbClr val="001D35"/>
                </a:solidFill>
                <a:latin typeface="Google Sans"/>
                <a:ea typeface="Google Sans"/>
              </a:rPr>
              <a:t>: </a:t>
            </a:r>
            <a:endParaRPr sz="1600" b="0" i="0">
              <a:solidFill>
                <a:srgbClr val="001D35"/>
              </a:solidFill>
              <a:latin typeface="Google Sans"/>
              <a:ea typeface="Google Sans"/>
            </a:endParaRPr>
          </a:p>
          <a:p>
            <a:pPr lvl="2" indent="0">
              <a:spcBef>
                <a:spcPct val="0"/>
              </a:spcBef>
              <a:spcAft>
                <a:spcPts val="400"/>
              </a:spcAft>
              <a:buFont typeface="Arial" panose="020B0604020202020204"/>
              <a:buNone/>
            </a:pPr>
            <a:r>
              <a:rPr sz="1600" b="0" i="0">
                <a:solidFill>
                  <a:srgbClr val="001D35"/>
                </a:solidFill>
                <a:latin typeface="Google Sans"/>
                <a:ea typeface="Google Sans"/>
              </a:rPr>
              <a:t>Faster than batch gradient descent, especially for large datasets, and can escape local minima more easily.</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i="0">
                <a:solidFill>
                  <a:srgbClr val="001D35"/>
                </a:solidFill>
                <a:latin typeface="Google Sans"/>
                <a:ea typeface="Google Sans"/>
              </a:rPr>
              <a:t>Cons</a:t>
            </a:r>
            <a:r>
              <a:rPr sz="1600" b="0" i="0">
                <a:solidFill>
                  <a:srgbClr val="001D35"/>
                </a:solidFill>
                <a:latin typeface="Google Sans"/>
                <a:ea typeface="Google Sans"/>
              </a:rPr>
              <a:t>: </a:t>
            </a:r>
            <a:endParaRPr sz="1600" b="0" i="0">
              <a:solidFill>
                <a:srgbClr val="001D35"/>
              </a:solidFill>
              <a:latin typeface="Google Sans"/>
              <a:ea typeface="Google Sans"/>
            </a:endParaRPr>
          </a:p>
          <a:p>
            <a:pPr lvl="2" indent="0">
              <a:spcBef>
                <a:spcPct val="0"/>
              </a:spcBef>
              <a:spcAft>
                <a:spcPct val="0"/>
              </a:spcAft>
              <a:buFont typeface="Arial" panose="020B0604020202020204"/>
              <a:buNone/>
            </a:pPr>
            <a:r>
              <a:rPr sz="1600" b="0" i="0">
                <a:solidFill>
                  <a:srgbClr val="001D35"/>
                </a:solidFill>
                <a:latin typeface="Google Sans"/>
                <a:ea typeface="Google Sans"/>
              </a:rPr>
              <a:t>Can be noisy and may not converge to the global minimum, and can oscillate around the minimum.</a:t>
            </a:r>
            <a:endParaRPr sz="1600" b="0" i="0">
              <a:solidFill>
                <a:srgbClr val="001D35"/>
              </a:solidFill>
              <a:latin typeface="Google Sans"/>
              <a:ea typeface="Google Sans"/>
            </a:endParaRPr>
          </a:p>
        </p:txBody>
      </p:sp>
      <p:pic>
        <p:nvPicPr>
          <p:cNvPr id="3" name="Picture 2"/>
          <p:cNvPicPr/>
          <p:nvPr/>
        </p:nvPicPr>
        <p:blipFill>
          <a:blip r:embed="rId1"/>
          <a:stretch>
            <a:fillRect/>
          </a:stretch>
        </p:blipFill>
        <p:spPr>
          <a:xfrm>
            <a:off x="8166735" y="4083685"/>
            <a:ext cx="4025265" cy="2690495"/>
          </a:xfrm>
          <a:prstGeom prst="rect">
            <a:avLst/>
          </a:prstGeom>
        </p:spPr>
      </p:pic>
      <p:sp>
        <p:nvSpPr>
          <p:cNvPr id="4" name="Text Box 3"/>
          <p:cNvSpPr txBox="1"/>
          <p:nvPr/>
        </p:nvSpPr>
        <p:spPr>
          <a:xfrm>
            <a:off x="193675" y="2793365"/>
            <a:ext cx="8060690" cy="3817620"/>
          </a:xfrm>
          <a:prstGeom prst="rect">
            <a:avLst/>
          </a:prstGeom>
        </p:spPr>
        <p:txBody>
          <a:bodyPr wrap="square">
            <a:spAutoFit/>
          </a:bodyPr>
          <a:p>
            <a:pPr marL="0" indent="0">
              <a:spcBef>
                <a:spcPct val="0"/>
              </a:spcBef>
              <a:spcAft>
                <a:spcPts val="1000"/>
              </a:spcAft>
            </a:pPr>
            <a:r>
              <a:rPr sz="1600" b="0" i="0">
                <a:solidFill>
                  <a:srgbClr val="001D35"/>
                </a:solidFill>
                <a:latin typeface="Google Sans"/>
                <a:ea typeface="Google Sans"/>
              </a:rPr>
              <a:t>Stochastic Gradient Descent (SGD) is an optimization algorithm used in deep learning to train models efficiently, particularly for large datasets, by updating model parameters using a randomly selected subset of data points (or a single data point) instead of the entire dataset at once. </a:t>
            </a:r>
            <a:endParaRPr sz="1600" b="0" i="0">
              <a:solidFill>
                <a:srgbClr val="001D35"/>
              </a:solidFill>
              <a:latin typeface="Google Sans"/>
              <a:ea typeface="Google Sans"/>
            </a:endParaRPr>
          </a:p>
          <a:p>
            <a:pPr marL="0" indent="0">
              <a:spcBef>
                <a:spcPts val="1000"/>
              </a:spcBef>
              <a:spcAft>
                <a:spcPts val="500"/>
              </a:spcAft>
            </a:pPr>
            <a:r>
              <a:rPr sz="1600" b="1" i="0">
                <a:solidFill>
                  <a:srgbClr val="001D35"/>
                </a:solidFill>
                <a:effectLst>
                  <a:outerShdw blurRad="38100" dist="38100" dir="2700000" algn="tl">
                    <a:srgbClr val="000000">
                      <a:alpha val="43137"/>
                    </a:srgbClr>
                  </a:outerShdw>
                </a:effectLst>
                <a:latin typeface="Google Sans"/>
                <a:ea typeface="Google Sans"/>
              </a:rPr>
              <a:t>Here's a more detailed explanation:</a:t>
            </a:r>
            <a:endParaRPr sz="1600" b="1" i="0">
              <a:solidFill>
                <a:srgbClr val="001D35"/>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effectLst>
                  <a:outerShdw blurRad="38100" dist="38100" dir="2700000" algn="tl">
                    <a:srgbClr val="000000">
                      <a:alpha val="43137"/>
                    </a:srgbClr>
                  </a:outerShdw>
                </a:effectLst>
                <a:latin typeface="Google Sans"/>
                <a:ea typeface="Google Sans"/>
              </a:rPr>
              <a:t>What it is:</a:t>
            </a:r>
            <a:endParaRPr sz="1600" b="1" i="0">
              <a:solidFill>
                <a:srgbClr val="001D35"/>
              </a:solidFill>
              <a:effectLst>
                <a:outerShdw blurRad="38100" dist="38100" dir="2700000" algn="tl">
                  <a:srgbClr val="000000">
                    <a:alpha val="43137"/>
                  </a:srgbClr>
                </a:outerShdw>
              </a:effectLst>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SGD is a variant of the gradient descent algorithm, which is used to minimize a loss function in machine learning models.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effectLst>
                  <a:outerShdw blurRad="38100" dist="38100" dir="2700000" algn="tl">
                    <a:srgbClr val="000000">
                      <a:alpha val="43137"/>
                    </a:srgbClr>
                  </a:outerShdw>
                </a:effectLst>
                <a:latin typeface="Google Sans"/>
                <a:ea typeface="Google Sans"/>
              </a:rPr>
              <a:t>How it works:</a:t>
            </a:r>
            <a:endParaRPr sz="1600" b="1" i="0">
              <a:solidFill>
                <a:srgbClr val="001D35"/>
              </a:solidFill>
              <a:effectLst>
                <a:outerShdw blurRad="38100" dist="38100" dir="2700000" algn="tl">
                  <a:srgbClr val="000000">
                    <a:alpha val="43137"/>
                  </a:srgbClr>
                </a:outerShdw>
              </a:effectLst>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Unlike traditional gradient descent, which uses the entire dataset to calculate the gradient and update model parameters, SGD updates the parameters using only a small batch (or a single data point) at a time.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endParaRPr sz="1600" b="0" i="0">
              <a:solidFill>
                <a:srgbClr val="001D35"/>
              </a:solidFill>
              <a:latin typeface="Google Sans"/>
              <a:ea typeface="Google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1605" y="0"/>
            <a:ext cx="5473700" cy="6858000"/>
          </a:xfrm>
          <a:prstGeom prst="rect">
            <a:avLst/>
          </a:prstGeom>
          <a:noFill/>
        </p:spPr>
        <p:txBody>
          <a:bodyPr wrap="square" rtlCol="0" anchor="t">
            <a:noAutofit/>
          </a:bodyPr>
          <a:p>
            <a:pPr marL="0" indent="0">
              <a:spcBef>
                <a:spcPct val="0"/>
              </a:spcBef>
              <a:spcAft>
                <a:spcPts val="400"/>
              </a:spcAft>
              <a:buFont typeface="Arial" panose="020B0604020202020204"/>
              <a:buChar char="•"/>
            </a:pPr>
            <a:r>
              <a:rPr sz="20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rPr>
              <a:t>Why it's used:</a:t>
            </a:r>
            <a:endParaRPr sz="2000" b="1"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Computational Efficiency:</a:t>
            </a:r>
            <a:r>
              <a:rPr sz="1600">
                <a:solidFill>
                  <a:srgbClr val="001D35"/>
                </a:solidFill>
                <a:latin typeface="Arial" panose="020B0604020202020204" pitchFamily="34" charset="0"/>
                <a:ea typeface="Google Sans"/>
                <a:cs typeface="Arial" panose="020B0604020202020204" pitchFamily="34" charset="0"/>
                <a:sym typeface="+mn-ea"/>
              </a:rPr>
              <a:t> SGD is computationally efficient, especially for large datasets, as it avoids processing the entire dataset for each parameter update.</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Faster Convergence:</a:t>
            </a:r>
            <a:r>
              <a:rPr sz="1600">
                <a:solidFill>
                  <a:srgbClr val="001D35"/>
                </a:solidFill>
                <a:latin typeface="Arial" panose="020B0604020202020204" pitchFamily="34" charset="0"/>
                <a:ea typeface="Google Sans"/>
                <a:cs typeface="Arial" panose="020B0604020202020204" pitchFamily="34" charset="0"/>
                <a:sym typeface="+mn-ea"/>
              </a:rPr>
              <a:t> SGD can lead to faster convergence compared to traditional gradient descent, as it updates the parameters more frequently.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Suitable for Large Datasets:</a:t>
            </a:r>
            <a:r>
              <a:rPr sz="1600">
                <a:solidFill>
                  <a:srgbClr val="001D35"/>
                </a:solidFill>
                <a:latin typeface="Arial" panose="020B0604020202020204" pitchFamily="34" charset="0"/>
                <a:ea typeface="Google Sans"/>
                <a:cs typeface="Arial" panose="020B0604020202020204" pitchFamily="34" charset="0"/>
                <a:sym typeface="+mn-ea"/>
              </a:rPr>
              <a:t> SGD is well-suited for training models on large datasets where processing the entire dataset at once would be computationally infeasible.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24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rPr>
              <a:t>Drawbacks:</a:t>
            </a:r>
            <a:endParaRPr sz="2400" b="1"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Noisy Updates: </a:t>
            </a:r>
            <a:r>
              <a:rPr sz="1600">
                <a:solidFill>
                  <a:srgbClr val="001D35"/>
                </a:solidFill>
                <a:latin typeface="Arial" panose="020B0604020202020204" pitchFamily="34" charset="0"/>
                <a:ea typeface="Google Sans"/>
                <a:cs typeface="Arial" panose="020B0604020202020204" pitchFamily="34" charset="0"/>
                <a:sym typeface="+mn-ea"/>
              </a:rPr>
              <a:t>SGD introduces more noise into the learning process, which can lead to less stable convergence compared to traditional gradient descent.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Potential for Oscillations:</a:t>
            </a:r>
            <a:r>
              <a:rPr sz="1600">
                <a:solidFill>
                  <a:srgbClr val="001D35"/>
                </a:solidFill>
                <a:latin typeface="Arial" panose="020B0604020202020204" pitchFamily="34" charset="0"/>
                <a:ea typeface="Google Sans"/>
                <a:cs typeface="Arial" panose="020B0604020202020204" pitchFamily="34" charset="0"/>
                <a:sym typeface="+mn-ea"/>
              </a:rPr>
              <a:t> The noisy updates can cause the algorithm to oscillate around the optimal solution, potentially slowing down convergence. </a:t>
            </a:r>
            <a:endParaRPr sz="1600" b="0" i="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None/>
            </a:pP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
        <p:nvSpPr>
          <p:cNvPr id="3" name="Text Box 2"/>
          <p:cNvSpPr txBox="1"/>
          <p:nvPr/>
        </p:nvSpPr>
        <p:spPr>
          <a:xfrm>
            <a:off x="5860415" y="196850"/>
            <a:ext cx="6096000" cy="5429250"/>
          </a:xfrm>
          <a:prstGeom prst="rect">
            <a:avLst/>
          </a:prstGeom>
          <a:noFill/>
        </p:spPr>
        <p:txBody>
          <a:bodyPr wrap="square" rtlCol="0" anchor="t">
            <a:noAutofit/>
          </a:bodyPr>
          <a:p>
            <a:pPr marL="0" lvl="1" indent="0">
              <a:spcBef>
                <a:spcPts val="400"/>
              </a:spcBef>
              <a:spcAft>
                <a:spcPct val="0"/>
              </a:spcAft>
              <a:buFont typeface="Arial" panose="020B0604020202020204"/>
              <a:buNone/>
            </a:pPr>
            <a:r>
              <a:rPr sz="2400" b="1">
                <a:solidFill>
                  <a:srgbClr val="001D35"/>
                </a:solidFill>
                <a:latin typeface="Arial" panose="020B0604020202020204" pitchFamily="34" charset="0"/>
                <a:ea typeface="Google Sans"/>
                <a:cs typeface="Arial" panose="020B0604020202020204" pitchFamily="34" charset="0"/>
                <a:sym typeface="+mn-ea"/>
              </a:rPr>
              <a:t>Variants of SGD:</a:t>
            </a:r>
            <a:endParaRPr sz="2400" b="1"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endParaRPr sz="1600" b="1">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Mini-batch SGD: </a:t>
            </a:r>
            <a:r>
              <a:rPr sz="1600">
                <a:solidFill>
                  <a:srgbClr val="001D35"/>
                </a:solidFill>
                <a:latin typeface="Arial" panose="020B0604020202020204" pitchFamily="34" charset="0"/>
                <a:ea typeface="Google Sans"/>
                <a:cs typeface="Arial" panose="020B0604020202020204" pitchFamily="34" charset="0"/>
                <a:sym typeface="+mn-ea"/>
              </a:rPr>
              <a:t>This variant uses small batches of data points instead of a single data point, which can help reduce the noise and improve stability.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endParaRPr sz="1600" b="1">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SGD with Momentum: </a:t>
            </a:r>
            <a:r>
              <a:rPr sz="1600">
                <a:solidFill>
                  <a:srgbClr val="001D35"/>
                </a:solidFill>
                <a:latin typeface="Arial" panose="020B0604020202020204" pitchFamily="34" charset="0"/>
                <a:ea typeface="Google Sans"/>
                <a:cs typeface="Arial" panose="020B0604020202020204" pitchFamily="34" charset="0"/>
                <a:sym typeface="+mn-ea"/>
              </a:rPr>
              <a:t>This variant adds a momentum term to the update rule, which helps the algorithm to move faster and more smoothly towards the optimal solution.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None/>
            </a:pPr>
            <a:endParaRPr sz="16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endParaRPr>
          </a:p>
          <a:p>
            <a:pPr marL="0" indent="0">
              <a:spcBef>
                <a:spcPct val="0"/>
              </a:spcBef>
              <a:spcAft>
                <a:spcPct val="0"/>
              </a:spcAft>
              <a:buFont typeface="Arial" panose="020B0604020202020204"/>
              <a:buNone/>
            </a:pPr>
            <a:r>
              <a:rPr sz="24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rPr>
              <a:t>Applications:</a:t>
            </a:r>
            <a:endParaRPr sz="2400" b="1"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ct val="0"/>
              </a:spcBef>
              <a:spcAft>
                <a:spcPct val="0"/>
              </a:spcAft>
            </a:pPr>
            <a:endParaRPr sz="16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ct val="0"/>
              </a:spcAft>
            </a:pPr>
            <a:r>
              <a:rPr sz="1600">
                <a:solidFill>
                  <a:srgbClr val="001D35"/>
                </a:solidFill>
                <a:latin typeface="Arial" panose="020B0604020202020204" pitchFamily="34" charset="0"/>
                <a:ea typeface="Google Sans"/>
                <a:cs typeface="Arial" panose="020B0604020202020204" pitchFamily="34" charset="0"/>
                <a:sym typeface="+mn-ea"/>
              </a:rPr>
              <a:t>SGD is widely used in various deep learning tasks, including:</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Image Recognition: </a:t>
            </a:r>
            <a:r>
              <a:rPr sz="1600">
                <a:solidFill>
                  <a:srgbClr val="001D35"/>
                </a:solidFill>
                <a:latin typeface="Arial" panose="020B0604020202020204" pitchFamily="34" charset="0"/>
                <a:ea typeface="Google Sans"/>
                <a:cs typeface="Arial" panose="020B0604020202020204" pitchFamily="34" charset="0"/>
                <a:sym typeface="+mn-ea"/>
              </a:rPr>
              <a:t>Training convolutional neural networks (CNNs) for tasks like image classification and object detection.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Natural Language Processing (NLP)</a:t>
            </a:r>
            <a:r>
              <a:rPr sz="1600">
                <a:solidFill>
                  <a:srgbClr val="001D35"/>
                </a:solidFill>
                <a:latin typeface="Arial" panose="020B0604020202020204" pitchFamily="34" charset="0"/>
                <a:ea typeface="Google Sans"/>
                <a:cs typeface="Arial" panose="020B0604020202020204" pitchFamily="34" charset="0"/>
                <a:sym typeface="+mn-ea"/>
              </a:rPr>
              <a:t>: Training models for tasks like text classification, machine translation, and sentiment analysis.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Reinforcement Learning:</a:t>
            </a:r>
            <a:r>
              <a:rPr sz="1600">
                <a:solidFill>
                  <a:srgbClr val="001D35"/>
                </a:solidFill>
                <a:latin typeface="Arial" panose="020B0604020202020204" pitchFamily="34" charset="0"/>
                <a:ea typeface="Google Sans"/>
                <a:cs typeface="Arial" panose="020B0604020202020204" pitchFamily="34" charset="0"/>
                <a:sym typeface="+mn-ea"/>
              </a:rPr>
              <a:t> Training models for tasks like game playing and robotics. </a:t>
            </a: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rcRect r="2663" b="1824"/>
          <a:stretch>
            <a:fillRect/>
          </a:stretch>
        </p:blipFill>
        <p:spPr>
          <a:xfrm>
            <a:off x="5043170" y="102870"/>
            <a:ext cx="7148830" cy="3978275"/>
          </a:xfrm>
          <a:prstGeom prst="rect">
            <a:avLst/>
          </a:prstGeom>
        </p:spPr>
      </p:pic>
      <p:sp>
        <p:nvSpPr>
          <p:cNvPr id="2" name="Text Box 1"/>
          <p:cNvSpPr txBox="1"/>
          <p:nvPr/>
        </p:nvSpPr>
        <p:spPr>
          <a:xfrm>
            <a:off x="220345" y="102870"/>
            <a:ext cx="5875020" cy="5692775"/>
          </a:xfrm>
          <a:prstGeom prst="rect">
            <a:avLst/>
          </a:prstGeom>
        </p:spPr>
        <p:txBody>
          <a:bodyPr wrap="square">
            <a:spAutoFit/>
          </a:bodyPr>
          <a:p>
            <a:pPr marL="0" indent="0">
              <a:spcBef>
                <a:spcPct val="0"/>
              </a:spcBef>
              <a:spcAft>
                <a:spcPct val="0"/>
              </a:spcAft>
              <a:buFont typeface="Arial" panose="020B0604020202020204"/>
              <a:buNone/>
            </a:pPr>
            <a:r>
              <a:rPr lang="en-IN" sz="2400" b="1" i="0">
                <a:solidFill>
                  <a:srgbClr val="FF0000"/>
                </a:solidFill>
                <a:effectLst>
                  <a:outerShdw blurRad="38100" dist="38100" dir="2700000" algn="tl">
                    <a:srgbClr val="000000">
                      <a:alpha val="43137"/>
                    </a:srgbClr>
                  </a:outerShdw>
                </a:effectLst>
                <a:latin typeface="Google Sans"/>
                <a:ea typeface="Google Sans"/>
              </a:rPr>
              <a:t>3. </a:t>
            </a:r>
            <a:r>
              <a:rPr sz="2400" b="1" i="0">
                <a:solidFill>
                  <a:srgbClr val="FF0000"/>
                </a:solidFill>
                <a:effectLst>
                  <a:outerShdw blurRad="38100" dist="38100" dir="2700000" algn="tl">
                    <a:srgbClr val="000000">
                      <a:alpha val="43137"/>
                    </a:srgbClr>
                  </a:outerShdw>
                </a:effectLst>
                <a:latin typeface="Google Sans"/>
                <a:ea typeface="Google Sans"/>
              </a:rPr>
              <a:t>Mini-Batch Gradient Descent:</a:t>
            </a:r>
            <a:endParaRPr sz="2400" b="1" i="0">
              <a:solidFill>
                <a:srgbClr val="FF0000"/>
              </a:solidFill>
              <a:effectLst>
                <a:outerShdw blurRad="38100" dist="38100" dir="2700000" algn="tl">
                  <a:srgbClr val="000000">
                    <a:alpha val="43137"/>
                  </a:srgbClr>
                </a:outerShdw>
              </a:effectLst>
              <a:latin typeface="Google Sans"/>
              <a:ea typeface="Google Sans"/>
            </a:endParaRPr>
          </a:p>
          <a:p>
            <a:pPr marL="457200" lvl="1" indent="0" algn="just">
              <a:spcBef>
                <a:spcPct val="0"/>
              </a:spcBef>
              <a:spcAft>
                <a:spcPct val="0"/>
              </a:spcAft>
            </a:pPr>
            <a:r>
              <a:rPr sz="1600" b="0" i="0">
                <a:solidFill>
                  <a:srgbClr val="001D35"/>
                </a:solidFill>
                <a:latin typeface="Google Sans"/>
                <a:ea typeface="Google Sans"/>
              </a:rPr>
              <a:t>Combines the strengths of batch and stochastic gradient descent by updating parameters using small batches of data (instead of one or all examples).</a:t>
            </a:r>
            <a:endParaRPr sz="1600" b="0" i="0">
              <a:solidFill>
                <a:srgbClr val="001D35"/>
              </a:solidFill>
              <a:latin typeface="Google Sans"/>
              <a:ea typeface="Google Sans"/>
            </a:endParaRPr>
          </a:p>
          <a:p>
            <a:pPr marL="457200" lvl="1" indent="0" algn="just">
              <a:spcBef>
                <a:spcPct val="0"/>
              </a:spcBef>
              <a:spcAft>
                <a:spcPct val="0"/>
              </a:spcAft>
            </a:pPr>
            <a:endParaRPr sz="1600" b="0" i="0">
              <a:solidFill>
                <a:srgbClr val="001D35"/>
              </a:solidFill>
              <a:latin typeface="Google Sans"/>
              <a:ea typeface="Google Sans"/>
            </a:endParaRPr>
          </a:p>
          <a:p>
            <a:pPr marL="0" lvl="1" indent="0" algn="just">
              <a:spcBef>
                <a:spcPct val="0"/>
              </a:spcBef>
              <a:spcAft>
                <a:spcPts val="400"/>
              </a:spcAft>
              <a:buFont typeface="Arial" panose="020B0604020202020204"/>
              <a:buNone/>
            </a:pPr>
            <a:r>
              <a:rPr sz="1600" b="1">
                <a:solidFill>
                  <a:srgbClr val="1F1F1F"/>
                </a:solidFill>
                <a:latin typeface="Google Sans"/>
                <a:ea typeface="Google Sans"/>
                <a:sym typeface="+mn-ea"/>
              </a:rPr>
              <a:t>How Mini-Batch Gradient Descent Works. </a:t>
            </a:r>
            <a:endParaRPr sz="1600" b="1">
              <a:solidFill>
                <a:srgbClr val="1F1F1F"/>
              </a:solidFill>
              <a:latin typeface="Google Sans"/>
              <a:ea typeface="Google Sans"/>
              <a:sym typeface="+mn-ea"/>
            </a:endParaRPr>
          </a:p>
          <a:p>
            <a:pPr marL="0" lvl="1" indent="0" algn="just">
              <a:spcBef>
                <a:spcPct val="0"/>
              </a:spcBef>
              <a:spcAft>
                <a:spcPts val="400"/>
              </a:spcAft>
              <a:buFont typeface="Arial" panose="020B0604020202020204"/>
              <a:buNone/>
            </a:pPr>
            <a:r>
              <a:rPr sz="1600">
                <a:solidFill>
                  <a:srgbClr val="1F1F1F"/>
                </a:solidFill>
                <a:latin typeface="Google Sans"/>
                <a:ea typeface="Google Sans"/>
                <a:sym typeface="+mn-ea"/>
              </a:rPr>
              <a:t>Splitting the Data: </a:t>
            </a:r>
            <a:r>
              <a:rPr sz="1600">
                <a:solidFill>
                  <a:srgbClr val="040C28"/>
                </a:solidFill>
                <a:latin typeface="Google Sans"/>
                <a:ea typeface="Google Sans"/>
                <a:sym typeface="+mn-ea"/>
              </a:rPr>
              <a:t>The training dataset is divided into smaller mini-batches</a:t>
            </a:r>
            <a:r>
              <a:rPr sz="1600">
                <a:solidFill>
                  <a:srgbClr val="1F1F1F"/>
                </a:solidFill>
                <a:latin typeface="Google Sans"/>
                <a:ea typeface="Google Sans"/>
                <a:sym typeface="+mn-ea"/>
              </a:rPr>
              <a:t>. Each mini-batch contains a subset of data points. For example, if the dataset has 10,000 examples, we might split it into 100 mini-batches, each containing 100 data points.</a:t>
            </a:r>
            <a:endParaRPr sz="1600" b="0" i="0">
              <a:solidFill>
                <a:srgbClr val="1F1F1F"/>
              </a:solidFill>
              <a:latin typeface="Google Sans"/>
              <a:ea typeface="Google Sans"/>
            </a:endParaRPr>
          </a:p>
          <a:p>
            <a:pPr marL="0" lvl="1" indent="0" algn="just">
              <a:spcBef>
                <a:spcPct val="0"/>
              </a:spcBef>
              <a:spcAft>
                <a:spcPts val="400"/>
              </a:spcAft>
              <a:buFont typeface="Arial" panose="020B0604020202020204"/>
              <a:buNone/>
            </a:pPr>
            <a:endParaRPr sz="1600" b="1" i="0">
              <a:solidFill>
                <a:srgbClr val="001D35"/>
              </a:solidFill>
              <a:latin typeface="Google Sans"/>
              <a:ea typeface="Google Sans"/>
            </a:endParaRPr>
          </a:p>
          <a:p>
            <a:pPr marL="0" lvl="1" indent="0" algn="just">
              <a:spcBef>
                <a:spcPct val="0"/>
              </a:spcBef>
              <a:spcAft>
                <a:spcPts val="400"/>
              </a:spcAft>
              <a:buFont typeface="Arial" panose="020B0604020202020204"/>
              <a:buChar char="◦"/>
            </a:pPr>
            <a:r>
              <a:rPr sz="1600" b="1" i="0">
                <a:solidFill>
                  <a:srgbClr val="001D35"/>
                </a:solidFill>
                <a:latin typeface="Google Sans"/>
                <a:ea typeface="Google Sans"/>
              </a:rPr>
              <a:t>Pros: </a:t>
            </a:r>
            <a:endParaRPr sz="1600" b="0" i="0">
              <a:solidFill>
                <a:srgbClr val="001D35"/>
              </a:solidFill>
              <a:latin typeface="Google Sans"/>
              <a:ea typeface="Google Sans"/>
            </a:endParaRPr>
          </a:p>
          <a:p>
            <a:pPr marL="0" lvl="1" indent="457200" algn="just">
              <a:spcBef>
                <a:spcPct val="0"/>
              </a:spcBef>
              <a:spcAft>
                <a:spcPts val="400"/>
              </a:spcAft>
              <a:buFont typeface="Arial" panose="020B0604020202020204"/>
              <a:buNone/>
            </a:pPr>
            <a:r>
              <a:rPr sz="1600" b="0" i="0">
                <a:solidFill>
                  <a:srgbClr val="001D35"/>
                </a:solidFill>
                <a:latin typeface="Google Sans"/>
                <a:ea typeface="Google Sans"/>
              </a:rPr>
              <a:t>A good compromise between the speed of SGD and the stability of batch gradient descent, and is often the preferred method in practice.</a:t>
            </a:r>
            <a:endParaRPr sz="1600" b="0" i="0">
              <a:solidFill>
                <a:srgbClr val="001D35"/>
              </a:solidFill>
              <a:latin typeface="Google Sans"/>
              <a:ea typeface="Google Sans"/>
            </a:endParaRPr>
          </a:p>
          <a:p>
            <a:pPr marL="0" lvl="1" indent="0" algn="just">
              <a:spcBef>
                <a:spcPct val="0"/>
              </a:spcBef>
              <a:spcAft>
                <a:spcPts val="400"/>
              </a:spcAft>
              <a:buFont typeface="Arial" panose="020B0604020202020204"/>
              <a:buNone/>
            </a:pPr>
            <a:endParaRPr sz="1600" b="0" i="0">
              <a:solidFill>
                <a:srgbClr val="001D35"/>
              </a:solidFill>
              <a:latin typeface="Google Sans"/>
              <a:ea typeface="Google Sans"/>
            </a:endParaRPr>
          </a:p>
          <a:p>
            <a:pPr marL="0" lvl="1" indent="0" algn="just">
              <a:spcBef>
                <a:spcPct val="0"/>
              </a:spcBef>
              <a:spcAft>
                <a:spcPct val="0"/>
              </a:spcAft>
              <a:buFont typeface="Arial" panose="020B0604020202020204"/>
              <a:buChar char="◦"/>
            </a:pPr>
            <a:r>
              <a:rPr sz="1600" b="1" i="0">
                <a:solidFill>
                  <a:srgbClr val="001D35"/>
                </a:solidFill>
                <a:latin typeface="Google Sans"/>
                <a:ea typeface="Google Sans"/>
              </a:rPr>
              <a:t>Cons: </a:t>
            </a:r>
            <a:endParaRPr sz="1600" b="1" i="0">
              <a:solidFill>
                <a:srgbClr val="001D35"/>
              </a:solidFill>
              <a:latin typeface="Google Sans"/>
              <a:ea typeface="Google Sans"/>
            </a:endParaRPr>
          </a:p>
          <a:p>
            <a:pPr marL="0" lvl="1" indent="457200" algn="just">
              <a:spcBef>
                <a:spcPct val="0"/>
              </a:spcBef>
              <a:spcAft>
                <a:spcPct val="0"/>
              </a:spcAft>
              <a:buFont typeface="Arial" panose="020B0604020202020204"/>
              <a:buNone/>
            </a:pPr>
            <a:r>
              <a:rPr sz="1600" b="0" i="0">
                <a:solidFill>
                  <a:srgbClr val="001D35"/>
                </a:solidFill>
                <a:latin typeface="Google Sans"/>
                <a:ea typeface="Google Sans"/>
              </a:rPr>
              <a:t>Requires careful selection of batch size, which can impact performance.</a:t>
            </a:r>
            <a:endParaRPr sz="1600" b="0" i="0">
              <a:solidFill>
                <a:srgbClr val="001D35"/>
              </a:solidFill>
              <a:latin typeface="Google Sans"/>
              <a:ea typeface="Google Sans"/>
            </a:endParaRPr>
          </a:p>
        </p:txBody>
      </p:sp>
      <p:sp>
        <p:nvSpPr>
          <p:cNvPr id="3" name="Text Box 2"/>
          <p:cNvSpPr txBox="1"/>
          <p:nvPr/>
        </p:nvSpPr>
        <p:spPr>
          <a:xfrm>
            <a:off x="507365" y="6389370"/>
            <a:ext cx="8970645" cy="368300"/>
          </a:xfrm>
          <a:prstGeom prst="rect">
            <a:avLst/>
          </a:prstGeom>
          <a:noFill/>
        </p:spPr>
        <p:txBody>
          <a:bodyPr wrap="square" rtlCol="0" anchor="t">
            <a:spAutoFit/>
          </a:bodyPr>
          <a:p>
            <a:r>
              <a:rPr lang="en-US" altLang="en-US"/>
              <a:t>https://www.geeksforgeeks.org/mini-batch-gradient-descent-in-deep-learning/</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6060" y="285115"/>
            <a:ext cx="11529695" cy="6216015"/>
          </a:xfrm>
          <a:prstGeom prst="rect">
            <a:avLst/>
          </a:prstGeom>
        </p:spPr>
        <p:txBody>
          <a:bodyPr wrap="square">
            <a:spAutoFit/>
          </a:bodyPr>
          <a:p>
            <a:pPr marL="0" indent="0">
              <a:spcBef>
                <a:spcPct val="0"/>
              </a:spcBef>
              <a:spcAft>
                <a:spcPts val="400"/>
              </a:spcAft>
              <a:buFont typeface="Arial" panose="020B0604020202020204"/>
              <a:buChar char="•"/>
            </a:pPr>
            <a:r>
              <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How it works:</a:t>
            </a:r>
            <a:endPar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Instead of processing the entire dataset at once (like in batch gradient descent) or individual data points (like in stochastic gradient descent), mini-batch gradient descent divides the data into smaller batches.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each batch, it calculates the gradient of the loss function with respect to the model's parameters (weights).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Then, it updates the parameters using these gradients.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This process is repeated iteratively until the model converges to a satisfactory solution.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endParaRPr sz="1600" b="0"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Why it's used:</a:t>
            </a:r>
            <a:endPar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Computational Efficiency:</a:t>
            </a:r>
            <a:r>
              <a:rPr sz="1600" b="0" i="0">
                <a:solidFill>
                  <a:srgbClr val="001D35"/>
                </a:solidFill>
                <a:latin typeface="Arial" panose="020B0604020202020204" pitchFamily="34" charset="0"/>
                <a:ea typeface="Google Sans"/>
                <a:cs typeface="Arial" panose="020B0604020202020204" pitchFamily="34" charset="0"/>
              </a:rPr>
              <a:t> Processing mini-batches is faster than processing the entire dataset in each iteration, leading to faster training times.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Stability:</a:t>
            </a:r>
            <a:r>
              <a:rPr sz="1600" b="0" i="0">
                <a:solidFill>
                  <a:srgbClr val="001D35"/>
                </a:solidFill>
                <a:latin typeface="Arial" panose="020B0604020202020204" pitchFamily="34" charset="0"/>
                <a:ea typeface="Google Sans"/>
                <a:cs typeface="Arial" panose="020B0604020202020204" pitchFamily="34" charset="0"/>
              </a:rPr>
              <a:t> Mini-batch gradient descent provides a more stable update process compared to stochastic gradient descent, which can be noisy due to using only one data point per iteration.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Hardware Optimization: </a:t>
            </a:r>
            <a:r>
              <a:rPr sz="1600" b="0" i="0">
                <a:solidFill>
                  <a:srgbClr val="001D35"/>
                </a:solidFill>
                <a:latin typeface="Arial" panose="020B0604020202020204" pitchFamily="34" charset="0"/>
                <a:ea typeface="Google Sans"/>
                <a:cs typeface="Arial" panose="020B0604020202020204" pitchFamily="34" charset="0"/>
              </a:rPr>
              <a:t>It allows for better utilization of parallel computing power, especially on GPUs, as matrix operations can be performed efficiently on mini-batches.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Relationship to other gradient descent methods: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Batch Gradient Descent: </a:t>
            </a:r>
            <a:r>
              <a:rPr sz="1600" b="0" i="0">
                <a:solidFill>
                  <a:srgbClr val="001D35"/>
                </a:solidFill>
                <a:latin typeface="Arial" panose="020B0604020202020204" pitchFamily="34" charset="0"/>
                <a:ea typeface="Google Sans"/>
                <a:cs typeface="Arial" panose="020B0604020202020204" pitchFamily="34" charset="0"/>
              </a:rPr>
              <a:t>Uses the entire dataset to calculate the gradient in each iteration, leading to more accurate but slower updates.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Stochastic Gradient Descent (SGD): </a:t>
            </a:r>
            <a:r>
              <a:rPr sz="1600" b="0" i="0">
                <a:solidFill>
                  <a:srgbClr val="001D35"/>
                </a:solidFill>
                <a:latin typeface="Arial" panose="020B0604020202020204" pitchFamily="34" charset="0"/>
                <a:ea typeface="Google Sans"/>
                <a:cs typeface="Arial" panose="020B0604020202020204" pitchFamily="34" charset="0"/>
              </a:rPr>
              <a:t>Uses a single data point to calculate the gradient in each iteration, leading to faster but potentially less stable updates.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Mini-batch gradient descent strikes a balance between the two, offering a good trade-off between speed and stability .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p:nvPr/>
        </p:nvPicPr>
        <p:blipFill>
          <a:blip r:embed="rId1"/>
          <a:stretch>
            <a:fillRect/>
          </a:stretch>
        </p:blipFill>
        <p:spPr>
          <a:xfrm>
            <a:off x="1003935" y="0"/>
            <a:ext cx="10019665" cy="6411595"/>
          </a:xfrm>
          <a:prstGeom prst="rect">
            <a:avLst/>
          </a:prstGeom>
        </p:spPr>
      </p:pic>
      <p:sp>
        <p:nvSpPr>
          <p:cNvPr id="2" name="Text Box 1"/>
          <p:cNvSpPr txBox="1"/>
          <p:nvPr/>
        </p:nvSpPr>
        <p:spPr>
          <a:xfrm>
            <a:off x="974725" y="6213475"/>
            <a:ext cx="6096000" cy="368300"/>
          </a:xfrm>
          <a:prstGeom prst="rect">
            <a:avLst/>
          </a:prstGeom>
          <a:noFill/>
        </p:spPr>
        <p:txBody>
          <a:bodyPr wrap="square" rtlCol="0" anchor="t">
            <a:spAutoFit/>
          </a:bodyPr>
          <a:p>
            <a:r>
              <a:rPr lang="en-US" altLang="en-US"/>
              <a:t>https://blog.skz.dev/gradient-descent</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 y="4667250"/>
            <a:ext cx="11770360" cy="1322070"/>
          </a:xfrm>
          <a:prstGeom prst="rect">
            <a:avLst/>
          </a:prstGeom>
        </p:spPr>
        <p:txBody>
          <a:bodyPr wrap="square">
            <a:spAutoFit/>
          </a:bodyPr>
          <a:p>
            <a:r>
              <a:rPr sz="1600" b="1">
                <a:solidFill>
                  <a:srgbClr val="FF0000"/>
                </a:solidFill>
              </a:rPr>
              <a:t>SGD:</a:t>
            </a:r>
            <a:r>
              <a:rPr sz="1600"/>
              <a:t> Fast per-iteration, but may take more iterations (more time overall) and can be noisy due to updates based on individual samples. Works well for very large datasets and can be parallelized or used in online settings.</a:t>
            </a:r>
            <a:endParaRPr sz="1600"/>
          </a:p>
          <a:p>
            <a:endParaRPr sz="1600"/>
          </a:p>
          <a:p>
            <a:r>
              <a:rPr sz="1600" b="1">
                <a:solidFill>
                  <a:srgbClr val="FF0000"/>
                </a:solidFill>
              </a:rPr>
              <a:t>Batch Gradient Descent:</a:t>
            </a:r>
            <a:r>
              <a:rPr sz="1600"/>
              <a:t> More stable per iteration but computationally expensive, especially with large datasets. Can converge faster in terms of number of epochs but may take a long time per epoch.</a:t>
            </a:r>
            <a:endParaRPr sz="1600"/>
          </a:p>
        </p:txBody>
      </p:sp>
      <p:pic>
        <p:nvPicPr>
          <p:cNvPr id="4" name="Picture 3"/>
          <p:cNvPicPr/>
          <p:nvPr/>
        </p:nvPicPr>
        <p:blipFill>
          <a:blip r:embed="rId1"/>
          <a:stretch>
            <a:fillRect/>
          </a:stretch>
        </p:blipFill>
        <p:spPr>
          <a:xfrm>
            <a:off x="0" y="78740"/>
            <a:ext cx="11638280" cy="4208780"/>
          </a:xfrm>
          <a:prstGeom prst="rect">
            <a:avLst/>
          </a:prstGeom>
        </p:spPr>
      </p:pic>
      <p:sp>
        <p:nvSpPr>
          <p:cNvPr id="5" name="Text Box 4"/>
          <p:cNvSpPr txBox="1"/>
          <p:nvPr/>
        </p:nvSpPr>
        <p:spPr>
          <a:xfrm>
            <a:off x="220345" y="4381500"/>
            <a:ext cx="9048750" cy="368300"/>
          </a:xfrm>
          <a:prstGeom prst="rect">
            <a:avLst/>
          </a:prstGeom>
          <a:noFill/>
        </p:spPr>
        <p:txBody>
          <a:bodyPr wrap="square" rtlCol="0" anchor="t">
            <a:spAutoFit/>
          </a:bodyPr>
          <a:p>
            <a:r>
              <a:rPr lang="en-US" altLang="en-US">
                <a:solidFill>
                  <a:srgbClr val="FF0000"/>
                </a:solidFill>
              </a:rPr>
              <a:t>Computation time is more in sgd and Computation cost is very high in batch what it means</a:t>
            </a:r>
            <a:endParaRPr lang="en-US" altLang="en-US">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254758" y="0"/>
            <a:ext cx="1182472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344)"/>
          <p:cNvPicPr>
            <a:picLocks noChangeAspect="1"/>
          </p:cNvPicPr>
          <p:nvPr/>
        </p:nvPicPr>
        <p:blipFill>
          <a:blip r:embed="rId1"/>
          <a:srcRect l="29635" t="31583" r="24063" b="32333"/>
          <a:stretch>
            <a:fillRect/>
          </a:stretch>
        </p:blipFill>
        <p:spPr>
          <a:xfrm>
            <a:off x="137160" y="2867025"/>
            <a:ext cx="5645150" cy="2474595"/>
          </a:xfrm>
          <a:prstGeom prst="rect">
            <a:avLst/>
          </a:prstGeom>
        </p:spPr>
      </p:pic>
      <p:sp>
        <p:nvSpPr>
          <p:cNvPr id="2" name="Text Box 1"/>
          <p:cNvSpPr txBox="1"/>
          <p:nvPr/>
        </p:nvSpPr>
        <p:spPr>
          <a:xfrm>
            <a:off x="430530" y="75565"/>
            <a:ext cx="5665470" cy="2920365"/>
          </a:xfrm>
          <a:prstGeom prst="rect">
            <a:avLst/>
          </a:prstGeom>
        </p:spPr>
        <p:txBody>
          <a:bodyPr wrap="square">
            <a:spAutoFit/>
          </a:bodyPr>
          <a:p>
            <a:pPr>
              <a:spcAft>
                <a:spcPct val="60000"/>
              </a:spcAft>
            </a:pPr>
            <a:r>
              <a:rPr sz="2300" b="1"/>
              <a:t>1. What is a Gradient?</a:t>
            </a:r>
            <a:endParaRPr sz="2300" b="1"/>
          </a:p>
          <a:p>
            <a:r>
              <a:rPr sz="1600"/>
              <a:t>A gradient is the derivative of the loss function with respect to the model's parameters (weights and biases). It represents the direction and magnitude of change needed to minimize the loss function.</a:t>
            </a:r>
            <a:endParaRPr sz="1600"/>
          </a:p>
          <a:p>
            <a:pPr>
              <a:buFont typeface="Arial" panose="020B0604020202020204"/>
              <a:buChar char="•"/>
            </a:pPr>
            <a:endParaRPr sz="1600"/>
          </a:p>
          <a:p>
            <a:pPr>
              <a:buFont typeface="Arial" panose="020B0604020202020204"/>
              <a:buChar char="•"/>
            </a:pPr>
            <a:r>
              <a:rPr sz="1600"/>
              <a:t>The gradient tells us how much to update each parameter (weight/bias) to minimize the loss.</a:t>
            </a:r>
            <a:endParaRPr sz="1600"/>
          </a:p>
          <a:p>
            <a:pPr>
              <a:buFont typeface="Arial" panose="020B0604020202020204"/>
              <a:buChar char="•"/>
            </a:pPr>
            <a:r>
              <a:rPr sz="1600"/>
              <a:t>It is computed using backpropagation and is used by optimizers to update model weights.</a:t>
            </a:r>
            <a:endParaRPr sz="1600"/>
          </a:p>
        </p:txBody>
      </p:sp>
      <p:sp>
        <p:nvSpPr>
          <p:cNvPr id="4" name="Text Box 3"/>
          <p:cNvSpPr txBox="1"/>
          <p:nvPr/>
        </p:nvSpPr>
        <p:spPr>
          <a:xfrm>
            <a:off x="137160" y="5120005"/>
            <a:ext cx="5645785" cy="1662430"/>
          </a:xfrm>
          <a:prstGeom prst="rect">
            <a:avLst/>
          </a:prstGeom>
        </p:spPr>
        <p:txBody>
          <a:bodyPr wrap="square">
            <a:spAutoFit/>
          </a:bodyPr>
          <a:p>
            <a:pPr>
              <a:spcAft>
                <a:spcPct val="60000"/>
              </a:spcAft>
            </a:pPr>
            <a:r>
              <a:rPr sz="2200" b="1"/>
              <a:t> Real-World Example:</a:t>
            </a:r>
            <a:endParaRPr sz="2200" b="1"/>
          </a:p>
          <a:p>
            <a:pPr>
              <a:buFont typeface="Arial" panose="020B0604020202020204"/>
              <a:buChar char="•"/>
            </a:pPr>
            <a:r>
              <a:rPr sz="1600"/>
              <a:t>Imagine you're hiking down a mountain (loss function), and you want to find the lowest point (minimum loss).</a:t>
            </a:r>
            <a:endParaRPr sz="1600"/>
          </a:p>
          <a:p>
            <a:pPr>
              <a:buFont typeface="Arial" panose="020B0604020202020204"/>
              <a:buChar char="•"/>
            </a:pPr>
            <a:r>
              <a:rPr sz="1600"/>
              <a:t>The gradient tells you which direction to step in to descend faster.</a:t>
            </a:r>
            <a:endParaRPr sz="1600"/>
          </a:p>
          <a:p>
            <a:pPr>
              <a:buFont typeface="Arial" panose="020B0604020202020204"/>
              <a:buChar char="•"/>
            </a:pPr>
            <a:r>
              <a:rPr sz="1600"/>
              <a:t>The steeper the slope, the bigger the step (larger gradient).</a:t>
            </a:r>
            <a:endParaRPr sz="1600"/>
          </a:p>
        </p:txBody>
      </p:sp>
      <p:sp>
        <p:nvSpPr>
          <p:cNvPr id="5" name="Text Box 4"/>
          <p:cNvSpPr txBox="1"/>
          <p:nvPr/>
        </p:nvSpPr>
        <p:spPr>
          <a:xfrm>
            <a:off x="6747510" y="0"/>
            <a:ext cx="5080000" cy="3305810"/>
          </a:xfrm>
          <a:prstGeom prst="rect">
            <a:avLst/>
          </a:prstGeom>
        </p:spPr>
        <p:txBody>
          <a:bodyPr>
            <a:noAutofit/>
          </a:bodyPr>
          <a:p>
            <a:pPr>
              <a:spcAft>
                <a:spcPct val="60000"/>
              </a:spcAft>
            </a:pPr>
            <a:r>
              <a:rPr sz="2300" b="1"/>
              <a:t>2. What is an Optimizer?</a:t>
            </a:r>
            <a:endParaRPr sz="2300" b="1"/>
          </a:p>
          <a:p>
            <a:r>
              <a:rPr sz="1600"/>
              <a:t>An optimizer is an algorithm that uses gradients to update the model's parameters efficiently.</a:t>
            </a:r>
            <a:endParaRPr sz="1600"/>
          </a:p>
          <a:p>
            <a:pPr>
              <a:spcAft>
                <a:spcPct val="60000"/>
              </a:spcAft>
            </a:pPr>
            <a:r>
              <a:rPr sz="2200" b="1"/>
              <a:t>📝 Explanation:</a:t>
            </a:r>
            <a:endParaRPr sz="2200" b="1"/>
          </a:p>
          <a:p>
            <a:pPr>
              <a:buFont typeface="Arial" panose="020B0604020202020204"/>
              <a:buChar char="•"/>
            </a:pPr>
            <a:r>
              <a:rPr sz="1600"/>
              <a:t>The optimizer decides how much to adjust weights based on the gradient and learning rate.</a:t>
            </a:r>
            <a:endParaRPr sz="1600"/>
          </a:p>
          <a:p>
            <a:pPr>
              <a:buFont typeface="Arial" panose="020B0604020202020204"/>
              <a:buChar char="•"/>
            </a:pPr>
            <a:r>
              <a:rPr sz="1600"/>
              <a:t>Different optimizers use gradients differently to improve convergence speed and avoid issues like getting stuck in local minima.</a:t>
            </a:r>
            <a:endParaRPr sz="1600"/>
          </a:p>
          <a:p>
            <a:pPr>
              <a:spcAft>
                <a:spcPct val="60000"/>
              </a:spcAft>
            </a:pPr>
            <a:r>
              <a:rPr sz="2200" b="1"/>
              <a:t>📍 </a:t>
            </a:r>
            <a:r>
              <a:rPr b="1"/>
              <a:t>Key Optimizers and How They Use Gradients:</a:t>
            </a:r>
            <a:endParaRPr b="1"/>
          </a:p>
        </p:txBody>
      </p:sp>
      <p:graphicFrame>
        <p:nvGraphicFramePr>
          <p:cNvPr id="6" name="Table 5"/>
          <p:cNvGraphicFramePr/>
          <p:nvPr>
            <p:custDataLst>
              <p:tags r:id="rId2"/>
            </p:custDataLst>
          </p:nvPr>
        </p:nvGraphicFramePr>
        <p:xfrm>
          <a:off x="5938520" y="3420745"/>
          <a:ext cx="6232525" cy="3243580"/>
        </p:xfrm>
        <a:graphic>
          <a:graphicData uri="http://schemas.openxmlformats.org/drawingml/2006/table">
            <a:tbl>
              <a:tblPr firstRow="1">
                <a:tableStyleId>{3C2FFA5D-87B4-456A-9821-1D502468CF0F}</a:tableStyleId>
              </a:tblPr>
              <a:tblGrid>
                <a:gridCol w="1453515"/>
                <a:gridCol w="4779010"/>
              </a:tblGrid>
              <a:tr h="295275">
                <a:tc>
                  <a:txBody>
                    <a:bodyPr/>
                    <a:p>
                      <a:r>
                        <a:rPr sz="1800"/>
                        <a:t>Optimizer</a:t>
                      </a:r>
                      <a:endParaRPr sz="1800"/>
                    </a:p>
                  </a:txBody>
                  <a:tcPr marL="0" marR="0" marT="0" marB="0" anchor="ctr" anchorCtr="0"/>
                </a:tc>
                <a:tc>
                  <a:txBody>
                    <a:bodyPr/>
                    <a:p>
                      <a:r>
                        <a:rPr sz="1800"/>
                        <a:t>How it Uses Gradients</a:t>
                      </a:r>
                      <a:endParaRPr sz="1800"/>
                    </a:p>
                  </a:txBody>
                  <a:tcPr marL="0" marR="0" marT="0" marB="0" anchor="ctr" anchorCtr="0"/>
                </a:tc>
              </a:tr>
              <a:tr h="590550">
                <a:tc>
                  <a:txBody>
                    <a:bodyPr/>
                    <a:p>
                      <a:r>
                        <a:rPr sz="1800"/>
                        <a:t>Gradient Descent (GD)</a:t>
                      </a:r>
                      <a:endParaRPr sz="1800"/>
                    </a:p>
                  </a:txBody>
                  <a:tcPr marL="0" marR="0" marT="0" marB="0" anchor="ctr" anchorCtr="0"/>
                </a:tc>
                <a:tc>
                  <a:txBody>
                    <a:bodyPr/>
                    <a:p>
                      <a:r>
                        <a:rPr sz="1800"/>
                        <a:t>Updates weights using the full dataset’s gradient.</a:t>
                      </a:r>
                      <a:endParaRPr sz="1800"/>
                    </a:p>
                  </a:txBody>
                  <a:tcPr marL="0" marR="0" marT="0" marB="0" anchor="ctr" anchorCtr="0"/>
                </a:tc>
              </a:tr>
              <a:tr h="885825">
                <a:tc>
                  <a:txBody>
                    <a:bodyPr/>
                    <a:p>
                      <a:r>
                        <a:rPr sz="1800"/>
                        <a:t>Stochastic Gradient Descent (SGD)</a:t>
                      </a:r>
                      <a:endParaRPr sz="1800"/>
                    </a:p>
                  </a:txBody>
                  <a:tcPr marL="0" marR="0" marT="0" marB="0" anchor="ctr" anchorCtr="0"/>
                </a:tc>
                <a:tc>
                  <a:txBody>
                    <a:bodyPr/>
                    <a:p>
                      <a:r>
                        <a:rPr sz="1800"/>
                        <a:t>Updates weights using a single random data point’s gradient.</a:t>
                      </a:r>
                      <a:endParaRPr sz="1800"/>
                    </a:p>
                  </a:txBody>
                  <a:tcPr marL="0" marR="0" marT="0" marB="0" anchor="ctr" anchorCtr="0"/>
                </a:tc>
              </a:tr>
              <a:tr h="586105">
                <a:tc>
                  <a:txBody>
                    <a:bodyPr/>
                    <a:p>
                      <a:r>
                        <a:rPr sz="1800"/>
                        <a:t>Mini-batch SGD</a:t>
                      </a:r>
                      <a:endParaRPr sz="1800"/>
                    </a:p>
                  </a:txBody>
                  <a:tcPr marL="0" marR="0" marT="0" marB="0" anchor="ctr" anchorCtr="0"/>
                </a:tc>
                <a:tc>
                  <a:txBody>
                    <a:bodyPr/>
                    <a:p>
                      <a:r>
                        <a:rPr sz="1800"/>
                        <a:t>Updates weights using a small batch of data points.</a:t>
                      </a:r>
                      <a:endParaRPr sz="1800"/>
                    </a:p>
                  </a:txBody>
                  <a:tcPr marL="0" marR="0" marT="0" marB="0" anchor="ctr" anchorCtr="0"/>
                </a:tc>
              </a:tr>
              <a:tr h="295275">
                <a:tc>
                  <a:txBody>
                    <a:bodyPr/>
                    <a:p>
                      <a:r>
                        <a:rPr sz="1800"/>
                        <a:t>Momentum</a:t>
                      </a:r>
                      <a:endParaRPr sz="1800"/>
                    </a:p>
                  </a:txBody>
                  <a:tcPr marL="0" marR="0" marT="0" marB="0" anchor="ctr" anchorCtr="0"/>
                </a:tc>
                <a:tc>
                  <a:txBody>
                    <a:bodyPr/>
                    <a:p>
                      <a:r>
                        <a:rPr sz="1800"/>
                        <a:t>Uses past gradients to accelerate convergence.</a:t>
                      </a:r>
                      <a:endParaRPr sz="1800"/>
                    </a:p>
                  </a:txBody>
                  <a:tcPr marL="0" marR="0" marT="0" marB="0" anchor="ctr" anchorCtr="0"/>
                </a:tc>
              </a:tr>
              <a:tr h="295275">
                <a:tc>
                  <a:txBody>
                    <a:bodyPr/>
                    <a:p>
                      <a:r>
                        <a:rPr sz="1800"/>
                        <a:t>Adam</a:t>
                      </a:r>
                      <a:endParaRPr sz="1800"/>
                    </a:p>
                  </a:txBody>
                  <a:tcPr marL="0" marR="0" marT="0" marB="0" anchor="ctr" anchorCtr="0"/>
                </a:tc>
                <a:tc>
                  <a:txBody>
                    <a:bodyPr/>
                    <a:p>
                      <a:r>
                        <a:rPr sz="1800"/>
                        <a:t>Adjusts learning rate for each weight dynamically.</a:t>
                      </a:r>
                      <a:endParaRPr sz="1800"/>
                    </a:p>
                  </a:txBody>
                  <a:tcPr marL="0" marR="0" marT="0" marB="0" anchor="ctr" anchorCtr="0"/>
                </a:tc>
              </a:tr>
              <a:tr h="295275">
                <a:tc>
                  <a:txBody>
                    <a:bodyPr/>
                    <a:p>
                      <a:r>
                        <a:rPr sz="1800"/>
                        <a:t>RMSprop</a:t>
                      </a:r>
                      <a:endParaRPr sz="1800"/>
                    </a:p>
                  </a:txBody>
                  <a:tcPr marL="0" marR="0" marT="0" marB="0" anchor="ctr" anchorCtr="0"/>
                </a:tc>
                <a:tc>
                  <a:txBody>
                    <a:bodyPr/>
                    <a:p>
                      <a:r>
                        <a:rPr sz="1800"/>
                        <a:t>Normalizes gradients to prevent oscillations.</a:t>
                      </a:r>
                      <a:endParaRPr sz="1800"/>
                    </a:p>
                  </a:txBody>
                  <a:tcPr marL="0" marR="0" marT="0" marB="0" anchor="ctr" anchorCtr="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345)"/>
          <p:cNvPicPr>
            <a:picLocks noChangeAspect="1"/>
          </p:cNvPicPr>
          <p:nvPr/>
        </p:nvPicPr>
        <p:blipFill>
          <a:blip r:embed="rId1"/>
          <a:srcRect l="33359" t="17269" r="18000" b="28917"/>
          <a:stretch>
            <a:fillRect/>
          </a:stretch>
        </p:blipFill>
        <p:spPr>
          <a:xfrm>
            <a:off x="165735" y="0"/>
            <a:ext cx="10514965" cy="654431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96540" y="901700"/>
            <a:ext cx="7182485" cy="1938020"/>
          </a:xfrm>
          <a:prstGeom prst="rect">
            <a:avLst/>
          </a:prstGeom>
          <a:noFill/>
        </p:spPr>
        <p:txBody>
          <a:bodyPr wrap="square" rtlCol="0" anchor="t">
            <a:spAutoFit/>
          </a:bodyPr>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OPTIMIZERS IN DEEP LEARNING</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2900680" y="4434205"/>
            <a:ext cx="7898765" cy="368300"/>
          </a:xfrm>
          <a:prstGeom prst="rect">
            <a:avLst/>
          </a:prstGeom>
          <a:noFill/>
        </p:spPr>
        <p:txBody>
          <a:bodyPr wrap="square" rtlCol="0" anchor="t">
            <a:spAutoFit/>
          </a:bodyPr>
          <a:p>
            <a:r>
              <a:rPr lang="en-US" altLang="en-US">
                <a:sym typeface="+mn-ea"/>
              </a:rPr>
              <a:t>https://www.scaler.com/topics/deep-learning/optimizers-in-deep-learning/</a:t>
            </a:r>
            <a:endParaRPr lang="en-US" altLang="en-US">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9565" y="283210"/>
            <a:ext cx="5380355" cy="3137535"/>
          </a:xfrm>
          <a:prstGeom prst="rect">
            <a:avLst/>
          </a:prstGeom>
          <a:noFill/>
        </p:spPr>
        <p:txBody>
          <a:bodyPr wrap="square" rtlCol="0" anchor="t">
            <a:noAutofit/>
          </a:bodyPr>
          <a:p>
            <a:pPr>
              <a:spcAft>
                <a:spcPct val="60000"/>
              </a:spcAft>
            </a:pPr>
            <a:r>
              <a:rPr sz="2200" b="1">
                <a:sym typeface="+mn-ea"/>
              </a:rPr>
              <a:t>Optimizers in Deep Learning</a:t>
            </a:r>
            <a:endParaRPr sz="2200" b="1"/>
          </a:p>
          <a:p>
            <a:pPr>
              <a:spcAft>
                <a:spcPct val="60000"/>
              </a:spcAft>
            </a:pPr>
            <a:r>
              <a:rPr sz="1900" b="1">
                <a:sym typeface="+mn-ea"/>
              </a:rPr>
              <a:t>1. What is an Optimizer?</a:t>
            </a:r>
            <a:endParaRPr sz="1900" b="1"/>
          </a:p>
          <a:p>
            <a:r>
              <a:rPr sz="1600">
                <a:sym typeface="+mn-ea"/>
              </a:rPr>
              <a:t>An optimizer is an algorithm that adjusts the weights and biases of a neural network to minimize the loss function and improve model performance.</a:t>
            </a:r>
            <a:endParaRPr sz="1600"/>
          </a:p>
          <a:p>
            <a:r>
              <a:rPr sz="1600">
                <a:sym typeface="+mn-ea"/>
              </a:rPr>
              <a:t>✔ Goal: Update model parameters using gradients computed via backpropagation.</a:t>
            </a:r>
            <a:endParaRPr sz="1600"/>
          </a:p>
          <a:p>
            <a:r>
              <a:rPr sz="1600">
                <a:sym typeface="+mn-ea"/>
              </a:rPr>
              <a:t> ✔ Optimizers control learning speed, convergence stability, and generalization.</a:t>
            </a:r>
            <a:endParaRPr sz="1600"/>
          </a:p>
          <a:p>
            <a:pPr>
              <a:spcAft>
                <a:spcPct val="60000"/>
              </a:spcAft>
            </a:pPr>
            <a:r>
              <a:rPr sz="2200" b="1">
                <a:sym typeface="+mn-ea"/>
              </a:rPr>
              <a:t>2. Types of Optimizers in Deep Learning</a:t>
            </a:r>
            <a:endParaRPr sz="2200" b="1"/>
          </a:p>
          <a:p>
            <a:r>
              <a:rPr sz="1600">
                <a:sym typeface="+mn-ea"/>
              </a:rPr>
              <a:t>Optimizers are mainly categorized into two types:</a:t>
            </a:r>
            <a:endParaRPr lang="en-US" sz="1600">
              <a:sym typeface="+mn-ea"/>
            </a:endParaRPr>
          </a:p>
        </p:txBody>
      </p:sp>
      <p:graphicFrame>
        <p:nvGraphicFramePr>
          <p:cNvPr id="3" name="Table 2"/>
          <p:cNvGraphicFramePr/>
          <p:nvPr>
            <p:custDataLst>
              <p:tags r:id="rId1"/>
            </p:custDataLst>
          </p:nvPr>
        </p:nvGraphicFramePr>
        <p:xfrm>
          <a:off x="329565" y="4031615"/>
          <a:ext cx="5290185" cy="243840"/>
        </p:xfrm>
        <a:graphic>
          <a:graphicData uri="http://schemas.openxmlformats.org/drawingml/2006/table">
            <a:tbl>
              <a:tblPr/>
              <a:tblGrid>
                <a:gridCol w="1752600"/>
                <a:gridCol w="1774190"/>
                <a:gridCol w="1763395"/>
              </a:tblGrid>
              <a:tr h="0">
                <a:tc>
                  <a:txBody>
                    <a:bodyPr/>
                    <a:p>
                      <a:r>
                        <a:rPr sz="1600" b="1">
                          <a:solidFill>
                            <a:srgbClr val="FF0000"/>
                          </a:solidFill>
                          <a:effectLst>
                            <a:outerShdw blurRad="38100" dist="38100" dir="2700000" algn="tl">
                              <a:srgbClr val="000000">
                                <a:alpha val="43137"/>
                              </a:srgbClr>
                            </a:outerShdw>
                          </a:effectLst>
                        </a:rPr>
                        <a:t>Type</a:t>
                      </a:r>
                      <a:endParaRPr sz="1600" b="1">
                        <a:solidFill>
                          <a:srgbClr val="FF0000"/>
                        </a:solidFill>
                        <a:effectLst>
                          <a:outerShdw blurRad="38100" dist="38100" dir="2700000" algn="tl">
                            <a:srgbClr val="000000">
                              <a:alpha val="43137"/>
                            </a:srgbClr>
                          </a:outerShdw>
                        </a:effectLst>
                      </a:endParaRPr>
                    </a:p>
                  </a:txBody>
                  <a:tcPr marL="0" marR="0" marT="0" marB="0" anchor="ctr" anchorCtr="0">
                    <a:lnL>
                      <a:noFill/>
                    </a:lnL>
                    <a:lnR>
                      <a:noFill/>
                    </a:lnR>
                    <a:lnT>
                      <a:noFill/>
                    </a:lnT>
                    <a:lnB>
                      <a:noFill/>
                    </a:lnB>
                    <a:noFill/>
                  </a:tcPr>
                </a:tc>
                <a:tc>
                  <a:txBody>
                    <a:bodyPr/>
                    <a:p>
                      <a:r>
                        <a:rPr sz="1600" b="1">
                          <a:solidFill>
                            <a:srgbClr val="FF0000"/>
                          </a:solidFill>
                          <a:effectLst>
                            <a:outerShdw blurRad="38100" dist="38100" dir="2700000" algn="tl">
                              <a:srgbClr val="000000">
                                <a:alpha val="43137"/>
                              </a:srgbClr>
                            </a:outerShdw>
                          </a:effectLst>
                        </a:rPr>
                        <a:t>Description</a:t>
                      </a:r>
                      <a:endParaRPr sz="1600" b="1">
                        <a:solidFill>
                          <a:srgbClr val="FF0000"/>
                        </a:solidFill>
                        <a:effectLst>
                          <a:outerShdw blurRad="38100" dist="38100" dir="2700000" algn="tl">
                            <a:srgbClr val="000000">
                              <a:alpha val="43137"/>
                            </a:srgbClr>
                          </a:outerShdw>
                        </a:effectLst>
                      </a:endParaRPr>
                    </a:p>
                  </a:txBody>
                  <a:tcPr marL="0" marR="0" marT="0" marB="0" anchor="ctr" anchorCtr="0">
                    <a:lnL>
                      <a:noFill/>
                    </a:lnL>
                    <a:lnR>
                      <a:noFill/>
                    </a:lnR>
                    <a:lnT>
                      <a:noFill/>
                    </a:lnT>
                    <a:lnB>
                      <a:noFill/>
                    </a:lnB>
                    <a:noFill/>
                  </a:tcPr>
                </a:tc>
                <a:tc>
                  <a:txBody>
                    <a:bodyPr/>
                    <a:p>
                      <a:r>
                        <a:rPr sz="1600" b="1">
                          <a:solidFill>
                            <a:srgbClr val="FF0000"/>
                          </a:solidFill>
                          <a:effectLst>
                            <a:outerShdw blurRad="38100" dist="38100" dir="2700000" algn="tl">
                              <a:srgbClr val="000000">
                                <a:alpha val="43137"/>
                              </a:srgbClr>
                            </a:outerShdw>
                          </a:effectLst>
                        </a:rPr>
                        <a:t>Examples</a:t>
                      </a:r>
                      <a:endParaRPr sz="1600" b="1">
                        <a:solidFill>
                          <a:srgbClr val="FF0000"/>
                        </a:solidFill>
                        <a:effectLst>
                          <a:outerShdw blurRad="38100" dist="38100" dir="2700000" algn="tl">
                            <a:srgbClr val="000000">
                              <a:alpha val="43137"/>
                            </a:srgbClr>
                          </a:outerShdw>
                        </a:effectLst>
                      </a:endParaRPr>
                    </a:p>
                  </a:txBody>
                  <a:tcPr marL="0" marR="0" marT="0" marB="0" anchor="ctr" anchorCtr="0">
                    <a:lnL>
                      <a:noFill/>
                    </a:lnL>
                    <a:lnR>
                      <a:noFill/>
                    </a:lnR>
                    <a:lnT>
                      <a:noFill/>
                    </a:lnT>
                    <a:lnB>
                      <a:noFill/>
                    </a:lnB>
                    <a:noFill/>
                  </a:tcPr>
                </a:tc>
              </a:tr>
            </a:tbl>
          </a:graphicData>
        </a:graphic>
      </p:graphicFrame>
      <p:graphicFrame>
        <p:nvGraphicFramePr>
          <p:cNvPr id="4" name="Table 3"/>
          <p:cNvGraphicFramePr/>
          <p:nvPr>
            <p:custDataLst>
              <p:tags r:id="rId2"/>
            </p:custDataLst>
          </p:nvPr>
        </p:nvGraphicFramePr>
        <p:xfrm>
          <a:off x="231140" y="4286885"/>
          <a:ext cx="5288280" cy="426720"/>
        </p:xfrm>
        <a:graphic>
          <a:graphicData uri="http://schemas.openxmlformats.org/drawingml/2006/table">
            <a:tbl>
              <a:tblPr/>
              <a:tblGrid>
                <a:gridCol w="1762760"/>
                <a:gridCol w="1762760"/>
                <a:gridCol w="1762760"/>
              </a:tblGrid>
              <a:tr h="284480">
                <a:tc>
                  <a:txBody>
                    <a:bodyPr/>
                    <a:p>
                      <a:r>
                        <a:rPr sz="1400"/>
                        <a:t>First-order optimizers</a:t>
                      </a:r>
                      <a:endParaRPr sz="1400"/>
                    </a:p>
                  </a:txBody>
                  <a:tcPr marL="0" marR="0" marT="0" marB="0" anchor="ctr" anchorCtr="0">
                    <a:lnL>
                      <a:noFill/>
                    </a:lnL>
                    <a:lnR>
                      <a:noFill/>
                    </a:lnR>
                    <a:lnT>
                      <a:noFill/>
                    </a:lnT>
                    <a:lnB>
                      <a:noFill/>
                    </a:lnB>
                    <a:noFill/>
                  </a:tcPr>
                </a:tc>
                <a:tc>
                  <a:txBody>
                    <a:bodyPr/>
                    <a:p>
                      <a:r>
                        <a:rPr sz="1400"/>
                        <a:t>Use first-order derivatives (gradients)</a:t>
                      </a:r>
                      <a:endParaRPr sz="1400"/>
                    </a:p>
                  </a:txBody>
                  <a:tcPr marL="0" marR="0" marT="0" marB="0" anchor="ctr" anchorCtr="0">
                    <a:lnL>
                      <a:noFill/>
                    </a:lnL>
                    <a:lnR>
                      <a:noFill/>
                    </a:lnR>
                    <a:lnT>
                      <a:noFill/>
                    </a:lnT>
                    <a:lnB>
                      <a:noFill/>
                    </a:lnB>
                    <a:noFill/>
                  </a:tcPr>
                </a:tc>
                <a:tc>
                  <a:txBody>
                    <a:bodyPr/>
                    <a:p>
                      <a:r>
                        <a:rPr sz="1400"/>
                        <a:t>SGD, Momentum, RMSprop, Adam</a:t>
                      </a:r>
                      <a:endParaRPr sz="14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3"/>
            </p:custDataLst>
          </p:nvPr>
        </p:nvGraphicFramePr>
        <p:xfrm>
          <a:off x="231140" y="4714875"/>
          <a:ext cx="5707380" cy="669290"/>
        </p:xfrm>
        <a:graphic>
          <a:graphicData uri="http://schemas.openxmlformats.org/drawingml/2006/table">
            <a:tbl>
              <a:tblPr/>
              <a:tblGrid>
                <a:gridCol w="1484630"/>
                <a:gridCol w="1873885"/>
                <a:gridCol w="2348865"/>
              </a:tblGrid>
              <a:tr h="669290">
                <a:tc>
                  <a:txBody>
                    <a:bodyPr/>
                    <a:p>
                      <a:r>
                        <a:rPr sz="1200"/>
                        <a:t>Second-order optimizers</a:t>
                      </a:r>
                      <a:endParaRPr sz="1200"/>
                    </a:p>
                  </a:txBody>
                  <a:tcPr marL="0" marR="0" marT="0" marB="0" anchor="ctr" anchorCtr="0">
                    <a:lnL>
                      <a:noFill/>
                    </a:lnL>
                    <a:lnR>
                      <a:noFill/>
                    </a:lnR>
                    <a:lnT>
                      <a:noFill/>
                    </a:lnT>
                    <a:lnB>
                      <a:noFill/>
                    </a:lnB>
                    <a:noFill/>
                  </a:tcPr>
                </a:tc>
                <a:tc>
                  <a:txBody>
                    <a:bodyPr/>
                    <a:p>
                      <a:r>
                        <a:rPr sz="1200"/>
                        <a:t>Use second-</a:t>
                      </a:r>
                      <a:r>
                        <a:rPr sz="1600"/>
                        <a:t>order </a:t>
                      </a:r>
                      <a:r>
                        <a:rPr sz="1200"/>
                        <a:t>derivatives (Hessian matrix) for curvature</a:t>
                      </a:r>
                      <a:endParaRPr sz="1200"/>
                    </a:p>
                  </a:txBody>
                  <a:tcPr marL="0" marR="0" marT="0" marB="0" anchor="ctr" anchorCtr="0">
                    <a:lnL>
                      <a:noFill/>
                    </a:lnL>
                    <a:lnR>
                      <a:noFill/>
                    </a:lnR>
                    <a:lnT>
                      <a:noFill/>
                    </a:lnT>
                    <a:lnB>
                      <a:noFill/>
                    </a:lnB>
                    <a:noFill/>
                  </a:tcPr>
                </a:tc>
                <a:tc>
                  <a:txBody>
                    <a:bodyPr/>
                    <a:p>
                      <a:r>
                        <a:rPr sz="1200"/>
                        <a:t>Newton’s Method, L-BFGS (less common in deep learning)</a:t>
                      </a:r>
                      <a:endParaRPr sz="1200"/>
                    </a:p>
                  </a:txBody>
                  <a:tcPr marL="0" marR="0" marT="0" marB="0" anchor="ctr" anchorCtr="0">
                    <a:lnL>
                      <a:noFill/>
                    </a:lnL>
                    <a:lnR>
                      <a:noFill/>
                    </a:lnR>
                    <a:lnT>
                      <a:noFill/>
                    </a:lnT>
                    <a:lnB>
                      <a:noFill/>
                    </a:lnB>
                    <a:noFill/>
                  </a:tcPr>
                </a:tc>
              </a:tr>
            </a:tbl>
          </a:graphicData>
        </a:graphic>
      </p:graphicFrame>
      <p:graphicFrame>
        <p:nvGraphicFramePr>
          <p:cNvPr id="6" name="Table 5"/>
          <p:cNvGraphicFramePr/>
          <p:nvPr>
            <p:custDataLst>
              <p:tags r:id="rId4"/>
            </p:custDataLst>
          </p:nvPr>
        </p:nvGraphicFramePr>
        <p:xfrm>
          <a:off x="5959475" y="3614420"/>
          <a:ext cx="6232525" cy="3243580"/>
        </p:xfrm>
        <a:graphic>
          <a:graphicData uri="http://schemas.openxmlformats.org/drawingml/2006/table">
            <a:tbl>
              <a:tblPr firstRow="1">
                <a:tableStyleId>{3C2FFA5D-87B4-456A-9821-1D502468CF0F}</a:tableStyleId>
              </a:tblPr>
              <a:tblGrid>
                <a:gridCol w="1453515"/>
                <a:gridCol w="4779010"/>
              </a:tblGrid>
              <a:tr h="295275">
                <a:tc>
                  <a:txBody>
                    <a:bodyPr/>
                    <a:p>
                      <a:r>
                        <a:rPr sz="1800"/>
                        <a:t>Optimizer</a:t>
                      </a:r>
                      <a:endParaRPr sz="1800"/>
                    </a:p>
                  </a:txBody>
                  <a:tcPr marL="0" marR="0" marT="0" marB="0" anchor="ctr" anchorCtr="0"/>
                </a:tc>
                <a:tc>
                  <a:txBody>
                    <a:bodyPr/>
                    <a:p>
                      <a:r>
                        <a:rPr sz="1800"/>
                        <a:t>How it Uses Gradients</a:t>
                      </a:r>
                      <a:endParaRPr sz="1800"/>
                    </a:p>
                  </a:txBody>
                  <a:tcPr marL="0" marR="0" marT="0" marB="0" anchor="ctr" anchorCtr="0"/>
                </a:tc>
              </a:tr>
              <a:tr h="590550">
                <a:tc>
                  <a:txBody>
                    <a:bodyPr/>
                    <a:p>
                      <a:r>
                        <a:rPr sz="1800"/>
                        <a:t>Gradient Descent (GD)</a:t>
                      </a:r>
                      <a:endParaRPr sz="1800"/>
                    </a:p>
                  </a:txBody>
                  <a:tcPr marL="0" marR="0" marT="0" marB="0" anchor="ctr" anchorCtr="0"/>
                </a:tc>
                <a:tc>
                  <a:txBody>
                    <a:bodyPr/>
                    <a:p>
                      <a:r>
                        <a:rPr sz="1800"/>
                        <a:t>Updates weights using the full dataset’s gradient.</a:t>
                      </a:r>
                      <a:endParaRPr sz="1800"/>
                    </a:p>
                  </a:txBody>
                  <a:tcPr marL="0" marR="0" marT="0" marB="0" anchor="ctr" anchorCtr="0"/>
                </a:tc>
              </a:tr>
              <a:tr h="885825">
                <a:tc>
                  <a:txBody>
                    <a:bodyPr/>
                    <a:p>
                      <a:r>
                        <a:rPr sz="1800"/>
                        <a:t>Stochastic Gradient Descent (SGD)</a:t>
                      </a:r>
                      <a:endParaRPr sz="1800"/>
                    </a:p>
                  </a:txBody>
                  <a:tcPr marL="0" marR="0" marT="0" marB="0" anchor="ctr" anchorCtr="0"/>
                </a:tc>
                <a:tc>
                  <a:txBody>
                    <a:bodyPr/>
                    <a:p>
                      <a:r>
                        <a:rPr sz="1800"/>
                        <a:t>Updates weights using a single random data point’s gradient.</a:t>
                      </a:r>
                      <a:endParaRPr sz="1800"/>
                    </a:p>
                  </a:txBody>
                  <a:tcPr marL="0" marR="0" marT="0" marB="0" anchor="ctr" anchorCtr="0"/>
                </a:tc>
              </a:tr>
              <a:tr h="586105">
                <a:tc>
                  <a:txBody>
                    <a:bodyPr/>
                    <a:p>
                      <a:r>
                        <a:rPr sz="1800"/>
                        <a:t>Mini-batch SGD</a:t>
                      </a:r>
                      <a:endParaRPr sz="1800"/>
                    </a:p>
                  </a:txBody>
                  <a:tcPr marL="0" marR="0" marT="0" marB="0" anchor="ctr" anchorCtr="0"/>
                </a:tc>
                <a:tc>
                  <a:txBody>
                    <a:bodyPr/>
                    <a:p>
                      <a:r>
                        <a:rPr sz="1800"/>
                        <a:t>Updates weights using a small batch of data points.</a:t>
                      </a:r>
                      <a:endParaRPr sz="1800"/>
                    </a:p>
                  </a:txBody>
                  <a:tcPr marL="0" marR="0" marT="0" marB="0" anchor="ctr" anchorCtr="0"/>
                </a:tc>
              </a:tr>
              <a:tr h="295275">
                <a:tc>
                  <a:txBody>
                    <a:bodyPr/>
                    <a:p>
                      <a:r>
                        <a:rPr sz="1800"/>
                        <a:t>Momentum</a:t>
                      </a:r>
                      <a:endParaRPr sz="1800"/>
                    </a:p>
                  </a:txBody>
                  <a:tcPr marL="0" marR="0" marT="0" marB="0" anchor="ctr" anchorCtr="0"/>
                </a:tc>
                <a:tc>
                  <a:txBody>
                    <a:bodyPr/>
                    <a:p>
                      <a:r>
                        <a:rPr sz="1800"/>
                        <a:t>Uses past gradients to accelerate convergence.</a:t>
                      </a:r>
                      <a:endParaRPr sz="1800"/>
                    </a:p>
                  </a:txBody>
                  <a:tcPr marL="0" marR="0" marT="0" marB="0" anchor="ctr" anchorCtr="0"/>
                </a:tc>
              </a:tr>
              <a:tr h="295275">
                <a:tc>
                  <a:txBody>
                    <a:bodyPr/>
                    <a:p>
                      <a:r>
                        <a:rPr sz="1800"/>
                        <a:t>Adam</a:t>
                      </a:r>
                      <a:endParaRPr sz="1800"/>
                    </a:p>
                  </a:txBody>
                  <a:tcPr marL="0" marR="0" marT="0" marB="0" anchor="ctr" anchorCtr="0"/>
                </a:tc>
                <a:tc>
                  <a:txBody>
                    <a:bodyPr/>
                    <a:p>
                      <a:r>
                        <a:rPr sz="1800"/>
                        <a:t>Adjusts learning rate for each weight dynamically.</a:t>
                      </a:r>
                      <a:endParaRPr sz="1800"/>
                    </a:p>
                  </a:txBody>
                  <a:tcPr marL="0" marR="0" marT="0" marB="0" anchor="ctr" anchorCtr="0"/>
                </a:tc>
              </a:tr>
              <a:tr h="295275">
                <a:tc>
                  <a:txBody>
                    <a:bodyPr/>
                    <a:p>
                      <a:r>
                        <a:rPr sz="1800"/>
                        <a:t>RMSprop</a:t>
                      </a:r>
                      <a:endParaRPr sz="1800"/>
                    </a:p>
                  </a:txBody>
                  <a:tcPr marL="0" marR="0" marT="0" marB="0" anchor="ctr" anchorCtr="0"/>
                </a:tc>
                <a:tc>
                  <a:txBody>
                    <a:bodyPr/>
                    <a:p>
                      <a:r>
                        <a:rPr sz="1800"/>
                        <a:t>Normalizes gradients to prevent oscillations.</a:t>
                      </a:r>
                      <a:endParaRPr sz="1800"/>
                    </a:p>
                  </a:txBody>
                  <a:tcPr marL="0" marR="0" marT="0" marB="0" anchor="ctr" anchorCtr="0"/>
                </a:tc>
              </a:tr>
            </a:tbl>
          </a:graphicData>
        </a:graphic>
      </p:graphicFrame>
      <p:sp>
        <p:nvSpPr>
          <p:cNvPr id="7" name="Text Box 6"/>
          <p:cNvSpPr txBox="1"/>
          <p:nvPr/>
        </p:nvSpPr>
        <p:spPr>
          <a:xfrm>
            <a:off x="5709285" y="192405"/>
            <a:ext cx="6418580" cy="2920365"/>
          </a:xfrm>
          <a:prstGeom prst="rect">
            <a:avLst/>
          </a:prstGeom>
        </p:spPr>
        <p:txBody>
          <a:bodyPr wrap="square">
            <a:spAutoFit/>
          </a:bodyPr>
          <a:p>
            <a:r>
              <a:rPr sz="1600"/>
              <a:t>An optimizer is an algorithm that adjusts the model's weights and biases to minimize the loss function efficiently. It does this using the gradients computed during backpropagation.</a:t>
            </a:r>
            <a:endParaRPr sz="1600"/>
          </a:p>
          <a:p>
            <a:pPr>
              <a:spcAft>
                <a:spcPct val="60000"/>
              </a:spcAft>
            </a:pPr>
            <a:r>
              <a:rPr sz="2300" b="1"/>
              <a:t>📌 Why Do We Need Optimizers?</a:t>
            </a:r>
            <a:endParaRPr sz="2300" b="1"/>
          </a:p>
          <a:p>
            <a:r>
              <a:rPr sz="1600"/>
              <a:t>In deep learning, the goal is to minimize the loss function, which measures how far the predicted output is from the actual output. Optimizers help by:</a:t>
            </a:r>
            <a:endParaRPr sz="1600"/>
          </a:p>
          <a:p>
            <a:pPr lvl="1">
              <a:buFont typeface="Arial" panose="020B0604020202020204"/>
              <a:buChar char="•"/>
            </a:pPr>
            <a:r>
              <a:rPr sz="1600"/>
              <a:t>Adjusting weights efficiently to reduce the loss.</a:t>
            </a:r>
            <a:endParaRPr sz="1600"/>
          </a:p>
          <a:p>
            <a:pPr lvl="1">
              <a:buFont typeface="Arial" panose="020B0604020202020204"/>
              <a:buChar char="•"/>
            </a:pPr>
            <a:r>
              <a:rPr sz="1600"/>
              <a:t>Speeding up convergence to an optimal solution.</a:t>
            </a:r>
            <a:endParaRPr sz="1600"/>
          </a:p>
          <a:p>
            <a:pPr lvl="1">
              <a:buFont typeface="Arial" panose="020B0604020202020204"/>
              <a:buChar char="•"/>
            </a:pPr>
            <a:r>
              <a:rPr sz="1600"/>
              <a:t>Avoiding problems like local minima and vanishing gradients.</a:t>
            </a:r>
            <a:endParaRPr sz="1600"/>
          </a:p>
          <a:p>
            <a:pPr>
              <a:spcAft>
                <a:spcPct val="60000"/>
              </a:spcAft>
            </a:pPr>
            <a:endParaRPr sz="1600"/>
          </a:p>
        </p:txBody>
      </p:sp>
      <p:sp>
        <p:nvSpPr>
          <p:cNvPr id="8" name="Text Box 7"/>
          <p:cNvSpPr txBox="1"/>
          <p:nvPr/>
        </p:nvSpPr>
        <p:spPr>
          <a:xfrm>
            <a:off x="231140" y="5509260"/>
            <a:ext cx="5029835" cy="1442720"/>
          </a:xfrm>
          <a:prstGeom prst="rect">
            <a:avLst/>
          </a:prstGeom>
          <a:noFill/>
        </p:spPr>
        <p:txBody>
          <a:bodyPr wrap="square" rtlCol="0" anchor="t">
            <a:spAutoFit/>
          </a:bodyPr>
          <a:p>
            <a:pPr>
              <a:spcAft>
                <a:spcPct val="60000"/>
              </a:spcAft>
            </a:pPr>
            <a:r>
              <a:rPr sz="2300" b="1">
                <a:sym typeface="+mn-ea"/>
              </a:rPr>
              <a:t>📌 Types of Optimizers</a:t>
            </a:r>
            <a:endParaRPr sz="2300" b="1"/>
          </a:p>
          <a:p>
            <a:r>
              <a:rPr sz="1600">
                <a:sym typeface="+mn-ea"/>
              </a:rPr>
              <a:t>Optimizers can be broadly classified into:</a:t>
            </a:r>
            <a:endParaRPr sz="1600"/>
          </a:p>
          <a:p>
            <a:pPr lvl="1">
              <a:buAutoNum type="arabicPeriod"/>
            </a:pPr>
            <a:r>
              <a:rPr sz="1600">
                <a:sym typeface="+mn-ea"/>
              </a:rPr>
              <a:t>Basic Gradient Descent Methods</a:t>
            </a:r>
            <a:endParaRPr sz="1600"/>
          </a:p>
          <a:p>
            <a:pPr lvl="1">
              <a:buAutoNum type="arabicPeriod"/>
            </a:pPr>
            <a:r>
              <a:rPr sz="1600">
                <a:sym typeface="+mn-ea"/>
              </a:rPr>
              <a:t>Adaptive Learning Rate Methods</a:t>
            </a:r>
            <a:endParaRPr lang="en-US" sz="160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descr="Screenshot (347)"/>
          <p:cNvPicPr>
            <a:picLocks noChangeAspect="1"/>
          </p:cNvPicPr>
          <p:nvPr/>
        </p:nvPicPr>
        <p:blipFill>
          <a:blip r:embed="rId1"/>
          <a:srcRect l="35057" t="25750" r="31589" b="25009"/>
          <a:stretch>
            <a:fillRect/>
          </a:stretch>
        </p:blipFill>
        <p:spPr>
          <a:xfrm>
            <a:off x="5981700" y="324485"/>
            <a:ext cx="5966460" cy="4618990"/>
          </a:xfrm>
          <a:prstGeom prst="rect">
            <a:avLst/>
          </a:prstGeom>
        </p:spPr>
      </p:pic>
      <p:pic>
        <p:nvPicPr>
          <p:cNvPr id="2" name="Picture 1" descr="Screenshot (346)"/>
          <p:cNvPicPr>
            <a:picLocks noChangeAspect="1"/>
          </p:cNvPicPr>
          <p:nvPr/>
        </p:nvPicPr>
        <p:blipFill>
          <a:blip r:embed="rId2"/>
          <a:srcRect l="35021" t="20491" r="35776" b="26083"/>
          <a:stretch>
            <a:fillRect/>
          </a:stretch>
        </p:blipFill>
        <p:spPr>
          <a:xfrm>
            <a:off x="255905" y="694690"/>
            <a:ext cx="5725160" cy="6162675"/>
          </a:xfrm>
          <a:prstGeom prst="rect">
            <a:avLst/>
          </a:prstGeom>
        </p:spPr>
      </p:pic>
      <p:sp>
        <p:nvSpPr>
          <p:cNvPr id="4" name="Text Box 3"/>
          <p:cNvSpPr txBox="1"/>
          <p:nvPr/>
        </p:nvSpPr>
        <p:spPr>
          <a:xfrm>
            <a:off x="404495" y="324485"/>
            <a:ext cx="10754995" cy="456565"/>
          </a:xfrm>
          <a:prstGeom prst="rect">
            <a:avLst/>
          </a:prstGeom>
        </p:spPr>
        <p:txBody>
          <a:bodyPr wrap="square">
            <a:noAutofit/>
          </a:bodyPr>
          <a:p>
            <a:pPr>
              <a:spcAft>
                <a:spcPct val="60000"/>
              </a:spcAft>
            </a:pPr>
            <a:r>
              <a:rPr sz="2200" b="1">
                <a:solidFill>
                  <a:srgbClr val="FF0000"/>
                </a:solidFill>
                <a:effectLst>
                  <a:outerShdw blurRad="38100" dist="38100" dir="2700000" algn="tl">
                    <a:srgbClr val="000000">
                      <a:alpha val="43137"/>
                    </a:srgbClr>
                  </a:outerShdw>
                </a:effectLst>
              </a:rPr>
              <a:t>3. Popular Optimizers in Deep Learning</a:t>
            </a:r>
            <a:endParaRPr sz="2200" b="1">
              <a:solidFill>
                <a:srgbClr val="FF0000"/>
              </a:solidFill>
              <a:effectLst>
                <a:outerShdw blurRad="38100" dist="38100" dir="2700000" algn="tl">
                  <a:srgbClr val="000000">
                    <a:alpha val="43137"/>
                  </a:srgbClr>
                </a:outerShdw>
              </a:effectLst>
            </a:endParaRPr>
          </a:p>
          <a:p>
            <a:pPr>
              <a:spcAft>
                <a:spcPct val="60000"/>
              </a:spcAft>
            </a:pPr>
            <a:endParaRPr sz="2200" b="1"/>
          </a:p>
        </p:txBody>
      </p:sp>
      <p:sp>
        <p:nvSpPr>
          <p:cNvPr id="6" name="Text Box 5"/>
          <p:cNvSpPr txBox="1"/>
          <p:nvPr/>
        </p:nvSpPr>
        <p:spPr>
          <a:xfrm>
            <a:off x="3123565" y="5893435"/>
            <a:ext cx="4570095" cy="829945"/>
          </a:xfrm>
          <a:prstGeom prst="rect">
            <a:avLst/>
          </a:prstGeom>
          <a:noFill/>
        </p:spPr>
        <p:txBody>
          <a:bodyPr wrap="square" rtlCol="0" anchor="t">
            <a:spAutoFit/>
          </a:bodyPr>
          <a:p>
            <a:r>
              <a:rPr sz="1600">
                <a:sym typeface="+mn-ea"/>
              </a:rPr>
              <a:t>✔ Pros: Simple, works well for small datasets.</a:t>
            </a:r>
            <a:endParaRPr sz="1600"/>
          </a:p>
          <a:p>
            <a:r>
              <a:rPr sz="1600">
                <a:sym typeface="+mn-ea"/>
              </a:rPr>
              <a:t> ✔ Cons: Can be slow, struggles with noisy gradients.</a:t>
            </a:r>
            <a:endParaRPr sz="1600"/>
          </a:p>
          <a:p>
            <a:r>
              <a:rPr sz="1600">
                <a:sym typeface="+mn-ea"/>
              </a:rPr>
              <a:t>✅ Variant:Mini-batch SGD (faster, more stable).</a:t>
            </a:r>
            <a:endParaRPr lang="en-US" sz="160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348)"/>
          <p:cNvPicPr>
            <a:picLocks noChangeAspect="1"/>
          </p:cNvPicPr>
          <p:nvPr/>
        </p:nvPicPr>
        <p:blipFill>
          <a:blip r:embed="rId1"/>
          <a:srcRect l="32542" t="31546" r="19698" b="37361"/>
          <a:stretch>
            <a:fillRect/>
          </a:stretch>
        </p:blipFill>
        <p:spPr>
          <a:xfrm>
            <a:off x="273050" y="75565"/>
            <a:ext cx="6421120" cy="3688080"/>
          </a:xfrm>
          <a:prstGeom prst="rect">
            <a:avLst/>
          </a:prstGeom>
        </p:spPr>
      </p:pic>
      <p:sp>
        <p:nvSpPr>
          <p:cNvPr id="5" name="Text Box 4"/>
          <p:cNvSpPr txBox="1"/>
          <p:nvPr/>
        </p:nvSpPr>
        <p:spPr>
          <a:xfrm>
            <a:off x="273050" y="6579870"/>
            <a:ext cx="7980680" cy="368300"/>
          </a:xfrm>
          <a:prstGeom prst="rect">
            <a:avLst/>
          </a:prstGeom>
          <a:noFill/>
        </p:spPr>
        <p:txBody>
          <a:bodyPr wrap="square" rtlCol="0" anchor="t">
            <a:spAutoFit/>
          </a:bodyPr>
          <a:p>
            <a:r>
              <a:rPr lang="en-US" altLang="en-US"/>
              <a:t>https://musstafa0804.medium.com/optimizers-in-deep-learning-7bf81fed78a0</a:t>
            </a:r>
            <a:endParaRPr lang="en-US"/>
          </a:p>
        </p:txBody>
      </p:sp>
      <p:sp>
        <p:nvSpPr>
          <p:cNvPr id="2" name="Text Box 1"/>
          <p:cNvSpPr txBox="1"/>
          <p:nvPr/>
        </p:nvSpPr>
        <p:spPr>
          <a:xfrm>
            <a:off x="6799580" y="406400"/>
            <a:ext cx="5622925" cy="2482215"/>
          </a:xfrm>
          <a:prstGeom prst="rect">
            <a:avLst/>
          </a:prstGeom>
          <a:noFill/>
        </p:spPr>
        <p:txBody>
          <a:bodyPr wrap="square" rtlCol="0" anchor="t">
            <a:noAutofit/>
          </a:bodyPr>
          <a:p>
            <a:pPr>
              <a:spcAft>
                <a:spcPct val="60000"/>
              </a:spcAft>
            </a:pPr>
            <a:r>
              <a:rPr sz="1900" b="1">
                <a:sym typeface="+mn-ea"/>
              </a:rPr>
              <a:t>🔹 (2) SGD with Momentum</a:t>
            </a:r>
            <a:endParaRPr sz="1900" b="1"/>
          </a:p>
          <a:p>
            <a:r>
              <a:rPr sz="1600">
                <a:sym typeface="+mn-ea"/>
              </a:rPr>
              <a:t>✔ Adds a velocity term to accelerate updates in the right direction.</a:t>
            </a:r>
            <a:endParaRPr sz="1600"/>
          </a:p>
          <a:p>
            <a:r>
              <a:rPr sz="1600">
                <a:sym typeface="+mn-ea"/>
              </a:rPr>
              <a:t> ✔ Helps escape local minima and smoothens updates.</a:t>
            </a:r>
            <a:endParaRPr sz="1600">
              <a:sym typeface="+mn-ea"/>
            </a:endParaRPr>
          </a:p>
          <a:p>
            <a:r>
              <a:rPr sz="1600">
                <a:sym typeface="+mn-ea"/>
              </a:rPr>
              <a:t>✔ Pros: Faster convergence, less oscillation.</a:t>
            </a:r>
            <a:endParaRPr sz="1600"/>
          </a:p>
          <a:p>
            <a:r>
              <a:rPr sz="1600">
                <a:sym typeface="+mn-ea"/>
              </a:rPr>
              <a:t> ✔ Cons: Still needs careful tuning of parameters.</a:t>
            </a:r>
            <a:endParaRPr sz="1600"/>
          </a:p>
          <a:p>
            <a:pPr>
              <a:spcAft>
                <a:spcPct val="60000"/>
              </a:spcAft>
            </a:pPr>
            <a:endParaRPr lang="en-US" sz="1600"/>
          </a:p>
        </p:txBody>
      </p:sp>
      <p:sp>
        <p:nvSpPr>
          <p:cNvPr id="7" name="Text Box 6"/>
          <p:cNvSpPr txBox="1"/>
          <p:nvPr/>
        </p:nvSpPr>
        <p:spPr>
          <a:xfrm>
            <a:off x="6946900" y="2376805"/>
            <a:ext cx="5092700" cy="645160"/>
          </a:xfrm>
          <a:prstGeom prst="rect">
            <a:avLst/>
          </a:prstGeom>
          <a:noFill/>
        </p:spPr>
        <p:txBody>
          <a:bodyPr wrap="square" rtlCol="0" anchor="t">
            <a:spAutoFit/>
          </a:bodyPr>
          <a:p>
            <a:r>
              <a:rPr lang="en-US" altLang="en-US"/>
              <a:t>https://paperswithcode.com/method/sgd-with-momentum</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3525" y="255905"/>
            <a:ext cx="5258435" cy="6247130"/>
          </a:xfrm>
          <a:prstGeom prst="rect">
            <a:avLst/>
          </a:prstGeom>
        </p:spPr>
        <p:txBody>
          <a:bodyPr wrap="square">
            <a:spAutoFit/>
          </a:bodyPr>
          <a:p>
            <a:pPr marL="0" indent="0">
              <a:spcBef>
                <a:spcPts val="1000"/>
              </a:spcBef>
              <a:spcAft>
                <a:spcPts val="500"/>
              </a:spcAft>
            </a:pPr>
            <a:r>
              <a:rPr sz="24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What is SGD?</a:t>
            </a:r>
            <a:endParaRPr sz="24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Stochastic Gradient Descent (SGD):</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An iterative optimization algorithm used to find the minimum of a function. It updates the model parameters based on the gradient of the loss function calculated on a small, randomly selected subset of the training data (a mini-batch).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Challenges of SGD:</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i="0">
                <a:solidFill>
                  <a:srgbClr val="001D35"/>
                </a:solidFill>
                <a:latin typeface="Arial" panose="020B0604020202020204" pitchFamily="34" charset="0"/>
                <a:ea typeface="Google Sans"/>
                <a:cs typeface="Arial" panose="020B0604020202020204" pitchFamily="34" charset="0"/>
              </a:rPr>
              <a:t>Standard SGD can be slow to converge, and its updates can be noisy and oscillatory, especially in complex loss landscapes.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1" i="0">
                <a:solidFill>
                  <a:srgbClr val="001D35"/>
                </a:solidFill>
                <a:latin typeface="Arial" panose="020B0604020202020204" pitchFamily="34" charset="0"/>
                <a:ea typeface="Google Sans"/>
                <a:cs typeface="Arial" panose="020B0604020202020204" pitchFamily="34" charset="0"/>
              </a:rPr>
              <a:t>How Momentum Helps:</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Intuition:</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Imagine a ball rolling down a hill. It gains speed as it rolls, and this speed (or velocity) is analogous to the momentum in SGDM.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Mechanism:</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SGDM accumulates a moving average of past gradients, which acts as a "velocity" or "momentum" that guides the updates.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5891530" y="255905"/>
            <a:ext cx="6096000" cy="6408420"/>
          </a:xfrm>
          <a:prstGeom prst="rect">
            <a:avLst/>
          </a:prstGeom>
          <a:noFill/>
        </p:spPr>
        <p:txBody>
          <a:bodyPr wrap="square" rtlCol="0" anchor="t">
            <a:spAutoFit/>
          </a:bodyPr>
          <a:p>
            <a:pPr marL="0" indent="0">
              <a:spcBef>
                <a:spcPct val="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Benefits:</a:t>
            </a:r>
            <a:endParaRPr sz="1600" b="1"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Faster Convergence: The momentum term helps the algorithm move more quickly in the correct direction, leading to faster convergence compared to standard SGD.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Dampens Oscillations: By smoothing out the updates, momentum helps reduce the oscillations and noisy behavior that can occur in standard SGD.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Escaping Local Minima: The momentum can help the algorithm "jump" over small bumps or local minima, leading to a better chance of finding the global minimum.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1">
                <a:solidFill>
                  <a:srgbClr val="001D35"/>
                </a:solidFill>
                <a:latin typeface="Arial" panose="020B0604020202020204" pitchFamily="34" charset="0"/>
                <a:ea typeface="Google Sans"/>
                <a:cs typeface="Arial" panose="020B0604020202020204" pitchFamily="34" charset="0"/>
                <a:sym typeface="+mn-ea"/>
              </a:rPr>
              <a:t>Key Concepts:</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Momentum Parameter (β):</a:t>
            </a:r>
            <a:r>
              <a:rPr sz="1600">
                <a:solidFill>
                  <a:srgbClr val="001D35"/>
                </a:solidFill>
                <a:latin typeface="Arial" panose="020B0604020202020204" pitchFamily="34" charset="0"/>
                <a:ea typeface="Google Sans"/>
                <a:cs typeface="Arial" panose="020B0604020202020204" pitchFamily="34" charset="0"/>
                <a:sym typeface="+mn-ea"/>
              </a:rPr>
              <a:t> A hyperparameter that controls the strength of the momentum term. It's typically a value between 0 and 1.</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Velocity (v)</a:t>
            </a:r>
            <a:r>
              <a:rPr sz="1600">
                <a:solidFill>
                  <a:srgbClr val="001D35"/>
                </a:solidFill>
                <a:latin typeface="Arial" panose="020B0604020202020204" pitchFamily="34" charset="0"/>
                <a:ea typeface="Google Sans"/>
                <a:cs typeface="Arial" panose="020B0604020202020204" pitchFamily="34" charset="0"/>
                <a:sym typeface="+mn-ea"/>
              </a:rPr>
              <a:t>: A vector that stores the accumulated momentum, initialized to zero.</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Update Rule: </a:t>
            </a:r>
            <a:r>
              <a:rPr sz="1600">
                <a:solidFill>
                  <a:srgbClr val="001D35"/>
                </a:solidFill>
                <a:latin typeface="Arial" panose="020B0604020202020204" pitchFamily="34" charset="0"/>
                <a:ea typeface="Google Sans"/>
                <a:cs typeface="Arial" panose="020B0604020202020204" pitchFamily="34" charset="0"/>
                <a:sym typeface="+mn-ea"/>
              </a:rPr>
              <a:t>The model parameters are updated based on the current gradient and the velocity (momentum).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1">
                <a:solidFill>
                  <a:srgbClr val="001D35"/>
                </a:solidFill>
                <a:latin typeface="Arial" panose="020B0604020202020204" pitchFamily="34" charset="0"/>
                <a:ea typeface="Google Sans"/>
                <a:cs typeface="Arial" panose="020B0604020202020204" pitchFamily="34" charset="0"/>
                <a:sym typeface="+mn-ea"/>
              </a:rPr>
              <a:t>In Summary:</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sz="1600">
                <a:solidFill>
                  <a:srgbClr val="001D35"/>
                </a:solidFill>
                <a:latin typeface="Arial" panose="020B0604020202020204" pitchFamily="34" charset="0"/>
                <a:ea typeface="Google Sans"/>
                <a:cs typeface="Arial" panose="020B0604020202020204" pitchFamily="34" charset="0"/>
                <a:sym typeface="+mn-ea"/>
              </a:rPr>
              <a:t>SGDM is a powerful optimization algorithm that builds upon SGD by incorporating a momentum term. This momentum helps the algorithm converge faster and more stably, making it a popular choice for training deep learning models. </a:t>
            </a: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5585" y="117475"/>
            <a:ext cx="11414125" cy="368300"/>
          </a:xfrm>
          <a:prstGeom prst="rect">
            <a:avLst/>
          </a:prstGeom>
          <a:noFill/>
        </p:spPr>
        <p:txBody>
          <a:bodyPr wrap="square" rtlCol="0" anchor="t">
            <a:spAutoFit/>
          </a:bodyPr>
          <a:p>
            <a:r>
              <a:rPr lang="en-US" altLang="en-US"/>
              <a:t>https://www.geeksforgeeks.org/machine-learning/ml-momentum-based-gradient-optimizer-introduction/</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349)"/>
          <p:cNvPicPr>
            <a:picLocks noChangeAspect="1"/>
          </p:cNvPicPr>
          <p:nvPr/>
        </p:nvPicPr>
        <p:blipFill>
          <a:blip r:embed="rId1"/>
          <a:srcRect l="27484" t="22796" r="31443" b="36243"/>
          <a:stretch>
            <a:fillRect/>
          </a:stretch>
        </p:blipFill>
        <p:spPr>
          <a:xfrm>
            <a:off x="436880" y="192405"/>
            <a:ext cx="7501890" cy="4304665"/>
          </a:xfrm>
          <a:prstGeom prst="rect">
            <a:avLst/>
          </a:prstGeom>
        </p:spPr>
      </p:pic>
      <p:pic>
        <p:nvPicPr>
          <p:cNvPr id="4" name="Picture 3" descr="Screenshot (349)"/>
          <p:cNvPicPr>
            <a:picLocks noChangeAspect="1"/>
          </p:cNvPicPr>
          <p:nvPr/>
        </p:nvPicPr>
        <p:blipFill>
          <a:blip r:embed="rId1"/>
          <a:srcRect l="27484" t="69907" r="48259" b="21515"/>
          <a:stretch>
            <a:fillRect/>
          </a:stretch>
        </p:blipFill>
        <p:spPr>
          <a:xfrm>
            <a:off x="842645" y="4617720"/>
            <a:ext cx="4628515" cy="941705"/>
          </a:xfrm>
          <a:prstGeom prst="rect">
            <a:avLst/>
          </a:prstGeom>
        </p:spPr>
      </p:pic>
      <p:sp>
        <p:nvSpPr>
          <p:cNvPr id="3" name="Text Box 2"/>
          <p:cNvSpPr txBox="1"/>
          <p:nvPr/>
        </p:nvSpPr>
        <p:spPr>
          <a:xfrm>
            <a:off x="842645" y="5916930"/>
            <a:ext cx="9615170" cy="368300"/>
          </a:xfrm>
          <a:prstGeom prst="rect">
            <a:avLst/>
          </a:prstGeom>
          <a:noFill/>
        </p:spPr>
        <p:txBody>
          <a:bodyPr wrap="square" rtlCol="0" anchor="t">
            <a:spAutoFit/>
          </a:bodyPr>
          <a:p>
            <a:r>
              <a:rPr lang="en-US" altLang="en-US"/>
              <a:t>https://www.geeksforgeeks.org/optimization-rule-in-deep-neural-networks/</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000" y="109220"/>
            <a:ext cx="9782810" cy="3449320"/>
          </a:xfrm>
          <a:prstGeom prst="rect">
            <a:avLst/>
          </a:prstGeom>
        </p:spPr>
        <p:txBody>
          <a:bodyPr wrap="square">
            <a:noAutofit/>
          </a:bodyPr>
          <a:p>
            <a:pPr marL="0" indent="0">
              <a:spcAft>
                <a:spcPct val="60000"/>
              </a:spcAft>
            </a:pPr>
            <a:r>
              <a:rPr sz="23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rPr>
              <a:t>Adagrad (Adaptive Gradient Descent) Deep Learning Optimizer</a:t>
            </a:r>
            <a:endParaRPr sz="23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endParaRPr>
          </a:p>
          <a:p>
            <a:pPr marL="0" indent="0">
              <a:lnSpc>
                <a:spcPct val="100000"/>
              </a:lnSpc>
            </a:pPr>
            <a:r>
              <a:rPr b="0" i="0">
                <a:solidFill>
                  <a:srgbClr val="383838"/>
                </a:solidFill>
                <a:latin typeface="Arial" panose="020B0604020202020204" pitchFamily="34" charset="0"/>
                <a:ea typeface="Inter"/>
                <a:cs typeface="Arial" panose="020B0604020202020204" pitchFamily="34" charset="0"/>
              </a:rPr>
              <a:t>The adaptive gradient descent algorithm is slightly different from other gradient descent algorithms. This is because it uses different learning rates for each iteration. The change in learning rate depends upon the difference in the parameters during training. </a:t>
            </a: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r>
              <a:rPr b="0" i="0">
                <a:solidFill>
                  <a:srgbClr val="383838"/>
                </a:solidFill>
                <a:latin typeface="Arial" panose="020B0604020202020204" pitchFamily="34" charset="0"/>
                <a:ea typeface="Inter"/>
                <a:cs typeface="Arial" panose="020B0604020202020204" pitchFamily="34" charset="0"/>
              </a:rPr>
              <a:t>The more the parameters get changed, the more minor the learning rate changes. This modification is highly beneficial because real-world datasets contain sparse as well as dense features. </a:t>
            </a: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r>
              <a:rPr b="0" i="0">
                <a:solidFill>
                  <a:srgbClr val="383838"/>
                </a:solidFill>
                <a:latin typeface="Arial" panose="020B0604020202020204" pitchFamily="34" charset="0"/>
                <a:ea typeface="Inter"/>
                <a:cs typeface="Arial" panose="020B0604020202020204" pitchFamily="34" charset="0"/>
              </a:rPr>
              <a:t>So it is unfair to have the same value of learning rate for all the features. The Adagrad algorithm uses the below formula to update the weights. Here the alpha(t) denotes the different learning rates at each iteration, n is a constant, and E is a small positive to avoid division by 0.</a:t>
            </a:r>
            <a:endParaRPr b="0" i="0">
              <a:solidFill>
                <a:srgbClr val="383838"/>
              </a:solidFill>
              <a:latin typeface="Arial" panose="020B0604020202020204" pitchFamily="34" charset="0"/>
              <a:ea typeface="Inter"/>
              <a:cs typeface="Arial" panose="020B0604020202020204" pitchFamily="34" charset="0"/>
            </a:endParaRPr>
          </a:p>
        </p:txBody>
      </p:sp>
      <p:pic>
        <p:nvPicPr>
          <p:cNvPr id="3" name="Picture 2"/>
          <p:cNvPicPr/>
          <p:nvPr/>
        </p:nvPicPr>
        <p:blipFill>
          <a:blip r:embed="rId1"/>
          <a:stretch>
            <a:fillRect/>
          </a:stretch>
        </p:blipFill>
        <p:spPr>
          <a:xfrm>
            <a:off x="2103755" y="4165600"/>
            <a:ext cx="3137535" cy="482600"/>
          </a:xfrm>
          <a:prstGeom prst="rect">
            <a:avLst/>
          </a:prstGeom>
        </p:spPr>
      </p:pic>
      <p:pic>
        <p:nvPicPr>
          <p:cNvPr id="4" name="Picture 3"/>
          <p:cNvPicPr/>
          <p:nvPr/>
        </p:nvPicPr>
        <p:blipFill>
          <a:blip r:embed="rId2"/>
          <a:stretch>
            <a:fillRect/>
          </a:stretch>
        </p:blipFill>
        <p:spPr>
          <a:xfrm>
            <a:off x="2578735" y="5066030"/>
            <a:ext cx="1957070" cy="599440"/>
          </a:xfrm>
          <a:prstGeom prst="rect">
            <a:avLst/>
          </a:prstGeom>
        </p:spPr>
      </p:pic>
      <p:sp>
        <p:nvSpPr>
          <p:cNvPr id="5" name="Text Box 4"/>
          <p:cNvSpPr txBox="1"/>
          <p:nvPr/>
        </p:nvSpPr>
        <p:spPr>
          <a:xfrm>
            <a:off x="127000" y="5592445"/>
            <a:ext cx="8509000" cy="1183640"/>
          </a:xfrm>
          <a:prstGeom prst="rect">
            <a:avLst/>
          </a:prstGeom>
        </p:spPr>
        <p:txBody>
          <a:bodyPr wrap="square">
            <a:spAutoFit/>
          </a:bodyPr>
          <a:p>
            <a:endParaRPr sz="2600">
              <a:latin typeface="Arial" panose="020B0604020202020204" pitchFamily="34" charset="0"/>
              <a:cs typeface="Arial" panose="020B0604020202020204" pitchFamily="34" charset="0"/>
            </a:endParaRPr>
          </a:p>
          <a:p>
            <a:pPr marL="0" indent="0">
              <a:lnSpc>
                <a:spcPts val="1800"/>
              </a:lnSpc>
            </a:pPr>
            <a:r>
              <a:rPr sz="1600" b="0" i="0">
                <a:solidFill>
                  <a:srgbClr val="383838"/>
                </a:solidFill>
                <a:latin typeface="Arial" panose="020B0604020202020204" pitchFamily="34" charset="0"/>
                <a:ea typeface="Inter"/>
                <a:cs typeface="Arial" panose="020B0604020202020204" pitchFamily="34" charset="0"/>
              </a:rPr>
              <a:t>The benefit of using Adagrad is that it abolishes the need to modify the learning rate manually. It is more reliable than gradient descent algorithms and their variants, and it reaches convergence at a higher speed.</a:t>
            </a:r>
            <a:endParaRPr sz="1600" b="0" i="0">
              <a:solidFill>
                <a:srgbClr val="383838"/>
              </a:solidFill>
              <a:latin typeface="Arial" panose="020B0604020202020204" pitchFamily="34" charset="0"/>
              <a:ea typeface="Inter"/>
              <a:cs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5905" y="0"/>
            <a:ext cx="6170295" cy="2713355"/>
          </a:xfrm>
          <a:prstGeom prst="rect">
            <a:avLst/>
          </a:prstGeom>
          <a:noFill/>
        </p:spPr>
        <p:txBody>
          <a:bodyPr wrap="square" rtlCol="0" anchor="t">
            <a:noAutofit/>
          </a:bodyPr>
          <a:p>
            <a:pPr>
              <a:spcAft>
                <a:spcPct val="60000"/>
              </a:spcAft>
            </a:pPr>
            <a:r>
              <a:rPr sz="1900" b="1">
                <a:sym typeface="+mn-ea"/>
              </a:rPr>
              <a:t>🔹 (3) RMSprop (Root Mean Square Propagation)</a:t>
            </a:r>
            <a:endParaRPr sz="1900" b="1"/>
          </a:p>
          <a:p>
            <a:r>
              <a:rPr sz="1600">
                <a:sym typeface="+mn-ea"/>
              </a:rPr>
              <a:t>✔ Idea: Uses a moving average of squared gradients to adjust learning rates adaptively.</a:t>
            </a:r>
            <a:endParaRPr sz="1600"/>
          </a:p>
          <a:p>
            <a:r>
              <a:rPr sz="1600">
                <a:sym typeface="+mn-ea"/>
              </a:rPr>
              <a:t> ✔ Solves the vanishing/exploding gradient problem</a:t>
            </a:r>
            <a:endParaRPr sz="1600">
              <a:sym typeface="+mn-ea"/>
            </a:endParaRPr>
          </a:p>
          <a:p>
            <a:r>
              <a:rPr sz="1600">
                <a:sym typeface="+mn-ea"/>
              </a:rPr>
              <a:t>✔ Pros: Works well for RNNs and deep networks.</a:t>
            </a:r>
            <a:endParaRPr sz="1600"/>
          </a:p>
          <a:p>
            <a:r>
              <a:rPr sz="1600">
                <a:sym typeface="+mn-ea"/>
              </a:rPr>
              <a:t> ✔ Cons: Requires tuning decay rate β.</a:t>
            </a:r>
            <a:endParaRPr sz="1600"/>
          </a:p>
          <a:p>
            <a:pPr>
              <a:spcAft>
                <a:spcPct val="60000"/>
              </a:spcAft>
            </a:pPr>
            <a:endParaRPr lang="en-US" sz="2200" b="1">
              <a:sym typeface="+mn-ea"/>
            </a:endParaRPr>
          </a:p>
        </p:txBody>
      </p:sp>
      <p:pic>
        <p:nvPicPr>
          <p:cNvPr id="4" name="Picture 3" descr="Screenshot (350)"/>
          <p:cNvPicPr>
            <a:picLocks noChangeAspect="1"/>
          </p:cNvPicPr>
          <p:nvPr/>
        </p:nvPicPr>
        <p:blipFill>
          <a:blip r:embed="rId1"/>
          <a:srcRect l="27484" t="20417" r="44135" b="32787"/>
          <a:stretch>
            <a:fillRect/>
          </a:stretch>
        </p:blipFill>
        <p:spPr>
          <a:xfrm>
            <a:off x="6494780" y="147320"/>
            <a:ext cx="5529580" cy="512889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351)"/>
          <p:cNvPicPr>
            <a:picLocks noChangeAspect="1"/>
          </p:cNvPicPr>
          <p:nvPr/>
        </p:nvPicPr>
        <p:blipFill>
          <a:blip r:embed="rId1"/>
          <a:srcRect l="30141" t="20722" r="38302" b="24704"/>
          <a:stretch>
            <a:fillRect/>
          </a:stretch>
        </p:blipFill>
        <p:spPr>
          <a:xfrm>
            <a:off x="5572125" y="0"/>
            <a:ext cx="6007100" cy="5843270"/>
          </a:xfrm>
          <a:prstGeom prst="rect">
            <a:avLst/>
          </a:prstGeom>
        </p:spPr>
      </p:pic>
      <p:sp>
        <p:nvSpPr>
          <p:cNvPr id="3" name="Text Box 2"/>
          <p:cNvSpPr txBox="1"/>
          <p:nvPr/>
        </p:nvSpPr>
        <p:spPr>
          <a:xfrm>
            <a:off x="0" y="81280"/>
            <a:ext cx="5657850" cy="4643755"/>
          </a:xfrm>
          <a:prstGeom prst="rect">
            <a:avLst/>
          </a:prstGeom>
          <a:noFill/>
        </p:spPr>
        <p:txBody>
          <a:bodyPr wrap="square" rtlCol="0" anchor="t">
            <a:spAutoFit/>
          </a:bodyPr>
          <a:p>
            <a:pPr>
              <a:spcAft>
                <a:spcPct val="60000"/>
              </a:spcAft>
            </a:pPr>
            <a:r>
              <a:rPr sz="1900" b="1">
                <a:sym typeface="+mn-ea"/>
              </a:rPr>
              <a:t>🔹 (4) Adam (Adaptive Moment Estimation) [MOST POPULAR]</a:t>
            </a:r>
            <a:endParaRPr sz="1900" b="1"/>
          </a:p>
          <a:p>
            <a:r>
              <a:rPr sz="1600">
                <a:sym typeface="+mn-ea"/>
              </a:rPr>
              <a:t>✔ Combines Momentum + RMSprop → adaptive learning rate + velocity smoothing</a:t>
            </a:r>
            <a:endParaRPr sz="1600">
              <a:sym typeface="+mn-ea"/>
            </a:endParaRPr>
          </a:p>
          <a:p>
            <a:endParaRPr sz="1600">
              <a:sym typeface="+mn-ea"/>
            </a:endParaRPr>
          </a:p>
          <a:p>
            <a:r>
              <a:rPr sz="1600">
                <a:sym typeface="+mn-ea"/>
              </a:rPr>
              <a:t>✔ Pros: Fast convergence, works well for most problems.</a:t>
            </a:r>
            <a:endParaRPr sz="1600">
              <a:sym typeface="+mn-ea"/>
            </a:endParaRPr>
          </a:p>
          <a:p>
            <a:endParaRPr sz="1600"/>
          </a:p>
          <a:p>
            <a:r>
              <a:rPr sz="1600">
                <a:sym typeface="+mn-ea"/>
              </a:rPr>
              <a:t> ✔ Cons: Can sometimes overfit or not generalize well.</a:t>
            </a:r>
            <a:endParaRPr sz="1600">
              <a:sym typeface="+mn-ea"/>
            </a:endParaRPr>
          </a:p>
          <a:p>
            <a:endParaRPr sz="1600">
              <a:sym typeface="+mn-ea"/>
            </a:endParaRPr>
          </a:p>
          <a:p>
            <a:endParaRPr sz="1600"/>
          </a:p>
          <a:p>
            <a:pPr>
              <a:spcAft>
                <a:spcPct val="60000"/>
              </a:spcAft>
            </a:pPr>
            <a:r>
              <a:rPr sz="1900" b="1">
                <a:sym typeface="+mn-ea"/>
              </a:rPr>
              <a:t>🔹 (5) AdamW (Adam with Weight Decay) [BETTER THAN ADAM]</a:t>
            </a:r>
            <a:endParaRPr sz="1900" b="1"/>
          </a:p>
          <a:p>
            <a:r>
              <a:rPr sz="1600">
                <a:sym typeface="+mn-ea"/>
              </a:rPr>
              <a:t>✔ Fixes Adam's tendency to overfit by decoupling weight decay from gradient updates.</a:t>
            </a:r>
            <a:endParaRPr sz="1600">
              <a:sym typeface="+mn-ea"/>
            </a:endParaRPr>
          </a:p>
          <a:p>
            <a:endParaRPr sz="1600"/>
          </a:p>
          <a:p>
            <a:r>
              <a:rPr sz="1600">
                <a:sym typeface="+mn-ea"/>
              </a:rPr>
              <a:t> ✔ Used in Transformers (e.g., BERT, GPT models).</a:t>
            </a:r>
            <a:endParaRPr lang="en-US" sz="1600">
              <a:sym typeface="+mn-ea"/>
            </a:endParaRPr>
          </a:p>
        </p:txBody>
      </p:sp>
      <p:sp>
        <p:nvSpPr>
          <p:cNvPr id="4" name="Text Box 3"/>
          <p:cNvSpPr txBox="1"/>
          <p:nvPr/>
        </p:nvSpPr>
        <p:spPr>
          <a:xfrm>
            <a:off x="522605" y="6300470"/>
            <a:ext cx="10415270" cy="368300"/>
          </a:xfrm>
          <a:prstGeom prst="rect">
            <a:avLst/>
          </a:prstGeom>
          <a:noFill/>
        </p:spPr>
        <p:txBody>
          <a:bodyPr wrap="square" rtlCol="0" anchor="t">
            <a:spAutoFit/>
          </a:bodyPr>
          <a:p>
            <a:r>
              <a:rPr lang="en-US" altLang="en-US"/>
              <a:t>https://www.analyticsvidhya.com/blog/2021/10/a-comprehensive-guide-on-deep-learning-optimizers/</a:t>
            </a:r>
            <a:endParaRPr lang="en-US"/>
          </a:p>
        </p:txBody>
      </p:sp>
      <p:sp>
        <p:nvSpPr>
          <p:cNvPr id="5" name="Text Box 4"/>
          <p:cNvSpPr txBox="1"/>
          <p:nvPr/>
        </p:nvSpPr>
        <p:spPr>
          <a:xfrm>
            <a:off x="629920" y="6023610"/>
            <a:ext cx="8587105" cy="368300"/>
          </a:xfrm>
          <a:prstGeom prst="rect">
            <a:avLst/>
          </a:prstGeom>
          <a:noFill/>
        </p:spPr>
        <p:txBody>
          <a:bodyPr wrap="square" rtlCol="0" anchor="t">
            <a:spAutoFit/>
          </a:bodyPr>
          <a:p>
            <a:r>
              <a:rPr lang="en-US" altLang="en-US"/>
              <a:t>https://www.geeksforgeeks.org/deep-learning/adam-optimizer/</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189230" y="85725"/>
            <a:ext cx="5080000" cy="3971925"/>
          </a:xfrm>
          <a:prstGeom prst="rect">
            <a:avLst/>
          </a:prstGeom>
        </p:spPr>
        <p:txBody>
          <a:bodyPr>
            <a:spAutoFit/>
          </a:bodyPr>
          <a:p>
            <a:endParaRPr sz="2600"/>
          </a:p>
          <a:p>
            <a:pPr>
              <a:spcAft>
                <a:spcPct val="60000"/>
              </a:spcAft>
            </a:pPr>
            <a:r>
              <a:rPr sz="2200" b="1"/>
              <a:t>5. Code Example (Comparing Optimizers in TensorFlow/Keras)</a:t>
            </a:r>
            <a:endParaRPr sz="2200" b="1"/>
          </a:p>
          <a:p>
            <a:pPr>
              <a:spcAft>
                <a:spcPct val="60000"/>
              </a:spcAft>
            </a:pPr>
            <a:r>
              <a:rPr sz="2200" b="1"/>
              <a:t>6. Key Takeaways</a:t>
            </a:r>
            <a:endParaRPr sz="2200" b="1"/>
          </a:p>
          <a:p>
            <a:r>
              <a:rPr sz="1600"/>
              <a:t>✅ SGD is simple but slow.</a:t>
            </a:r>
            <a:endParaRPr sz="1600"/>
          </a:p>
          <a:p>
            <a:r>
              <a:rPr sz="1600"/>
              <a:t> ✅ Momentum helps accelerate training.</a:t>
            </a:r>
            <a:endParaRPr sz="1600"/>
          </a:p>
          <a:p>
            <a:r>
              <a:rPr sz="1600"/>
              <a:t> ✅ RMSprop is useful for RNNs.</a:t>
            </a:r>
            <a:endParaRPr sz="1600"/>
          </a:p>
          <a:p>
            <a:r>
              <a:rPr sz="1600"/>
              <a:t> ✅ Adam is the most commonly used optimizer.</a:t>
            </a:r>
            <a:endParaRPr sz="1600"/>
          </a:p>
          <a:p>
            <a:r>
              <a:rPr sz="1600"/>
              <a:t> ✅ AdamW is the best choice for large models like Transformers.</a:t>
            </a:r>
            <a:endParaRPr sz="1600"/>
          </a:p>
          <a:p>
            <a:r>
              <a:rPr sz="1600"/>
              <a:t>Would you like a comparison plot of optimizers on a dataset? 🚀</a:t>
            </a:r>
            <a:endParaRPr sz="1600"/>
          </a:p>
        </p:txBody>
      </p:sp>
      <p:sp>
        <p:nvSpPr>
          <p:cNvPr id="3" name="Text Box 2"/>
          <p:cNvSpPr txBox="1"/>
          <p:nvPr/>
        </p:nvSpPr>
        <p:spPr>
          <a:xfrm>
            <a:off x="3365500" y="3911282"/>
            <a:ext cx="5080000" cy="337185"/>
          </a:xfrm>
          <a:prstGeom prst="rect">
            <a:avLst/>
          </a:prstGeom>
        </p:spPr>
        <p:txBody>
          <a:bodyPr>
            <a:spAutoFit/>
          </a:bodyPr>
          <a:p>
            <a:pPr>
              <a:spcAft>
                <a:spcPct val="60000"/>
              </a:spcAft>
            </a:pPr>
            <a:r>
              <a:rPr sz="1600" b="1"/>
              <a:t>📌 Comparison Table</a:t>
            </a:r>
            <a:endParaRPr sz="1600" b="1"/>
          </a:p>
        </p:txBody>
      </p:sp>
      <p:graphicFrame>
        <p:nvGraphicFramePr>
          <p:cNvPr id="4" name="Table 3"/>
          <p:cNvGraphicFramePr/>
          <p:nvPr>
            <p:custDataLst>
              <p:tags r:id="rId1"/>
            </p:custDataLst>
          </p:nvPr>
        </p:nvGraphicFramePr>
        <p:xfrm>
          <a:off x="354330" y="4248150"/>
          <a:ext cx="10485120" cy="2529205"/>
        </p:xfrm>
        <a:graphic>
          <a:graphicData uri="http://schemas.openxmlformats.org/drawingml/2006/table">
            <a:tbl>
              <a:tblPr firstRow="1">
                <a:tableStyleId>{3C2FFA5D-87B4-456A-9821-1D502468CF0F}</a:tableStyleId>
              </a:tblPr>
              <a:tblGrid>
                <a:gridCol w="2621280"/>
                <a:gridCol w="2621280"/>
                <a:gridCol w="2621280"/>
                <a:gridCol w="2621280"/>
              </a:tblGrid>
              <a:tr h="316230">
                <a:tc>
                  <a:txBody>
                    <a:bodyPr/>
                    <a:p>
                      <a:r>
                        <a:rPr sz="1800"/>
                        <a:t>Optimizer</a:t>
                      </a:r>
                      <a:endParaRPr sz="1800"/>
                    </a:p>
                  </a:txBody>
                  <a:tcPr marL="0" marR="0" marT="0" marB="0" anchor="ctr" anchorCtr="0"/>
                </a:tc>
                <a:tc>
                  <a:txBody>
                    <a:bodyPr/>
                    <a:p>
                      <a:r>
                        <a:rPr sz="1800"/>
                        <a:t>Pros</a:t>
                      </a:r>
                      <a:endParaRPr sz="1800"/>
                    </a:p>
                  </a:txBody>
                  <a:tcPr marL="0" marR="0" marT="0" marB="0" anchor="ctr" anchorCtr="0"/>
                </a:tc>
                <a:tc>
                  <a:txBody>
                    <a:bodyPr/>
                    <a:p>
                      <a:r>
                        <a:rPr sz="1800"/>
                        <a:t>Cons</a:t>
                      </a:r>
                      <a:endParaRPr sz="1800"/>
                    </a:p>
                  </a:txBody>
                  <a:tcPr marL="0" marR="0" marT="0" marB="0" anchor="ctr" anchorCtr="0"/>
                </a:tc>
                <a:tc>
                  <a:txBody>
                    <a:bodyPr/>
                    <a:p>
                      <a:r>
                        <a:rPr sz="1800"/>
                        <a:t>Best Used For</a:t>
                      </a:r>
                      <a:endParaRPr sz="1800"/>
                    </a:p>
                  </a:txBody>
                  <a:tcPr marL="0" marR="0" marT="0" marB="0" anchor="ctr" anchorCtr="0"/>
                </a:tc>
              </a:tr>
              <a:tr h="316230">
                <a:tc>
                  <a:txBody>
                    <a:bodyPr/>
                    <a:p>
                      <a:r>
                        <a:rPr sz="1800"/>
                        <a:t>GD</a:t>
                      </a:r>
                      <a:endParaRPr sz="1800"/>
                    </a:p>
                  </a:txBody>
                  <a:tcPr marL="0" marR="0" marT="0" marB="0" anchor="ctr" anchorCtr="0"/>
                </a:tc>
                <a:tc>
                  <a:txBody>
                    <a:bodyPr/>
                    <a:p>
                      <a:r>
                        <a:rPr sz="1800"/>
                        <a:t>Guarantees convergence</a:t>
                      </a:r>
                      <a:endParaRPr sz="1800"/>
                    </a:p>
                  </a:txBody>
                  <a:tcPr marL="0" marR="0" marT="0" marB="0" anchor="ctr" anchorCtr="0"/>
                </a:tc>
                <a:tc>
                  <a:txBody>
                    <a:bodyPr/>
                    <a:p>
                      <a:r>
                        <a:rPr sz="1800"/>
                        <a:t>Slow for large datasets</a:t>
                      </a:r>
                      <a:endParaRPr sz="1800"/>
                    </a:p>
                  </a:txBody>
                  <a:tcPr marL="0" marR="0" marT="0" marB="0" anchor="ctr" anchorCtr="0"/>
                </a:tc>
                <a:tc>
                  <a:txBody>
                    <a:bodyPr/>
                    <a:p>
                      <a:r>
                        <a:rPr sz="1800"/>
                        <a:t>Simple problems</a:t>
                      </a:r>
                      <a:endParaRPr sz="1800"/>
                    </a:p>
                  </a:txBody>
                  <a:tcPr marL="0" marR="0" marT="0" marB="0" anchor="ctr" anchorCtr="0"/>
                </a:tc>
              </a:tr>
              <a:tr h="632460">
                <a:tc>
                  <a:txBody>
                    <a:bodyPr/>
                    <a:p>
                      <a:r>
                        <a:rPr sz="1800"/>
                        <a:t>SGD</a:t>
                      </a:r>
                      <a:endParaRPr sz="1800"/>
                    </a:p>
                  </a:txBody>
                  <a:tcPr marL="0" marR="0" marT="0" marB="0" anchor="ctr" anchorCtr="0"/>
                </a:tc>
                <a:tc>
                  <a:txBody>
                    <a:bodyPr/>
                    <a:p>
                      <a:r>
                        <a:rPr sz="1800"/>
                        <a:t>Fast, works for online learning</a:t>
                      </a:r>
                      <a:endParaRPr sz="1800"/>
                    </a:p>
                  </a:txBody>
                  <a:tcPr marL="0" marR="0" marT="0" marB="0" anchor="ctr" anchorCtr="0"/>
                </a:tc>
                <a:tc>
                  <a:txBody>
                    <a:bodyPr/>
                    <a:p>
                      <a:r>
                        <a:rPr sz="1800"/>
                        <a:t>Noisy, unstable</a:t>
                      </a:r>
                      <a:endParaRPr sz="1800"/>
                    </a:p>
                  </a:txBody>
                  <a:tcPr marL="0" marR="0" marT="0" marB="0" anchor="ctr" anchorCtr="0"/>
                </a:tc>
                <a:tc>
                  <a:txBody>
                    <a:bodyPr/>
                    <a:p>
                      <a:r>
                        <a:rPr sz="1800"/>
                        <a:t>Large-scale datasets</a:t>
                      </a:r>
                      <a:endParaRPr sz="1800"/>
                    </a:p>
                  </a:txBody>
                  <a:tcPr marL="0" marR="0" marT="0" marB="0" anchor="ctr" anchorCtr="0"/>
                </a:tc>
              </a:tr>
              <a:tr h="315595">
                <a:tc>
                  <a:txBody>
                    <a:bodyPr/>
                    <a:p>
                      <a:r>
                        <a:rPr sz="1800"/>
                        <a:t>Mini-batch GD</a:t>
                      </a:r>
                      <a:endParaRPr sz="1800"/>
                    </a:p>
                  </a:txBody>
                  <a:tcPr marL="0" marR="0" marT="0" marB="0" anchor="ctr" anchorCtr="0"/>
                </a:tc>
                <a:tc>
                  <a:txBody>
                    <a:bodyPr/>
                    <a:p>
                      <a:r>
                        <a:rPr sz="1800"/>
                        <a:t>Efficient, stable</a:t>
                      </a:r>
                      <a:endParaRPr sz="1800"/>
                    </a:p>
                  </a:txBody>
                  <a:tcPr marL="0" marR="0" marT="0" marB="0" anchor="ctr" anchorCtr="0"/>
                </a:tc>
                <a:tc>
                  <a:txBody>
                    <a:bodyPr/>
                    <a:p>
                      <a:r>
                        <a:rPr sz="1800"/>
                        <a:t>Requires tuning batch size</a:t>
                      </a:r>
                      <a:endParaRPr sz="1800"/>
                    </a:p>
                  </a:txBody>
                  <a:tcPr marL="0" marR="0" marT="0" marB="0" anchor="ctr" anchorCtr="0"/>
                </a:tc>
                <a:tc>
                  <a:txBody>
                    <a:bodyPr/>
                    <a:p>
                      <a:r>
                        <a:rPr sz="1800"/>
                        <a:t>Most deep learning tasks</a:t>
                      </a:r>
                      <a:endParaRPr sz="1800"/>
                    </a:p>
                  </a:txBody>
                  <a:tcPr marL="0" marR="0" marT="0" marB="0" anchor="ctr" anchorCtr="0"/>
                </a:tc>
              </a:tr>
              <a:tr h="316230">
                <a:tc>
                  <a:txBody>
                    <a:bodyPr/>
                    <a:p>
                      <a:r>
                        <a:rPr sz="1800"/>
                        <a:t>Momentum</a:t>
                      </a:r>
                      <a:endParaRPr sz="1800"/>
                    </a:p>
                  </a:txBody>
                  <a:tcPr marL="0" marR="0" marT="0" marB="0" anchor="ctr" anchorCtr="0"/>
                </a:tc>
                <a:tc>
                  <a:txBody>
                    <a:bodyPr/>
                    <a:p>
                      <a:r>
                        <a:rPr sz="1800"/>
                        <a:t>Reduces oscillations</a:t>
                      </a:r>
                      <a:endParaRPr sz="1800"/>
                    </a:p>
                  </a:txBody>
                  <a:tcPr marL="0" marR="0" marT="0" marB="0" anchor="ctr" anchorCtr="0"/>
                </a:tc>
                <a:tc>
                  <a:txBody>
                    <a:bodyPr/>
                    <a:p>
                      <a:r>
                        <a:rPr sz="1800"/>
                        <a:t>Can overshoot</a:t>
                      </a:r>
                      <a:endParaRPr sz="1800"/>
                    </a:p>
                  </a:txBody>
                  <a:tcPr marL="0" marR="0" marT="0" marB="0" anchor="ctr" anchorCtr="0"/>
                </a:tc>
                <a:tc>
                  <a:txBody>
                    <a:bodyPr/>
                    <a:p>
                      <a:r>
                        <a:rPr sz="1800"/>
                        <a:t>Deep networks</a:t>
                      </a:r>
                      <a:endParaRPr sz="1800"/>
                    </a:p>
                  </a:txBody>
                  <a:tcPr marL="0" marR="0" marT="0" marB="0" anchor="ctr" anchorCtr="0"/>
                </a:tc>
              </a:tr>
              <a:tr h="316230">
                <a:tc>
                  <a:txBody>
                    <a:bodyPr/>
                    <a:p>
                      <a:r>
                        <a:rPr sz="1800"/>
                        <a:t>RMSprop</a:t>
                      </a:r>
                      <a:endParaRPr sz="1800"/>
                    </a:p>
                  </a:txBody>
                  <a:tcPr marL="0" marR="0" marT="0" marB="0" anchor="ctr" anchorCtr="0"/>
                </a:tc>
                <a:tc>
                  <a:txBody>
                    <a:bodyPr/>
                    <a:p>
                      <a:r>
                        <a:rPr sz="1800"/>
                        <a:t>Adapts learning rate</a:t>
                      </a:r>
                      <a:endParaRPr sz="1800"/>
                    </a:p>
                  </a:txBody>
                  <a:tcPr marL="0" marR="0" marT="0" marB="0" anchor="ctr" anchorCtr="0"/>
                </a:tc>
                <a:tc>
                  <a:txBody>
                    <a:bodyPr/>
                    <a:p>
                      <a:r>
                        <a:rPr sz="1800"/>
                        <a:t>Needs tuning</a:t>
                      </a:r>
                      <a:endParaRPr sz="1800"/>
                    </a:p>
                  </a:txBody>
                  <a:tcPr marL="0" marR="0" marT="0" marB="0" anchor="ctr" anchorCtr="0"/>
                </a:tc>
                <a:tc>
                  <a:txBody>
                    <a:bodyPr/>
                    <a:p>
                      <a:r>
                        <a:rPr sz="1800"/>
                        <a:t>RNNs, NLP</a:t>
                      </a:r>
                      <a:endParaRPr sz="1800"/>
                    </a:p>
                  </a:txBody>
                  <a:tcPr marL="0" marR="0" marT="0" marB="0" anchor="ctr" anchorCtr="0"/>
                </a:tc>
              </a:tr>
              <a:tr h="316230">
                <a:tc>
                  <a:txBody>
                    <a:bodyPr/>
                    <a:p>
                      <a:r>
                        <a:rPr sz="1800"/>
                        <a:t>Adam</a:t>
                      </a:r>
                      <a:endParaRPr sz="1800"/>
                    </a:p>
                  </a:txBody>
                  <a:tcPr marL="0" marR="0" marT="0" marB="0" anchor="ctr" anchorCtr="0"/>
                </a:tc>
                <a:tc>
                  <a:txBody>
                    <a:bodyPr/>
                    <a:p>
                      <a:r>
                        <a:rPr sz="1800"/>
                        <a:t>Adaptive, robust</a:t>
                      </a:r>
                      <a:endParaRPr sz="1800"/>
                    </a:p>
                  </a:txBody>
                  <a:tcPr marL="0" marR="0" marT="0" marB="0" anchor="ctr" anchorCtr="0"/>
                </a:tc>
                <a:tc>
                  <a:txBody>
                    <a:bodyPr/>
                    <a:p>
                      <a:r>
                        <a:rPr sz="1800"/>
                        <a:t>Slightly expensive</a:t>
                      </a:r>
                      <a:endParaRPr sz="1800"/>
                    </a:p>
                  </a:txBody>
                  <a:tcPr marL="0" marR="0" marT="0" marB="0" anchor="ctr" anchorCtr="0"/>
                </a:tc>
                <a:tc>
                  <a:txBody>
                    <a:bodyPr/>
                    <a:p>
                      <a:r>
                        <a:rPr sz="1800"/>
                        <a:t>CNNs, RNNs, GANs</a:t>
                      </a:r>
                      <a:endParaRPr sz="1800"/>
                    </a:p>
                  </a:txBody>
                  <a:tcPr marL="0" marR="0" marT="0" marB="0" anchor="ctr" anchorCtr="0"/>
                </a:tc>
              </a:tr>
            </a:tbl>
          </a:graphicData>
        </a:graphic>
      </p:graphicFrame>
      <p:sp>
        <p:nvSpPr>
          <p:cNvPr id="5" name="Text Box 4"/>
          <p:cNvSpPr txBox="1"/>
          <p:nvPr/>
        </p:nvSpPr>
        <p:spPr>
          <a:xfrm>
            <a:off x="5822315" y="634365"/>
            <a:ext cx="5080000" cy="1689100"/>
          </a:xfrm>
          <a:prstGeom prst="rect">
            <a:avLst/>
          </a:prstGeom>
        </p:spPr>
        <p:txBody>
          <a:bodyPr>
            <a:spAutoFit/>
          </a:bodyPr>
          <a:p>
            <a:pPr>
              <a:spcAft>
                <a:spcPct val="60000"/>
              </a:spcAft>
            </a:pPr>
            <a:r>
              <a:rPr sz="2300" b="1"/>
              <a:t>📌 Which Optimizer Should You Use?</a:t>
            </a:r>
            <a:endParaRPr sz="2300" b="1"/>
          </a:p>
          <a:p>
            <a:pPr>
              <a:buFont typeface="Arial" panose="020B0604020202020204"/>
              <a:buChar char="•"/>
            </a:pPr>
            <a:r>
              <a:rPr sz="1600"/>
              <a:t>For small datasets → SGD or Mini-batch GD</a:t>
            </a:r>
            <a:endParaRPr sz="1600"/>
          </a:p>
          <a:p>
            <a:pPr>
              <a:buFont typeface="Arial" panose="020B0604020202020204"/>
              <a:buChar char="•"/>
            </a:pPr>
            <a:r>
              <a:rPr sz="1600"/>
              <a:t>For deep networks → Momentum or Adam</a:t>
            </a:r>
            <a:endParaRPr sz="1600"/>
          </a:p>
          <a:p>
            <a:pPr>
              <a:buFont typeface="Arial" panose="020B0604020202020204"/>
              <a:buChar char="•"/>
            </a:pPr>
            <a:r>
              <a:rPr sz="1600"/>
              <a:t>For RNNs (sequential data) → RMSprop or Adam</a:t>
            </a:r>
            <a:endParaRPr sz="1600"/>
          </a:p>
          <a:p>
            <a:pPr>
              <a:buFont typeface="Arial" panose="020B0604020202020204"/>
              <a:buChar char="•"/>
            </a:pPr>
            <a:r>
              <a:rPr sz="1600"/>
              <a:t>For large-scale datasets → Adam (most recommended)</a:t>
            </a:r>
            <a:endParaRPr sz="1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Table 4"/>
          <p:cNvGraphicFramePr/>
          <p:nvPr/>
        </p:nvGraphicFramePr>
        <p:xfrm>
          <a:off x="531495" y="722630"/>
          <a:ext cx="10485120" cy="2468880"/>
        </p:xfrm>
        <a:graphic>
          <a:graphicData uri="http://schemas.openxmlformats.org/drawingml/2006/table">
            <a:tbl>
              <a:tblPr>
                <a:tableStyleId>{3C2FFA5D-87B4-456A-9821-1D502468CF0F}</a:tableStyleId>
              </a:tblPr>
              <a:tblGrid>
                <a:gridCol w="5242560"/>
                <a:gridCol w="5242560"/>
              </a:tblGrid>
              <a:tr h="411480">
                <a:tc>
                  <a:txBody>
                    <a:bodyPr/>
                    <a:p>
                      <a:r>
                        <a:rPr sz="1800"/>
                        <a:t>Scenario</a:t>
                      </a:r>
                      <a:endParaRPr sz="1800"/>
                    </a:p>
                  </a:txBody>
                  <a:tcPr marL="0" marR="0" marT="0" marB="0" anchor="ctr" anchorCtr="0"/>
                </a:tc>
                <a:tc>
                  <a:txBody>
                    <a:bodyPr/>
                    <a:p>
                      <a:r>
                        <a:rPr sz="1800"/>
                        <a:t>Best Optimizer</a:t>
                      </a:r>
                      <a:endParaRPr sz="1800"/>
                    </a:p>
                  </a:txBody>
                  <a:tcPr marL="0" marR="0" marT="0" marB="0" anchor="ctr" anchorCtr="0"/>
                </a:tc>
              </a:tr>
              <a:tr h="411480">
                <a:tc>
                  <a:txBody>
                    <a:bodyPr/>
                    <a:p>
                      <a:r>
                        <a:rPr sz="1800"/>
                        <a:t>General deep learning</a:t>
                      </a:r>
                      <a:endParaRPr sz="1800"/>
                    </a:p>
                  </a:txBody>
                  <a:tcPr marL="0" marR="0" marT="0" marB="0" anchor="ctr" anchorCtr="0"/>
                </a:tc>
                <a:tc>
                  <a:txBody>
                    <a:bodyPr/>
                    <a:p>
                      <a:r>
                        <a:rPr sz="1800"/>
                        <a:t>Adam (fast, adaptive)</a:t>
                      </a:r>
                      <a:endParaRPr sz="1800"/>
                    </a:p>
                  </a:txBody>
                  <a:tcPr marL="0" marR="0" marT="0" marB="0" anchor="ctr" anchorCtr="0"/>
                </a:tc>
              </a:tr>
              <a:tr h="411480">
                <a:tc>
                  <a:txBody>
                    <a:bodyPr/>
                    <a:p>
                      <a:r>
                        <a:rPr sz="1800"/>
                        <a:t>Large-scale NLP (Transformers)</a:t>
                      </a:r>
                      <a:endParaRPr sz="1800"/>
                    </a:p>
                  </a:txBody>
                  <a:tcPr marL="0" marR="0" marT="0" marB="0" anchor="ctr" anchorCtr="0"/>
                </a:tc>
                <a:tc>
                  <a:txBody>
                    <a:bodyPr/>
                    <a:p>
                      <a:r>
                        <a:rPr sz="1800"/>
                        <a:t>AdamW (prevents overfitting)</a:t>
                      </a:r>
                      <a:endParaRPr sz="1800"/>
                    </a:p>
                  </a:txBody>
                  <a:tcPr marL="0" marR="0" marT="0" marB="0" anchor="ctr" anchorCtr="0"/>
                </a:tc>
              </a:tr>
              <a:tr h="411480">
                <a:tc>
                  <a:txBody>
                    <a:bodyPr/>
                    <a:p>
                      <a:r>
                        <a:rPr sz="1800"/>
                        <a:t>Simple problems (Regression, MLPs)</a:t>
                      </a:r>
                      <a:endParaRPr sz="1800"/>
                    </a:p>
                  </a:txBody>
                  <a:tcPr marL="0" marR="0" marT="0" marB="0" anchor="ctr" anchorCtr="0"/>
                </a:tc>
                <a:tc>
                  <a:txBody>
                    <a:bodyPr/>
                    <a:p>
                      <a:r>
                        <a:rPr sz="1800"/>
                        <a:t>SGD</a:t>
                      </a:r>
                      <a:endParaRPr sz="1800"/>
                    </a:p>
                  </a:txBody>
                  <a:tcPr marL="0" marR="0" marT="0" marB="0" anchor="ctr" anchorCtr="0"/>
                </a:tc>
              </a:tr>
              <a:tr h="411480">
                <a:tc>
                  <a:txBody>
                    <a:bodyPr/>
                    <a:p>
                      <a:r>
                        <a:rPr sz="1800"/>
                        <a:t>Image classification (CNNs)</a:t>
                      </a:r>
                      <a:endParaRPr sz="1800"/>
                    </a:p>
                  </a:txBody>
                  <a:tcPr marL="0" marR="0" marT="0" marB="0" anchor="ctr" anchorCtr="0"/>
                </a:tc>
                <a:tc>
                  <a:txBody>
                    <a:bodyPr/>
                    <a:p>
                      <a:r>
                        <a:rPr sz="1800"/>
                        <a:t>SGD + Momentum / Adam</a:t>
                      </a:r>
                      <a:endParaRPr sz="1800"/>
                    </a:p>
                  </a:txBody>
                  <a:tcPr marL="0" marR="0" marT="0" marB="0" anchor="ctr" anchorCtr="0"/>
                </a:tc>
              </a:tr>
              <a:tr h="411480">
                <a:tc>
                  <a:txBody>
                    <a:bodyPr/>
                    <a:p>
                      <a:r>
                        <a:rPr sz="1800"/>
                        <a:t>Recurrent Neural Networks (RNNs, LSTMs)</a:t>
                      </a:r>
                      <a:endParaRPr sz="1800"/>
                    </a:p>
                  </a:txBody>
                  <a:tcPr marL="0" marR="0" marT="0" marB="0" anchor="ctr" anchorCtr="0"/>
                </a:tc>
                <a:tc>
                  <a:txBody>
                    <a:bodyPr/>
                    <a:p>
                      <a:r>
                        <a:rPr sz="1800"/>
                        <a:t>RMSprop / Adam</a:t>
                      </a:r>
                      <a:endParaRPr sz="1800"/>
                    </a:p>
                  </a:txBody>
                  <a:tcPr marL="0" marR="0" marT="0" marB="0" anchor="ctr" anchorCtr="0"/>
                </a:tc>
              </a:tr>
            </a:tbl>
          </a:graphicData>
        </a:graphic>
      </p:graphicFrame>
      <p:sp>
        <p:nvSpPr>
          <p:cNvPr id="6" name="Text Box 5"/>
          <p:cNvSpPr txBox="1"/>
          <p:nvPr/>
        </p:nvSpPr>
        <p:spPr>
          <a:xfrm>
            <a:off x="531495" y="217805"/>
            <a:ext cx="6096000" cy="643890"/>
          </a:xfrm>
          <a:prstGeom prst="rect">
            <a:avLst/>
          </a:prstGeom>
          <a:noFill/>
        </p:spPr>
        <p:txBody>
          <a:bodyPr wrap="square" rtlCol="0" anchor="t">
            <a:noAutofit/>
          </a:bodyPr>
          <a:p>
            <a:pPr>
              <a:spcAft>
                <a:spcPct val="60000"/>
              </a:spcAft>
            </a:pPr>
            <a:r>
              <a:rPr sz="2200" b="1">
                <a:sym typeface="+mn-ea"/>
              </a:rPr>
              <a:t>4. Which Optimizer Should You Use?</a:t>
            </a:r>
            <a:endParaRPr lang="en-US" sz="2200" b="1">
              <a:sym typeface="+mn-ea"/>
            </a:endParaRPr>
          </a:p>
        </p:txBody>
      </p:sp>
    </p:spTree>
  </p:cSld>
  <p:clrMapOvr>
    <a:masterClrMapping/>
  </p:clrMapOvr>
</p:sld>
</file>

<file path=ppt/tags/tag1.xml><?xml version="1.0" encoding="utf-8"?>
<p:tagLst xmlns:p="http://schemas.openxmlformats.org/presentationml/2006/main">
  <p:tag name="TABLE_ENDDRAG_ORIGIN_RECT" val="870*159"/>
  <p:tag name="TABLE_ENDDRAG_RECT" val="47*299*870*159"/>
</p:tagLst>
</file>

<file path=ppt/tags/tag2.xml><?xml version="1.0" encoding="utf-8"?>
<p:tagLst xmlns:p="http://schemas.openxmlformats.org/presentationml/2006/main">
  <p:tag name="TABLE_ENDDRAG_ORIGIN_RECT" val="490*255"/>
  <p:tag name="TABLE_ENDDRAG_RECT" val="469*285*490*255"/>
</p:tagLst>
</file>

<file path=ppt/tags/tag3.xml><?xml version="1.0" encoding="utf-8"?>
<p:tagLst xmlns:p="http://schemas.openxmlformats.org/presentationml/2006/main">
  <p:tag name="TABLE_ENDDRAG_ORIGIN_RECT" val="614*19"/>
  <p:tag name="TABLE_ENDDRAG_RECT" val="25*283*614*19"/>
</p:tagLst>
</file>

<file path=ppt/tags/tag4.xml><?xml version="1.0" encoding="utf-8"?>
<p:tagLst xmlns:p="http://schemas.openxmlformats.org/presentationml/2006/main">
  <p:tag name="TABLE_ENDDRAG_ORIGIN_RECT" val="613*43"/>
  <p:tag name="TABLE_ENDDRAG_RECT" val="18*303*613*43"/>
</p:tagLst>
</file>

<file path=ppt/tags/tag5.xml><?xml version="1.0" encoding="utf-8"?>
<p:tagLst xmlns:p="http://schemas.openxmlformats.org/presentationml/2006/main">
  <p:tag name="TABLE_ENDDRAG_ORIGIN_RECT" val="662*51"/>
  <p:tag name="TABLE_ENDDRAG_RECT" val="18*321*662*51"/>
</p:tagLst>
</file>

<file path=ppt/tags/tag6.xml><?xml version="1.0" encoding="utf-8"?>
<p:tagLst xmlns:p="http://schemas.openxmlformats.org/presentationml/2006/main">
  <p:tag name="TABLE_ENDDRAG_ORIGIN_RECT" val="490*255"/>
  <p:tag name="TABLE_ENDDRAG_RECT" val="469*285*490*255"/>
</p:tagLst>
</file>

<file path=ppt/tags/tag7.xml><?xml version="1.0" encoding="utf-8"?>
<p:tagLst xmlns:p="http://schemas.openxmlformats.org/presentationml/2006/main">
  <p:tag name="TABLE_ENDDRAG_ORIGIN_RECT" val="825*199"/>
  <p:tag name="TABLE_ENDDRAG_RECT" val="27*334*825*19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41319</Words>
  <Application>WPS Presentation</Application>
  <PresentationFormat>Widescreen</PresentationFormat>
  <Paragraphs>1059</Paragraphs>
  <Slides>55</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55</vt:i4>
      </vt:variant>
    </vt:vector>
  </HeadingPairs>
  <TitlesOfParts>
    <vt:vector size="74" baseType="lpstr">
      <vt:lpstr>Arial</vt:lpstr>
      <vt:lpstr>SimSun</vt:lpstr>
      <vt:lpstr>Wingdings</vt:lpstr>
      <vt:lpstr>Georgia</vt:lpstr>
      <vt:lpstr>Nunito</vt:lpstr>
      <vt:lpstr>Segoe Print</vt:lpstr>
      <vt:lpstr>Arial</vt:lpstr>
      <vt:lpstr>Arial Black</vt:lpstr>
      <vt:lpstr>Google Sans</vt:lpstr>
      <vt:lpstr>monospace</vt:lpstr>
      <vt:lpstr>Microsoft YaHei</vt:lpstr>
      <vt:lpstr>Arial Unicode MS</vt:lpstr>
      <vt:lpstr>Calibri Light</vt:lpstr>
      <vt:lpstr>Calibri</vt:lpstr>
      <vt:lpstr>Roboto-Regular</vt:lpstr>
      <vt:lpstr>Monaco</vt:lpstr>
      <vt:lpstr>Inter</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hp</cp:lastModifiedBy>
  <cp:revision>505</cp:revision>
  <dcterms:created xsi:type="dcterms:W3CDTF">2025-02-02T08:06:00Z</dcterms:created>
  <dcterms:modified xsi:type="dcterms:W3CDTF">2026-06-27T12:27:15Z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9D96F5E932AF4648AA1B99CD0A39ECB7_11</vt:lpwstr>
  </property>
  <property fmtid="{D5CDD505-2E9C-101B-9397-08002B2CF9AE}" pid="3" name="KSOProductBuildVer">
    <vt:lpwstr>1033-12.1.0.26880</vt:lpwstr>
  </property>
</Properties>
</file>