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8"/>
  </p:notesMasterIdLst>
  <p:sldIdLst>
    <p:sldId id="276" r:id="rId3"/>
    <p:sldId id="368" r:id="rId4"/>
    <p:sldId id="398" r:id="rId5"/>
    <p:sldId id="277" r:id="rId6"/>
    <p:sldId id="278" r:id="rId7"/>
    <p:sldId id="256" r:id="rId8"/>
    <p:sldId id="258" r:id="rId9"/>
    <p:sldId id="262" r:id="rId10"/>
    <p:sldId id="389" r:id="rId11"/>
    <p:sldId id="342" r:id="rId12"/>
    <p:sldId id="279" r:id="rId13"/>
    <p:sldId id="259" r:id="rId14"/>
    <p:sldId id="260" r:id="rId15"/>
    <p:sldId id="396" r:id="rId16"/>
    <p:sldId id="397" r:id="rId17"/>
    <p:sldId id="283" r:id="rId18"/>
    <p:sldId id="394" r:id="rId19"/>
    <p:sldId id="281" r:id="rId20"/>
    <p:sldId id="282" r:id="rId21"/>
    <p:sldId id="399" r:id="rId22"/>
    <p:sldId id="391" r:id="rId23"/>
    <p:sldId id="392" r:id="rId24"/>
    <p:sldId id="301" r:id="rId25"/>
    <p:sldId id="351" r:id="rId26"/>
    <p:sldId id="352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1" autoAdjust="0"/>
    <p:restoredTop sz="94660"/>
  </p:normalViewPr>
  <p:slideViewPr>
    <p:cSldViewPr snapToGrid="0">
      <p:cViewPr varScale="1">
        <p:scale>
          <a:sx n="79" d="100"/>
          <a:sy n="79" d="100"/>
        </p:scale>
        <p:origin x="802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1" Type="http://schemas.openxmlformats.org/officeDocument/2006/relationships/tableStyles" Target="tableStyles.xml"/><Relationship Id="rId30" Type="http://schemas.openxmlformats.org/officeDocument/2006/relationships/viewProps" Target="viewProps.xml"/><Relationship Id="rId3" Type="http://schemas.openxmlformats.org/officeDocument/2006/relationships/slide" Target="slides/slide1.xml"/><Relationship Id="rId29" Type="http://schemas.openxmlformats.org/officeDocument/2006/relationships/presProps" Target="presProps.xml"/><Relationship Id="rId28" Type="http://schemas.openxmlformats.org/officeDocument/2006/relationships/notesMaster" Target="notesMasters/notesMaster1.xml"/><Relationship Id="rId27" Type="http://schemas.openxmlformats.org/officeDocument/2006/relationships/slide" Target="slides/slide25.xml"/><Relationship Id="rId26" Type="http://schemas.openxmlformats.org/officeDocument/2006/relationships/slide" Target="slides/slide24.xml"/><Relationship Id="rId25" Type="http://schemas.openxmlformats.org/officeDocument/2006/relationships/slide" Target="slides/slide23.xml"/><Relationship Id="rId24" Type="http://schemas.openxmlformats.org/officeDocument/2006/relationships/slide" Target="slides/slide22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1" Type="http://schemas.openxmlformats.org/officeDocument/2006/relationships/image" Target="../media/image3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1" Type="http://schemas.openxmlformats.org/officeDocument/2006/relationships/image" Target="../media/image5.jpe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7.jpe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10.jpeg"/><Relationship Id="rId1" Type="http://schemas.openxmlformats.org/officeDocument/2006/relationships/image" Target="../media/image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1" Type="http://schemas.openxmlformats.org/officeDocument/2006/relationships/image" Target="../media/image11.jpe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3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4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5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1" Type="http://schemas.openxmlformats.org/officeDocument/2006/relationships/image" Target="../media/image16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8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127635"/>
            <a:ext cx="12066270" cy="660209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/>
          <p:nvPr/>
        </p:nvPicPr>
        <p:blipFill>
          <a:blip r:embed="rId1"/>
          <a:srcRect t="8297" b="1980"/>
          <a:stretch>
            <a:fillRect/>
          </a:stretch>
        </p:blipFill>
        <p:spPr>
          <a:xfrm>
            <a:off x="675005" y="317068"/>
            <a:ext cx="10526395" cy="646049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398145" y="261938"/>
            <a:ext cx="5080000" cy="2358390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indent="0">
              <a:spcBef>
                <a:spcPts val="1000"/>
              </a:spcBef>
              <a:spcAft>
                <a:spcPts val="500"/>
              </a:spcAft>
            </a:pPr>
            <a:r>
              <a:rPr sz="2800" b="1" i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omorrow"/>
                <a:ea typeface="Tomorrow"/>
              </a:rPr>
              <a:t>Introduction to DL</a:t>
            </a:r>
            <a:r>
              <a:rPr sz="2500" b="0" i="0">
                <a:solidFill>
                  <a:srgbClr val="333333"/>
                </a:solidFill>
                <a:latin typeface="Tomorrow"/>
                <a:ea typeface="Tomorrow"/>
              </a:rPr>
              <a:t>  </a:t>
            </a:r>
            <a:endParaRPr sz="25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lnSpc>
                <a:spcPct val="18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Introduction to Deep Learning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lnSpc>
                <a:spcPct val="18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Perceptron Model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lnSpc>
                <a:spcPct val="18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Introduction to Tensorflow and Keras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lnSpc>
                <a:spcPct val="18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Introduction to Types of Neural Networks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</p:txBody>
      </p:sp>
      <p:sp>
        <p:nvSpPr>
          <p:cNvPr id="3" name="Text Box 2"/>
          <p:cNvSpPr txBox="1"/>
          <p:nvPr/>
        </p:nvSpPr>
        <p:spPr>
          <a:xfrm>
            <a:off x="570230" y="4601210"/>
            <a:ext cx="7737475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en-US"/>
              <a:t>https://www.geeksforgeeks.org/deep-learning-interview-questions/?ref=shm</a:t>
            </a:r>
            <a:endParaRPr lang="en-US"/>
          </a:p>
        </p:txBody>
      </p:sp>
      <p:sp>
        <p:nvSpPr>
          <p:cNvPr id="4" name="Text Box 3"/>
          <p:cNvSpPr txBox="1"/>
          <p:nvPr/>
        </p:nvSpPr>
        <p:spPr>
          <a:xfrm>
            <a:off x="768985" y="5356225"/>
            <a:ext cx="609600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en-US"/>
              <a:t>https://www.geeksforgeeks.org/ai-ml-ds-projects/?ref=lbp</a:t>
            </a:r>
            <a:endParaRPr lang="en-US"/>
          </a:p>
        </p:txBody>
      </p:sp>
      <p:sp>
        <p:nvSpPr>
          <p:cNvPr id="5" name="Text Box 4"/>
          <p:cNvSpPr txBox="1"/>
          <p:nvPr/>
        </p:nvSpPr>
        <p:spPr>
          <a:xfrm>
            <a:off x="633095" y="5957570"/>
            <a:ext cx="609600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en-US"/>
              <a:t>https://www.geeksforgeeks.org/deep-learning-tutorial/</a:t>
            </a:r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/>
          <p:nvPr/>
        </p:nvPicPr>
        <p:blipFill>
          <a:blip r:embed="rId1"/>
          <a:stretch>
            <a:fillRect/>
          </a:stretch>
        </p:blipFill>
        <p:spPr>
          <a:xfrm>
            <a:off x="238760" y="0"/>
            <a:ext cx="5855970" cy="4417060"/>
          </a:xfrm>
          <a:prstGeom prst="rect">
            <a:avLst/>
          </a:prstGeom>
        </p:spPr>
      </p:pic>
      <p:sp>
        <p:nvSpPr>
          <p:cNvPr id="5" name="Text Box 4"/>
          <p:cNvSpPr txBox="1"/>
          <p:nvPr/>
        </p:nvSpPr>
        <p:spPr>
          <a:xfrm>
            <a:off x="238760" y="6318250"/>
            <a:ext cx="609600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en-US"/>
              <a:t>https://ellow.io/components-of-ai/</a:t>
            </a:r>
            <a:endParaRPr lang="en-US"/>
          </a:p>
        </p:txBody>
      </p:sp>
      <p:pic>
        <p:nvPicPr>
          <p:cNvPr id="6" name="Picture 5"/>
          <p:cNvPicPr/>
          <p:nvPr/>
        </p:nvPicPr>
        <p:blipFill>
          <a:blip r:embed="rId2"/>
          <a:stretch>
            <a:fillRect/>
          </a:stretch>
        </p:blipFill>
        <p:spPr>
          <a:xfrm>
            <a:off x="6477000" y="2571750"/>
            <a:ext cx="5715000" cy="42862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Box 2"/>
          <p:cNvSpPr txBox="1"/>
          <p:nvPr/>
        </p:nvSpPr>
        <p:spPr>
          <a:xfrm>
            <a:off x="0" y="0"/>
            <a:ext cx="2840990" cy="21228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Algorithms and models </a:t>
            </a:r>
            <a:endParaRPr lang="en-US" sz="4400" b="1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4" name="Picture 3"/>
          <p:cNvPicPr/>
          <p:nvPr/>
        </p:nvPicPr>
        <p:blipFill>
          <a:blip r:embed="rId1"/>
          <a:srcRect t="7325"/>
          <a:stretch>
            <a:fillRect/>
          </a:stretch>
        </p:blipFill>
        <p:spPr>
          <a:xfrm>
            <a:off x="3968115" y="635"/>
            <a:ext cx="8507095" cy="6858000"/>
          </a:xfrm>
          <a:prstGeom prst="rect">
            <a:avLst/>
          </a:prstGeom>
        </p:spPr>
      </p:pic>
      <p:pic>
        <p:nvPicPr>
          <p:cNvPr id="2" name="Picture 1"/>
          <p:cNvPicPr/>
          <p:nvPr/>
        </p:nvPicPr>
        <p:blipFill>
          <a:blip r:embed="rId2"/>
          <a:stretch>
            <a:fillRect/>
          </a:stretch>
        </p:blipFill>
        <p:spPr>
          <a:xfrm>
            <a:off x="-1" y="2246630"/>
            <a:ext cx="4877435" cy="450436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Box 3"/>
          <p:cNvSpPr txBox="1"/>
          <p:nvPr/>
        </p:nvSpPr>
        <p:spPr>
          <a:xfrm>
            <a:off x="1049655" y="492760"/>
            <a:ext cx="8319770" cy="4608195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sz="240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Artificial Intelligence (AI)</a:t>
            </a:r>
            <a:r>
              <a:rPr sz="2400"/>
              <a:t> refers to the simulation of human intelligence in machines that are designed to think, learn, and make decisions. AI encompasses a wide range of technologies, including rule-based systems, expert systems, and machine learning algorithms.</a:t>
            </a:r>
            <a:endParaRPr sz="2400"/>
          </a:p>
          <a:p>
            <a:endParaRPr sz="2400"/>
          </a:p>
          <a:p>
            <a:r>
              <a:rPr sz="24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Key Features of AI:</a:t>
            </a:r>
            <a:endParaRPr sz="2400" b="1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>
              <a:buFont typeface="Arial" panose="020B0604020202020204"/>
              <a:buChar char="•"/>
            </a:pPr>
            <a:r>
              <a:rPr sz="2400"/>
              <a:t>Automation of tasks that require human intelligence.</a:t>
            </a:r>
            <a:endParaRPr sz="2400"/>
          </a:p>
          <a:p>
            <a:pPr>
              <a:buFont typeface="Arial" panose="020B0604020202020204"/>
              <a:buChar char="•"/>
            </a:pPr>
            <a:r>
              <a:rPr sz="2400"/>
              <a:t>Ability to learn from data and improve over time.</a:t>
            </a:r>
            <a:endParaRPr sz="2400"/>
          </a:p>
          <a:p>
            <a:pPr>
              <a:buFont typeface="Arial" panose="020B0604020202020204"/>
              <a:buChar char="•"/>
            </a:pPr>
            <a:r>
              <a:rPr sz="2400"/>
              <a:t>Applications across various domains, including healthcare, finance, and robotics.</a:t>
            </a:r>
            <a:endParaRPr sz="24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Box 3"/>
          <p:cNvSpPr txBox="1"/>
          <p:nvPr/>
        </p:nvSpPr>
        <p:spPr>
          <a:xfrm>
            <a:off x="404495" y="216535"/>
            <a:ext cx="7792720" cy="39693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AI vs ML vs DL</a:t>
            </a:r>
            <a:endParaRPr sz="2800" b="1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>
              <a:buAutoNum type="arabicPeriod"/>
            </a:pPr>
            <a:r>
              <a:rPr sz="1600"/>
              <a:t>Artificial Intelligence (AI):</a:t>
            </a:r>
            <a:endParaRPr sz="1600"/>
          </a:p>
          <a:p>
            <a:pPr lvl="1">
              <a:buFont typeface="Arial" panose="020B0604020202020204"/>
              <a:buChar char="◦"/>
            </a:pPr>
            <a:r>
              <a:rPr sz="1600"/>
              <a:t>The broadest concept, referring to machines that can perform cognitive functions similar to humans.</a:t>
            </a:r>
            <a:endParaRPr sz="1600"/>
          </a:p>
          <a:p>
            <a:pPr lvl="1">
              <a:buFont typeface="Arial" panose="020B0604020202020204"/>
              <a:buChar char="◦"/>
            </a:pPr>
            <a:r>
              <a:rPr sz="1600"/>
              <a:t>Encompasses ML, DL, and rule-based systems.</a:t>
            </a:r>
            <a:endParaRPr sz="1600"/>
          </a:p>
          <a:p>
            <a:pPr lvl="1">
              <a:buFont typeface="Arial" panose="020B0604020202020204"/>
              <a:buChar char="◦"/>
            </a:pPr>
            <a:r>
              <a:rPr sz="1600"/>
              <a:t>Examples: Virtual assistants, autonomous vehicles, and recommendation systems.</a:t>
            </a:r>
            <a:endParaRPr sz="1600"/>
          </a:p>
          <a:p>
            <a:pPr>
              <a:buAutoNum type="arabicPeriod"/>
            </a:pPr>
            <a:r>
              <a:rPr sz="1600"/>
              <a:t>Machine Learning (ML):</a:t>
            </a:r>
            <a:endParaRPr sz="1600"/>
          </a:p>
          <a:p>
            <a:pPr lvl="1">
              <a:buFont typeface="Arial" panose="020B0604020202020204"/>
              <a:buChar char="◦"/>
            </a:pPr>
            <a:r>
              <a:rPr sz="1600"/>
              <a:t>A subset of AI that enables machines to learn patterns from data without explicit programming.</a:t>
            </a:r>
            <a:endParaRPr sz="1600"/>
          </a:p>
          <a:p>
            <a:pPr lvl="1">
              <a:buFont typeface="Arial" panose="020B0604020202020204"/>
              <a:buChar char="◦"/>
            </a:pPr>
            <a:r>
              <a:rPr sz="1600"/>
              <a:t>Uses statistical models and algorithms like decision trees, regression, and clustering.</a:t>
            </a:r>
            <a:endParaRPr sz="1600"/>
          </a:p>
          <a:p>
            <a:pPr lvl="1">
              <a:buFont typeface="Arial" panose="020B0604020202020204"/>
              <a:buChar char="◦"/>
            </a:pPr>
            <a:r>
              <a:rPr sz="1600"/>
              <a:t>Examples: Fraud detection, predictive analytics, and spam filters.</a:t>
            </a:r>
            <a:endParaRPr sz="1600"/>
          </a:p>
          <a:p>
            <a:pPr>
              <a:buAutoNum type="arabicPeriod"/>
            </a:pPr>
            <a:r>
              <a:rPr sz="1600"/>
              <a:t>Deep Learning (DL):</a:t>
            </a:r>
            <a:endParaRPr sz="1600"/>
          </a:p>
          <a:p>
            <a:pPr lvl="1">
              <a:buFont typeface="Arial" panose="020B0604020202020204"/>
              <a:buChar char="◦"/>
            </a:pPr>
            <a:r>
              <a:rPr sz="1600"/>
              <a:t>A specialized subset of ML that relies on deep neural networks.</a:t>
            </a:r>
            <a:endParaRPr sz="1600"/>
          </a:p>
          <a:p>
            <a:pPr lvl="1">
              <a:buFont typeface="Arial" panose="020B0604020202020204"/>
              <a:buChar char="◦"/>
            </a:pPr>
            <a:r>
              <a:rPr sz="1600"/>
              <a:t>Requires large datasets and computational power.</a:t>
            </a:r>
            <a:endParaRPr sz="1600"/>
          </a:p>
          <a:p>
            <a:pPr lvl="1">
              <a:buFont typeface="Arial" panose="020B0604020202020204"/>
              <a:buChar char="◦"/>
            </a:pPr>
            <a:r>
              <a:rPr sz="1600"/>
              <a:t>Examples: Image recognition, natural language processing, and speech recognition.</a:t>
            </a:r>
            <a:endParaRPr sz="1600"/>
          </a:p>
        </p:txBody>
      </p:sp>
      <p:sp>
        <p:nvSpPr>
          <p:cNvPr id="5" name="Text Box 4"/>
          <p:cNvSpPr txBox="1"/>
          <p:nvPr/>
        </p:nvSpPr>
        <p:spPr>
          <a:xfrm>
            <a:off x="473710" y="4126865"/>
            <a:ext cx="9212580" cy="22453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Applications of AI</a:t>
            </a:r>
            <a:endParaRPr sz="2800" b="1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r>
              <a:rPr sz="1600"/>
              <a:t>AI has transformed multiple industries by enabling automation and improving decision-making. Some major applications include:</a:t>
            </a:r>
            <a:endParaRPr sz="1600"/>
          </a:p>
          <a:p>
            <a:pPr>
              <a:buFont typeface="Arial" panose="020B0604020202020204"/>
              <a:buChar char="•"/>
            </a:pPr>
            <a:r>
              <a:rPr sz="1600"/>
              <a:t>Healthcare: Disease diagnosis, personalized medicine, robotic surgeries.</a:t>
            </a:r>
            <a:endParaRPr sz="1600"/>
          </a:p>
          <a:p>
            <a:pPr>
              <a:buFont typeface="Arial" panose="020B0604020202020204"/>
              <a:buChar char="•"/>
            </a:pPr>
            <a:r>
              <a:rPr sz="1600"/>
              <a:t>Finance: Fraud detection, algorithmic trading, risk assessment.</a:t>
            </a:r>
            <a:endParaRPr sz="1600"/>
          </a:p>
          <a:p>
            <a:pPr>
              <a:buFont typeface="Arial" panose="020B0604020202020204"/>
              <a:buChar char="•"/>
            </a:pPr>
            <a:r>
              <a:rPr sz="1600"/>
              <a:t>Retail: Recommendation systems, demand forecasting, customer sentiment analysis.</a:t>
            </a:r>
            <a:endParaRPr sz="1600"/>
          </a:p>
          <a:p>
            <a:pPr>
              <a:buFont typeface="Arial" panose="020B0604020202020204"/>
              <a:buChar char="•"/>
            </a:pPr>
            <a:r>
              <a:rPr sz="1600"/>
              <a:t>Autonomous Systems: Self-driving cars, drones, robotics.</a:t>
            </a:r>
            <a:endParaRPr sz="1600"/>
          </a:p>
          <a:p>
            <a:pPr>
              <a:buFont typeface="Arial" panose="020B0604020202020204"/>
              <a:buChar char="•"/>
            </a:pPr>
            <a:r>
              <a:rPr sz="1600"/>
              <a:t>Natural Language Processing: Chatbots, virtual assistants, language translation.</a:t>
            </a:r>
            <a:endParaRPr sz="16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219075" y="170180"/>
            <a:ext cx="10690860" cy="24301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0000"/>
                </a:solidFill>
              </a:rPr>
              <a:t>Conventional AI vs Generative AI (GenAI)</a:t>
            </a:r>
            <a:endParaRPr sz="2400" b="1">
              <a:solidFill>
                <a:srgbClr val="FF0000"/>
              </a:solidFill>
            </a:endParaRPr>
          </a:p>
          <a:p>
            <a:pPr>
              <a:buAutoNum type="arabicPeriod"/>
            </a:pPr>
            <a:r>
              <a:rPr sz="1600" b="1">
                <a:solidFill>
                  <a:srgbClr val="FF0000"/>
                </a:solidFill>
              </a:rPr>
              <a:t>Conventional AI:</a:t>
            </a:r>
            <a:endParaRPr sz="1600" b="1">
              <a:solidFill>
                <a:srgbClr val="FF0000"/>
              </a:solidFill>
            </a:endParaRPr>
          </a:p>
          <a:p>
            <a:pPr lvl="1">
              <a:buFont typeface="Arial" panose="020B0604020202020204"/>
              <a:buChar char="◦"/>
            </a:pPr>
            <a:r>
              <a:rPr sz="1600"/>
              <a:t>Focuses on classification, prediction, and rule-based decision-making.</a:t>
            </a:r>
            <a:endParaRPr sz="1600"/>
          </a:p>
          <a:p>
            <a:pPr lvl="1">
              <a:buFont typeface="Arial" panose="020B0604020202020204"/>
              <a:buChar char="◦"/>
            </a:pPr>
            <a:r>
              <a:rPr sz="1600"/>
              <a:t>Uses structured datasets for training.</a:t>
            </a:r>
            <a:endParaRPr sz="1600"/>
          </a:p>
          <a:p>
            <a:pPr lvl="1">
              <a:buFont typeface="Arial" panose="020B0604020202020204"/>
              <a:buChar char="◦"/>
            </a:pPr>
            <a:r>
              <a:rPr sz="1600"/>
              <a:t>Examples: Spam filters, customer service chatbots, recommendation engines.</a:t>
            </a:r>
            <a:endParaRPr sz="1600"/>
          </a:p>
          <a:p>
            <a:pPr>
              <a:buAutoNum type="arabicPeriod"/>
            </a:pPr>
            <a:r>
              <a:rPr sz="1600" b="1">
                <a:solidFill>
                  <a:srgbClr val="FF0000"/>
                </a:solidFill>
              </a:rPr>
              <a:t>Generative AI (GenAI):</a:t>
            </a:r>
            <a:endParaRPr sz="1600" b="1">
              <a:solidFill>
                <a:srgbClr val="FF0000"/>
              </a:solidFill>
            </a:endParaRPr>
          </a:p>
          <a:p>
            <a:pPr lvl="1">
              <a:buFont typeface="Arial" panose="020B0604020202020204"/>
              <a:buChar char="◦"/>
            </a:pPr>
            <a:r>
              <a:rPr sz="1600"/>
              <a:t>A type of AI that creates new content, such as text, images, and music.</a:t>
            </a:r>
            <a:endParaRPr sz="1600"/>
          </a:p>
          <a:p>
            <a:pPr lvl="1">
              <a:buFont typeface="Arial" panose="020B0604020202020204"/>
              <a:buChar char="◦"/>
            </a:pPr>
            <a:r>
              <a:rPr sz="1600"/>
              <a:t>Uses models like GANs (Generative Adversarial Networks) and transformers (e.g., GPT, DALL-E).</a:t>
            </a:r>
            <a:endParaRPr sz="1600"/>
          </a:p>
          <a:p>
            <a:pPr lvl="1">
              <a:buFont typeface="Arial" panose="020B0604020202020204"/>
              <a:buChar char="◦"/>
            </a:pPr>
            <a:r>
              <a:rPr sz="1600"/>
              <a:t>Examples: AI-generated art, chat-based content generation, and text-to-image synthesis.</a:t>
            </a:r>
            <a:endParaRPr sz="1600"/>
          </a:p>
        </p:txBody>
      </p:sp>
      <p:sp>
        <p:nvSpPr>
          <p:cNvPr id="3" name="Text Box 2"/>
          <p:cNvSpPr txBox="1"/>
          <p:nvPr/>
        </p:nvSpPr>
        <p:spPr>
          <a:xfrm>
            <a:off x="358140" y="2741295"/>
            <a:ext cx="8935720" cy="403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Future of AI</a:t>
            </a:r>
            <a:endParaRPr sz="3600" b="1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r>
              <a:rPr sz="2000"/>
              <a:t>The future of AI is expected to bring significant advancements and challenges:</a:t>
            </a:r>
            <a:endParaRPr sz="2000"/>
          </a:p>
          <a:p>
            <a:pPr>
              <a:buFont typeface="Arial" panose="020B0604020202020204"/>
              <a:buChar char="•"/>
            </a:pPr>
            <a:r>
              <a:rPr sz="2000" b="1"/>
              <a:t>AI-Augmented Creativity:</a:t>
            </a:r>
            <a:r>
              <a:rPr sz="2000"/>
              <a:t> More sophisticated generative models for content creation.</a:t>
            </a:r>
            <a:endParaRPr sz="2000"/>
          </a:p>
          <a:p>
            <a:pPr>
              <a:buFont typeface="Arial" panose="020B0604020202020204"/>
              <a:buChar char="•"/>
            </a:pPr>
            <a:r>
              <a:rPr sz="2000" b="1"/>
              <a:t>Explainable AI (XAI):</a:t>
            </a:r>
            <a:r>
              <a:rPr sz="2000"/>
              <a:t> Enhancing transparency and trust in AI decision-making.</a:t>
            </a:r>
            <a:endParaRPr sz="2000"/>
          </a:p>
          <a:p>
            <a:pPr>
              <a:buFont typeface="Arial" panose="020B0604020202020204"/>
              <a:buChar char="•"/>
            </a:pPr>
            <a:r>
              <a:rPr sz="2000" b="1"/>
              <a:t>Ethical AI Development: </a:t>
            </a:r>
            <a:r>
              <a:rPr sz="2000"/>
              <a:t>Addressing biases, privacy concerns, and responsible AI use.</a:t>
            </a:r>
            <a:endParaRPr sz="2000"/>
          </a:p>
          <a:p>
            <a:pPr>
              <a:buFont typeface="Arial" panose="020B0604020202020204"/>
              <a:buChar char="•"/>
            </a:pPr>
            <a:r>
              <a:rPr sz="2000" b="1"/>
              <a:t>AI in Edge Computing:</a:t>
            </a:r>
            <a:r>
              <a:rPr sz="2000"/>
              <a:t> Deployment of AI models on edge devices for real-time processing.</a:t>
            </a:r>
            <a:endParaRPr sz="2000"/>
          </a:p>
          <a:p>
            <a:pPr>
              <a:buFont typeface="Arial" panose="020B0604020202020204"/>
              <a:buChar char="•"/>
            </a:pPr>
            <a:r>
              <a:rPr sz="2000" b="1"/>
              <a:t>Superintelligence and AGI: </a:t>
            </a:r>
            <a:r>
              <a:rPr sz="2000"/>
              <a:t>Theoretical advancements toward artificial general intelligence (AGI) with human-like reasoning capabilities.</a:t>
            </a:r>
            <a:endParaRPr sz="2000"/>
          </a:p>
          <a:p>
            <a:r>
              <a:rPr sz="2000"/>
              <a:t>AI continues to evolve, driving innovation and transforming industries worldwide.</a:t>
            </a:r>
            <a:endParaRPr sz="20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/>
          <p:nvPr/>
        </p:nvPicPr>
        <p:blipFill>
          <a:blip r:embed="rId1"/>
          <a:srcRect t="4407" b="5046"/>
          <a:stretch>
            <a:fillRect/>
          </a:stretch>
        </p:blipFill>
        <p:spPr>
          <a:xfrm>
            <a:off x="671195" y="82550"/>
            <a:ext cx="9066530" cy="677608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Box 2"/>
          <p:cNvSpPr txBox="1"/>
          <p:nvPr/>
        </p:nvSpPr>
        <p:spPr>
          <a:xfrm>
            <a:off x="78740" y="121285"/>
            <a:ext cx="4832350" cy="673671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marL="0" indent="0">
              <a:spcBef>
                <a:spcPts val="1000"/>
              </a:spcBef>
              <a:spcAft>
                <a:spcPts val="500"/>
              </a:spcAft>
            </a:pPr>
            <a:r>
              <a:rPr sz="16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Key components of a Deep Learning</a:t>
            </a:r>
            <a:r>
              <a:rPr lang="en-US" sz="16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:</a:t>
            </a:r>
            <a:r>
              <a:rPr sz="16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 </a:t>
            </a:r>
            <a:endParaRPr sz="1600" b="1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" panose="020B0604020202020204" pitchFamily="34" charset="0"/>
              <a:ea typeface="Google Sans"/>
              <a:cs typeface="Arial" panose="020B0604020202020204" pitchFamily="34" charset="0"/>
              <a:sym typeface="+mn-ea"/>
            </a:endParaRPr>
          </a:p>
          <a:p>
            <a:pPr marL="0" indent="0">
              <a:spcBef>
                <a:spcPts val="1000"/>
              </a:spcBef>
              <a:spcAft>
                <a:spcPts val="500"/>
              </a:spcAft>
            </a:pPr>
            <a:r>
              <a:rPr sz="1600" b="1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1. Fundamentals of Neural Networks:</a:t>
            </a:r>
            <a:endParaRPr sz="1600" b="1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457200" lvl="1" indent="0">
              <a:spcBef>
                <a:spcPct val="0"/>
              </a:spcBef>
              <a:spcAft>
                <a:spcPts val="400"/>
              </a:spcAft>
              <a:buFont typeface="Arial" panose="020B0604020202020204"/>
              <a:buChar char="•"/>
            </a:pPr>
            <a:r>
              <a:rPr sz="1600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Introduction to Artificial Neural Networks (ANNs)</a:t>
            </a:r>
            <a:endParaRPr sz="1600" b="0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457200" lvl="1" indent="0">
              <a:spcBef>
                <a:spcPct val="0"/>
              </a:spcBef>
              <a:spcAft>
                <a:spcPts val="400"/>
              </a:spcAft>
              <a:buFont typeface="Arial" panose="020B0604020202020204"/>
              <a:buChar char="•"/>
            </a:pPr>
            <a:r>
              <a:rPr sz="1600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Perceptron model</a:t>
            </a:r>
            <a:endParaRPr sz="1600" b="0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457200" lvl="1" indent="0">
              <a:spcBef>
                <a:spcPct val="0"/>
              </a:spcBef>
              <a:spcAft>
                <a:spcPts val="400"/>
              </a:spcAft>
              <a:buFont typeface="Arial" panose="020B0604020202020204"/>
              <a:buChar char="•"/>
            </a:pPr>
            <a:r>
              <a:rPr sz="1600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Activation functions (sigmoid, ReLU, tanh)</a:t>
            </a:r>
            <a:endParaRPr sz="1600" b="0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457200" lvl="1" indent="0">
              <a:spcBef>
                <a:spcPct val="0"/>
              </a:spcBef>
              <a:spcAft>
                <a:spcPts val="400"/>
              </a:spcAft>
              <a:buFont typeface="Arial" panose="020B0604020202020204"/>
              <a:buChar char="•"/>
            </a:pPr>
            <a:r>
              <a:rPr sz="1600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Backpropagation algorithm</a:t>
            </a:r>
            <a:endParaRPr sz="1600" b="0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457200" lvl="1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sz="1600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Gradient descent optimization </a:t>
            </a:r>
            <a:endParaRPr sz="1600" b="0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0" indent="0">
              <a:spcBef>
                <a:spcPts val="1000"/>
              </a:spcBef>
              <a:spcAft>
                <a:spcPts val="500"/>
              </a:spcAft>
            </a:pPr>
            <a:r>
              <a:rPr sz="1600" b="1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2. Deep Learning Architectures:</a:t>
            </a:r>
            <a:endParaRPr sz="1600" b="1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457200" lvl="1" indent="0">
              <a:spcBef>
                <a:spcPct val="0"/>
              </a:spcBef>
              <a:spcAft>
                <a:spcPts val="400"/>
              </a:spcAft>
              <a:buFont typeface="Arial" panose="020B0604020202020204"/>
              <a:buChar char="•"/>
            </a:pPr>
            <a:r>
              <a:rPr sz="1600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Multi-Layer Perceptron (MLP)</a:t>
            </a:r>
            <a:endParaRPr sz="1600" b="0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457200" lvl="1" indent="0">
              <a:spcBef>
                <a:spcPct val="0"/>
              </a:spcBef>
              <a:spcAft>
                <a:spcPts val="400"/>
              </a:spcAft>
              <a:buFont typeface="Arial" panose="020B0604020202020204"/>
              <a:buChar char="•"/>
            </a:pPr>
            <a:r>
              <a:rPr sz="1600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Convolutional Neural Networks (CNNs)</a:t>
            </a:r>
            <a:endParaRPr sz="1600" b="0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457200" lvl="1" indent="0">
              <a:spcBef>
                <a:spcPct val="0"/>
              </a:spcBef>
              <a:spcAft>
                <a:spcPts val="400"/>
              </a:spcAft>
              <a:buFont typeface="Arial" panose="020B0604020202020204"/>
              <a:buChar char="•"/>
            </a:pPr>
            <a:r>
              <a:rPr sz="1600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Recurrent Neural Networks (RNNs)</a:t>
            </a:r>
            <a:endParaRPr sz="1600" b="0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457200" lvl="1" indent="0">
              <a:spcBef>
                <a:spcPct val="0"/>
              </a:spcBef>
              <a:spcAft>
                <a:spcPts val="400"/>
              </a:spcAft>
              <a:buFont typeface="Arial" panose="020B0604020202020204"/>
              <a:buChar char="•"/>
            </a:pPr>
            <a:r>
              <a:rPr sz="1600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Long Short-Term Memory (LSTM)</a:t>
            </a:r>
            <a:endParaRPr sz="1600" b="0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457200" lvl="1" indent="0">
              <a:spcBef>
                <a:spcPct val="0"/>
              </a:spcBef>
              <a:spcAft>
                <a:spcPts val="400"/>
              </a:spcAft>
              <a:buFont typeface="Arial" panose="020B0604020202020204"/>
              <a:buChar char="•"/>
            </a:pPr>
            <a:r>
              <a:rPr sz="1600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Generative Adversarial Networks (GANs)</a:t>
            </a:r>
            <a:endParaRPr sz="1600" b="0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457200" lvl="1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sz="1600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Autoencoders </a:t>
            </a:r>
            <a:endParaRPr sz="1600" b="0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0" indent="0">
              <a:lnSpc>
                <a:spcPct val="90000"/>
              </a:lnSpc>
              <a:spcBef>
                <a:spcPts val="1000"/>
              </a:spcBef>
              <a:spcAft>
                <a:spcPts val="500"/>
              </a:spcAft>
            </a:pPr>
            <a:r>
              <a:rPr sz="1600" b="1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3. Advanced Optimization Techniques:</a:t>
            </a:r>
            <a:endParaRPr sz="1600" b="1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0" indent="457200">
              <a:lnSpc>
                <a:spcPct val="90000"/>
              </a:lnSpc>
              <a:spcBef>
                <a:spcPts val="500"/>
              </a:spcBef>
              <a:spcAft>
                <a:spcPts val="1000"/>
              </a:spcAft>
            </a:pPr>
            <a:r>
              <a:rPr sz="1600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Momentum, RMSprop, Adam optimizer, and Learning rate scheduling. </a:t>
            </a:r>
            <a:endParaRPr sz="160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  <a:sym typeface="+mn-ea"/>
            </a:endParaRPr>
          </a:p>
          <a:p>
            <a:pPr marL="0" indent="0">
              <a:lnSpc>
                <a:spcPct val="80000"/>
              </a:lnSpc>
              <a:spcBef>
                <a:spcPts val="1000"/>
              </a:spcBef>
              <a:spcAft>
                <a:spcPts val="500"/>
              </a:spcAft>
            </a:pPr>
            <a:r>
              <a:rPr sz="1600" b="1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4. Practical Implementation with Libraries:</a:t>
            </a:r>
            <a:endParaRPr sz="1600" b="1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0" indent="0">
              <a:lnSpc>
                <a:spcPct val="80000"/>
              </a:lnSpc>
              <a:spcBef>
                <a:spcPts val="500"/>
              </a:spcBef>
              <a:spcAft>
                <a:spcPts val="1000"/>
              </a:spcAft>
            </a:pPr>
            <a:r>
              <a:rPr sz="1600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TensorFlow, PyTorch, Keras, Data preprocessing and augmentation, and Model training and evaluation metrics. </a:t>
            </a:r>
            <a:endParaRPr lang="en-US" sz="160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  <a:sym typeface="+mn-ea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235585" y="344170"/>
            <a:ext cx="10245725" cy="617029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0" indent="0">
              <a:spcBef>
                <a:spcPts val="1000"/>
              </a:spcBef>
              <a:spcAft>
                <a:spcPts val="500"/>
              </a:spcAft>
            </a:pPr>
            <a:r>
              <a:rPr sz="1600" b="1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5. Applications of Deep Learning:</a:t>
            </a:r>
            <a:endParaRPr sz="1600" b="1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457200" lvl="1" indent="0">
              <a:spcBef>
                <a:spcPct val="0"/>
              </a:spcBef>
              <a:spcAft>
                <a:spcPts val="400"/>
              </a:spcAft>
              <a:buFont typeface="Arial" panose="020B0604020202020204"/>
              <a:buChar char="•"/>
            </a:pPr>
            <a:r>
              <a:rPr sz="1600" b="1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Computer Vision</a:t>
            </a:r>
            <a:endParaRPr sz="1600" b="1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lvl="2" indent="0">
              <a:spcBef>
                <a:spcPct val="0"/>
              </a:spcBef>
              <a:spcAft>
                <a:spcPts val="400"/>
              </a:spcAft>
              <a:buFont typeface="Arial" panose="020B0604020202020204"/>
              <a:buChar char="◦"/>
            </a:pPr>
            <a:r>
              <a:rPr sz="1600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Image classification</a:t>
            </a:r>
            <a:endParaRPr sz="1600" b="0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lvl="2" indent="0">
              <a:spcBef>
                <a:spcPct val="0"/>
              </a:spcBef>
              <a:spcAft>
                <a:spcPts val="400"/>
              </a:spcAft>
              <a:buFont typeface="Arial" panose="020B0604020202020204"/>
              <a:buChar char="◦"/>
            </a:pPr>
            <a:r>
              <a:rPr sz="1600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Object detection</a:t>
            </a:r>
            <a:endParaRPr sz="1600" b="0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sz="1600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Image segmentation</a:t>
            </a:r>
            <a:endParaRPr sz="1600" b="0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457200" lvl="1" indent="0">
              <a:spcBef>
                <a:spcPct val="0"/>
              </a:spcBef>
              <a:spcAft>
                <a:spcPts val="400"/>
              </a:spcAft>
              <a:buFont typeface="Arial" panose="020B0604020202020204"/>
              <a:buChar char="•"/>
            </a:pPr>
            <a:r>
              <a:rPr sz="1600" b="1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Natural Language Processing (NLP)</a:t>
            </a:r>
            <a:endParaRPr sz="1600" b="1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lvl="2" indent="0">
              <a:spcBef>
                <a:spcPct val="0"/>
              </a:spcBef>
              <a:spcAft>
                <a:spcPts val="400"/>
              </a:spcAft>
              <a:buFont typeface="Arial" panose="020B0604020202020204"/>
              <a:buChar char="◦"/>
            </a:pPr>
            <a:r>
              <a:rPr sz="1600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Text classification</a:t>
            </a:r>
            <a:endParaRPr sz="1600" b="0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lvl="2" indent="0">
              <a:spcBef>
                <a:spcPct val="0"/>
              </a:spcBef>
              <a:spcAft>
                <a:spcPts val="400"/>
              </a:spcAft>
              <a:buFont typeface="Arial" panose="020B0604020202020204"/>
              <a:buChar char="◦"/>
            </a:pPr>
            <a:r>
              <a:rPr sz="1600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Sentiment analysis</a:t>
            </a:r>
            <a:endParaRPr sz="1600" b="0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sz="1600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Machine translation</a:t>
            </a:r>
            <a:endParaRPr sz="1600" b="0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457200" lvl="1" indent="0">
              <a:spcBef>
                <a:spcPct val="0"/>
              </a:spcBef>
              <a:spcAft>
                <a:spcPts val="400"/>
              </a:spcAft>
              <a:buFont typeface="Arial" panose="020B0604020202020204"/>
              <a:buChar char="•"/>
            </a:pPr>
            <a:r>
              <a:rPr sz="1600" b="1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Speech Recognition</a:t>
            </a:r>
            <a:endParaRPr sz="1600" b="1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457200" lvl="1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sz="1600" b="1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Time Series Analysis </a:t>
            </a:r>
            <a:endParaRPr sz="1600" b="1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0" indent="0">
              <a:lnSpc>
                <a:spcPct val="90000"/>
              </a:lnSpc>
              <a:spcBef>
                <a:spcPts val="1000"/>
              </a:spcBef>
              <a:spcAft>
                <a:spcPts val="500"/>
              </a:spcAft>
            </a:pPr>
            <a:r>
              <a:rPr sz="1600" b="1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6. Ethical Considerations:</a:t>
            </a:r>
            <a:endParaRPr sz="1600" b="1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0" indent="0">
              <a:lnSpc>
                <a:spcPct val="70000"/>
              </a:lnSpc>
              <a:spcBef>
                <a:spcPts val="500"/>
              </a:spcBef>
              <a:spcAft>
                <a:spcPts val="1000"/>
              </a:spcAft>
            </a:pPr>
            <a:r>
              <a:rPr sz="1600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Bias in data and models, Privacy concerns, Explainability and interpretability, and Responsible AI practices. </a:t>
            </a:r>
            <a:endParaRPr sz="1600" b="0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0" indent="0">
              <a:lnSpc>
                <a:spcPct val="70000"/>
              </a:lnSpc>
              <a:spcBef>
                <a:spcPts val="1000"/>
              </a:spcBef>
              <a:spcAft>
                <a:spcPts val="500"/>
              </a:spcAft>
            </a:pPr>
            <a:r>
              <a:rPr sz="1600" b="1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Important Points to Consider:</a:t>
            </a:r>
            <a:endParaRPr sz="1600" b="1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0" indent="0">
              <a:spcBef>
                <a:spcPct val="0"/>
              </a:spcBef>
              <a:spcAft>
                <a:spcPts val="400"/>
              </a:spcAft>
              <a:buFont typeface="Arial" panose="020B0604020202020204"/>
              <a:buChar char="•"/>
            </a:pPr>
            <a:r>
              <a:rPr sz="1600" b="1">
                <a:solidFill>
                  <a:srgbClr val="FF0000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Prerequisites:</a:t>
            </a:r>
            <a:endParaRPr sz="1600" b="1" i="0">
              <a:solidFill>
                <a:srgbClr val="FF0000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0" indent="0">
              <a:spcBef>
                <a:spcPct val="0"/>
              </a:spcBef>
              <a:spcAft>
                <a:spcPts val="400"/>
              </a:spcAft>
            </a:pPr>
            <a:r>
              <a:rPr sz="1400" b="1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A solid understanding of linear algebra, calculus, probability, and programming skills (usually Python) </a:t>
            </a:r>
            <a:r>
              <a:rPr sz="1400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are required to fully grasp deep learning concepts. </a:t>
            </a:r>
            <a:endParaRPr sz="1400" b="0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0" indent="0">
              <a:spcBef>
                <a:spcPct val="0"/>
              </a:spcBef>
              <a:spcAft>
                <a:spcPts val="400"/>
              </a:spcAft>
              <a:buFont typeface="Arial" panose="020B0604020202020204"/>
              <a:buChar char="•"/>
            </a:pPr>
            <a:r>
              <a:rPr sz="1600" b="1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Hands-on Projects:</a:t>
            </a:r>
            <a:endParaRPr sz="1600" b="1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0" indent="0">
              <a:spcBef>
                <a:spcPct val="0"/>
              </a:spcBef>
              <a:spcAft>
                <a:spcPts val="400"/>
              </a:spcAft>
            </a:pPr>
            <a:r>
              <a:rPr sz="1400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Implementing various deep learning models on real-world datasets is crucial for gaining practical experience. </a:t>
            </a:r>
            <a:endParaRPr sz="1400" b="0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sz="1600" b="1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Stay Updated:</a:t>
            </a:r>
            <a:endParaRPr sz="1600" b="1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sz="1400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Deep learning is rapidly evolving, so continuous learning about new research and techniques is important. </a:t>
            </a:r>
            <a:endParaRPr lang="en-US" sz="140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  <a:sym typeface="+mn-ea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207645" y="154940"/>
            <a:ext cx="11256010" cy="39693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Introduction to Deep Learning</a:t>
            </a:r>
            <a:endParaRPr sz="2400" b="1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r>
              <a:t>Deep Learning (DL) is a subset of Machine Learning that utilizes artificial neural networks with multiple layers to learn complex patterns in data. It enables high-level feature extraction from raw data and is the foundation for many modern </a:t>
            </a:r>
          </a:p>
          <a:p>
            <a:endParaRPr sz="2800" b="1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r>
              <a:rPr sz="28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AI applications.</a:t>
            </a:r>
            <a:endParaRPr sz="2800" b="1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endParaRPr sz="2800" b="1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r>
              <a:t>Key Aspects of Deep Learning:</a:t>
            </a:r>
          </a:p>
          <a:p>
            <a:pPr>
              <a:buFont typeface="Arial" panose="020B0604020202020204"/>
              <a:buChar char="•"/>
            </a:pPr>
            <a:r>
              <a:t>Multi-layered neural networks (deep networks) that extract hierarchical features.</a:t>
            </a:r>
          </a:p>
          <a:p>
            <a:pPr>
              <a:buFont typeface="Arial" panose="020B0604020202020204"/>
              <a:buChar char="•"/>
            </a:pPr>
          </a:p>
          <a:p>
            <a:pPr>
              <a:buFont typeface="Arial" panose="020B0604020202020204"/>
              <a:buChar char="•"/>
            </a:pPr>
            <a:r>
              <a:t>Requires large datasets and significant computational power (e.g., GPUs, TPUs).</a:t>
            </a:r>
          </a:p>
          <a:p>
            <a:pPr>
              <a:buFont typeface="Arial" panose="020B0604020202020204"/>
              <a:buChar char="•"/>
            </a:pPr>
          </a:p>
          <a:p>
            <a:pPr>
              <a:buFont typeface="Arial" panose="020B0604020202020204"/>
              <a:buChar char="•"/>
            </a:pPr>
            <a:r>
              <a:t>Performs exceptionally well in tasks like image recognition, natural language processing, and speech synthesis.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/>
          <p:nvPr/>
        </p:nvPicPr>
        <p:blipFill>
          <a:blip r:embed="rId1"/>
          <a:stretch>
            <a:fillRect/>
          </a:stretch>
        </p:blipFill>
        <p:spPr>
          <a:xfrm>
            <a:off x="5523865" y="224155"/>
            <a:ext cx="6424930" cy="5667375"/>
          </a:xfrm>
          <a:prstGeom prst="rect">
            <a:avLst/>
          </a:prstGeom>
        </p:spPr>
      </p:pic>
      <p:sp>
        <p:nvSpPr>
          <p:cNvPr id="4" name="Text Box 3"/>
          <p:cNvSpPr txBox="1"/>
          <p:nvPr/>
        </p:nvSpPr>
        <p:spPr>
          <a:xfrm>
            <a:off x="151765" y="6386195"/>
            <a:ext cx="577215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en-US"/>
              <a:t>https://s.mriquestions.com/what-is-a-neural-network.html</a:t>
            </a:r>
            <a:endParaRPr lang="en-US"/>
          </a:p>
        </p:txBody>
      </p:sp>
      <p:sp>
        <p:nvSpPr>
          <p:cNvPr id="6" name="Text Box 5"/>
          <p:cNvSpPr txBox="1"/>
          <p:nvPr/>
        </p:nvSpPr>
        <p:spPr>
          <a:xfrm>
            <a:off x="151765" y="100965"/>
            <a:ext cx="5772785" cy="33077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2900" b="1">
                <a:solidFill>
                  <a:srgbClr val="231F20"/>
                </a:solidFill>
                <a:latin typeface="RctvjbXddlcgHrcvdjHelveticaNeueLTStd-BdCn"/>
                <a:ea typeface="RctvjbXddlcgHrcvdjHelveticaNeueLTStd-BdCn"/>
              </a:rPr>
              <a:t>Artificial Neural Network </a:t>
            </a:r>
            <a:endParaRPr sz="2900" b="1">
              <a:solidFill>
                <a:srgbClr val="231F20"/>
              </a:solidFill>
              <a:latin typeface="RctvjbXddlcgHrcvdjHelveticaNeueLTStd-BdCn"/>
              <a:ea typeface="RctvjbXddlcgHrcvdjHelveticaNeueLTStd-BdCn"/>
            </a:endParaRPr>
          </a:p>
          <a:p>
            <a:pPr algn="just"/>
            <a:r>
              <a:rPr sz="2000">
                <a:solidFill>
                  <a:srgbClr val="231F20"/>
                </a:solidFill>
                <a:ea typeface="QkdyncPgkddySjtfmrUtopiaStd"/>
                <a:cs typeface="+mn-lt"/>
              </a:rPr>
              <a:t>An </a:t>
            </a:r>
            <a:r>
              <a:rPr sz="2000" i="1">
                <a:solidFill>
                  <a:srgbClr val="231F20"/>
                </a:solidFill>
                <a:ea typeface="CtdhkhGrqdxpFqrrvlUtopiaStd-Italic"/>
                <a:cs typeface="+mn-lt"/>
              </a:rPr>
              <a:t>artificial neural network</a:t>
            </a:r>
            <a:r>
              <a:rPr sz="2000">
                <a:solidFill>
                  <a:srgbClr val="231F20"/>
                </a:solidFill>
                <a:ea typeface="QkdyncPgkddySjtfmrUtopiaStd"/>
                <a:cs typeface="+mn-lt"/>
              </a:rPr>
              <a:t> (ANN) is a</a:t>
            </a:r>
            <a:r>
              <a:rPr lang="en-US" sz="2000">
                <a:solidFill>
                  <a:srgbClr val="231F20"/>
                </a:solidFill>
                <a:ea typeface="QkdyncPgkddySjtfmrUtopiaStd"/>
                <a:cs typeface="+mn-lt"/>
              </a:rPr>
              <a:t> </a:t>
            </a:r>
            <a:r>
              <a:rPr sz="2000">
                <a:solidFill>
                  <a:srgbClr val="231F20"/>
                </a:solidFill>
                <a:ea typeface="QkdyncPgkddySjtfmrUtopiaStd"/>
                <a:cs typeface="+mn-lt"/>
              </a:rPr>
              <a:t>computational network (a system of nodes and the interconnection between nodes) inspired by biological neural networks, which are the complex networks of neurons in human brains (see Figure). </a:t>
            </a:r>
            <a:endParaRPr sz="2000">
              <a:solidFill>
                <a:srgbClr val="231F20"/>
              </a:solidFill>
              <a:ea typeface="QkdyncPgkddySjtfmrUtopiaStd"/>
              <a:cs typeface="+mn-lt"/>
            </a:endParaRPr>
          </a:p>
          <a:p>
            <a:pPr algn="just"/>
            <a:endParaRPr sz="2000">
              <a:solidFill>
                <a:srgbClr val="231F20"/>
              </a:solidFill>
              <a:ea typeface="QkdyncPgkddySjtfmrUtopiaStd"/>
              <a:cs typeface="+mn-lt"/>
            </a:endParaRPr>
          </a:p>
          <a:p>
            <a:pPr algn="just"/>
            <a:r>
              <a:rPr sz="2000">
                <a:solidFill>
                  <a:srgbClr val="231F20"/>
                </a:solidFill>
                <a:ea typeface="QkdyncPgkddySjtfmrUtopiaStd"/>
                <a:cs typeface="+mn-lt"/>
              </a:rPr>
              <a:t>The nodes created in the ANN are supposedly programmed to behave like actual neurons, and hence they are artificial neurons.</a:t>
            </a:r>
            <a:endParaRPr sz="2000">
              <a:solidFill>
                <a:srgbClr val="231F20"/>
              </a:solidFill>
              <a:ea typeface="QkdyncPgkddySjtfmrUtopiaStd"/>
              <a:cs typeface="+mn-lt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5713095" y="6386195"/>
            <a:ext cx="669798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en-US"/>
              <a:t>https://www.geeksforgeeks.org/neural-networks-a-beginners-guide/</a:t>
            </a:r>
            <a:endParaRPr lang="en-US"/>
          </a:p>
        </p:txBody>
      </p:sp>
      <p:sp>
        <p:nvSpPr>
          <p:cNvPr id="8" name="Text Box 7"/>
          <p:cNvSpPr txBox="1"/>
          <p:nvPr/>
        </p:nvSpPr>
        <p:spPr>
          <a:xfrm>
            <a:off x="151765" y="6111875"/>
            <a:ext cx="867918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en-US">
                <a:sym typeface="+mn-ea"/>
              </a:rPr>
              <a:t>https://medium.com/towards-data-science/what-the-hell-is-perceptron-626217814f53</a:t>
            </a:r>
            <a:endParaRPr lang="en-US" altLang="en-US">
              <a:sym typeface="+mn-ea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681990" y="305435"/>
            <a:ext cx="7954010" cy="51390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Types of Neural Networks</a:t>
            </a:r>
            <a:endParaRPr sz="2400" b="1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r>
              <a:rPr sz="1600"/>
              <a:t>Deep learning includes various types of neural networks optimized for specific tasks:</a:t>
            </a:r>
            <a:endParaRPr sz="1600"/>
          </a:p>
          <a:p>
            <a:endParaRPr sz="1600"/>
          </a:p>
          <a:p>
            <a:pPr>
              <a:buAutoNum type="arabicPeriod"/>
            </a:pPr>
            <a:r>
              <a:rPr lang="en-US" sz="1600" b="1"/>
              <a:t>Perceptron (Single Neuron )</a:t>
            </a:r>
            <a:endParaRPr lang="en-US" sz="1600" b="1"/>
          </a:p>
          <a:p>
            <a:pPr>
              <a:buAutoNum type="arabicPeriod"/>
            </a:pPr>
            <a:r>
              <a:rPr lang="en-US" sz="1600" b="1"/>
              <a:t>Multi Layer Perceptron (Multiple Neuron)</a:t>
            </a:r>
            <a:endParaRPr lang="en-US" sz="1600" b="1"/>
          </a:p>
          <a:p>
            <a:pPr>
              <a:buAutoNum type="arabicPeriod"/>
            </a:pPr>
            <a:r>
              <a:rPr lang="en-US" sz="1600" b="1"/>
              <a:t>ANN</a:t>
            </a:r>
            <a:endParaRPr sz="1600" b="1"/>
          </a:p>
          <a:p>
            <a:pPr>
              <a:buAutoNum type="arabicPeriod"/>
            </a:pPr>
            <a:r>
              <a:rPr sz="1600" b="1"/>
              <a:t>Feedforward Neural Networks (FNN):</a:t>
            </a:r>
            <a:endParaRPr sz="1600" b="1"/>
          </a:p>
          <a:p>
            <a:pPr lvl="1">
              <a:buFont typeface="Arial" panose="020B0604020202020204"/>
              <a:buChar char="◦"/>
            </a:pPr>
            <a:r>
              <a:rPr sz="1600"/>
              <a:t>Basic architecture where information moves in one direction.</a:t>
            </a:r>
            <a:endParaRPr sz="1600"/>
          </a:p>
          <a:p>
            <a:pPr lvl="1">
              <a:buFont typeface="Arial" panose="020B0604020202020204"/>
              <a:buChar char="◦"/>
            </a:pPr>
            <a:r>
              <a:rPr sz="1600"/>
              <a:t>Used in classification and regression tasks.</a:t>
            </a:r>
            <a:endParaRPr sz="1600"/>
          </a:p>
          <a:p>
            <a:pPr lvl="1">
              <a:buFont typeface="Arial" panose="020B0604020202020204"/>
              <a:buChar char="◦"/>
            </a:pPr>
            <a:endParaRPr sz="1600" b="1"/>
          </a:p>
          <a:p>
            <a:pPr>
              <a:buAutoNum type="arabicPeriod"/>
            </a:pPr>
            <a:r>
              <a:rPr sz="1600" b="1"/>
              <a:t>Convolutional Neural Networks (CNN):</a:t>
            </a:r>
            <a:endParaRPr sz="1600" b="1"/>
          </a:p>
          <a:p>
            <a:pPr lvl="1">
              <a:buFont typeface="Arial" panose="020B0604020202020204"/>
              <a:buChar char="◦"/>
            </a:pPr>
            <a:r>
              <a:rPr sz="1600"/>
              <a:t>Specialized for image processing tasks.</a:t>
            </a:r>
            <a:endParaRPr sz="1600"/>
          </a:p>
          <a:p>
            <a:pPr lvl="1">
              <a:buFont typeface="Arial" panose="020B0604020202020204"/>
              <a:buChar char="◦"/>
            </a:pPr>
            <a:r>
              <a:rPr sz="1600"/>
              <a:t>Uses convolutional layers to detect spatial features.</a:t>
            </a:r>
            <a:endParaRPr sz="1600"/>
          </a:p>
          <a:p>
            <a:pPr>
              <a:buAutoNum type="arabicPeriod"/>
            </a:pPr>
            <a:r>
              <a:rPr sz="1600" b="1"/>
              <a:t>Recurrent Neural Networks (RNN):</a:t>
            </a:r>
            <a:endParaRPr sz="1600" b="1"/>
          </a:p>
          <a:p>
            <a:pPr lvl="1">
              <a:buFont typeface="Arial" panose="020B0604020202020204"/>
              <a:buChar char="◦"/>
            </a:pPr>
            <a:r>
              <a:rPr sz="1600"/>
              <a:t>Designed for sequential data like time series and speech.</a:t>
            </a:r>
            <a:endParaRPr sz="1600"/>
          </a:p>
          <a:p>
            <a:pPr lvl="1">
              <a:buFont typeface="Arial" panose="020B0604020202020204"/>
              <a:buChar char="◦"/>
            </a:pPr>
            <a:r>
              <a:rPr sz="1600"/>
              <a:t>Uses loops and memory to retain information from previous inputs.</a:t>
            </a:r>
            <a:endParaRPr sz="1600"/>
          </a:p>
          <a:p>
            <a:pPr>
              <a:buAutoNum type="arabicPeriod"/>
            </a:pPr>
            <a:r>
              <a:rPr sz="1600" b="1"/>
              <a:t>Long Short-Term Memory (LSTM):</a:t>
            </a:r>
            <a:endParaRPr sz="1600" b="1"/>
          </a:p>
          <a:p>
            <a:pPr lvl="1">
              <a:buFont typeface="Arial" panose="020B0604020202020204"/>
              <a:buChar char="◦"/>
            </a:pPr>
            <a:r>
              <a:rPr sz="1600"/>
              <a:t>A type of RNN that solves the vanishing gradient problem.</a:t>
            </a:r>
            <a:endParaRPr sz="1600"/>
          </a:p>
          <a:p>
            <a:pPr lvl="1">
              <a:buFont typeface="Arial" panose="020B0604020202020204"/>
              <a:buChar char="◦"/>
            </a:pPr>
            <a:r>
              <a:rPr sz="1600"/>
              <a:t>Used in text generation, language modeling, and speech recognition.</a:t>
            </a:r>
            <a:endParaRPr sz="1600"/>
          </a:p>
          <a:p>
            <a:pPr>
              <a:buAutoNum type="arabicPeriod"/>
            </a:pPr>
            <a:endParaRPr sz="1600"/>
          </a:p>
        </p:txBody>
      </p:sp>
      <p:sp>
        <p:nvSpPr>
          <p:cNvPr id="3" name="Text Box 2"/>
          <p:cNvSpPr txBox="1"/>
          <p:nvPr/>
        </p:nvSpPr>
        <p:spPr>
          <a:xfrm>
            <a:off x="443865" y="5780405"/>
            <a:ext cx="11655425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lvl="1"/>
            <a:endParaRPr lang="en-IN" altLang="en-US" b="1"/>
          </a:p>
        </p:txBody>
      </p:sp>
      <p:sp>
        <p:nvSpPr>
          <p:cNvPr id="4" name="Text Box 3"/>
          <p:cNvSpPr txBox="1"/>
          <p:nvPr/>
        </p:nvSpPr>
        <p:spPr>
          <a:xfrm>
            <a:off x="443865" y="5351780"/>
            <a:ext cx="8308975" cy="119888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buAutoNum type="arabicPeriod"/>
            </a:pPr>
            <a:r>
              <a:rPr lang="en-US" altLang="en-US"/>
              <a:t>https://w</a:t>
            </a:r>
            <a:r>
              <a:rPr b="1">
                <a:sym typeface="+mn-ea"/>
              </a:rPr>
              <a:t>Generative Adversarial Networks (GANs):</a:t>
            </a:r>
            <a:endParaRPr b="1"/>
          </a:p>
          <a:p>
            <a:pPr lvl="1">
              <a:buFont typeface="Arial" panose="020B0604020202020204"/>
              <a:buChar char="◦"/>
            </a:pPr>
            <a:r>
              <a:rPr>
                <a:sym typeface="+mn-ea"/>
              </a:rPr>
              <a:t>Consist of a generator and a discriminator that compete to generate realistic data.</a:t>
            </a:r>
            <a:endParaRPr>
              <a:sym typeface="+mn-ea"/>
            </a:endParaRPr>
          </a:p>
          <a:p>
            <a:pPr lvl="1">
              <a:buFont typeface="Arial" panose="020B0604020202020204"/>
              <a:buChar char="◦"/>
            </a:pPr>
            <a:r>
              <a:rPr>
                <a:sym typeface="+mn-ea"/>
              </a:rPr>
              <a:t>Used in AI-generated art, deepfake videos, and data augmentation.</a:t>
            </a:r>
            <a:endParaRPr>
              <a:sym typeface="+mn-ea"/>
            </a:endParaRPr>
          </a:p>
          <a:p>
            <a:r>
              <a:rPr lang="en-US" altLang="en-US"/>
              <a:t>ww.geeksforgeeks.org/neural-networks-a-beginners-guide/</a:t>
            </a:r>
            <a:endParaRPr lang="en-US"/>
          </a:p>
        </p:txBody>
      </p:sp>
      <p:sp>
        <p:nvSpPr>
          <p:cNvPr id="5" name="Text Box 4"/>
          <p:cNvSpPr txBox="1"/>
          <p:nvPr/>
        </p:nvSpPr>
        <p:spPr>
          <a:xfrm>
            <a:off x="765175" y="2615565"/>
            <a:ext cx="2418080" cy="3371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lvl="0">
              <a:buFont typeface="Arial" panose="020B0604020202020204"/>
              <a:buChar char="◦"/>
            </a:pPr>
            <a:r>
              <a:rPr lang="en-US" sz="1600" b="1">
                <a:sym typeface="+mn-ea"/>
              </a:rPr>
              <a:t>Backword Propagations</a:t>
            </a:r>
            <a:endParaRPr lang="en-US" sz="1600" b="1">
              <a:sym typeface="+mn-ea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/>
          <p:nvPr/>
        </p:nvPicPr>
        <p:blipFill>
          <a:blip r:embed="rId1"/>
          <a:stretch>
            <a:fillRect/>
          </a:stretch>
        </p:blipFill>
        <p:spPr>
          <a:xfrm>
            <a:off x="5767070" y="340360"/>
            <a:ext cx="6424930" cy="5667375"/>
          </a:xfrm>
          <a:prstGeom prst="rect">
            <a:avLst/>
          </a:prstGeom>
        </p:spPr>
      </p:pic>
      <p:sp>
        <p:nvSpPr>
          <p:cNvPr id="2" name="Text Box 1"/>
          <p:cNvSpPr txBox="1"/>
          <p:nvPr/>
        </p:nvSpPr>
        <p:spPr>
          <a:xfrm>
            <a:off x="266700" y="340360"/>
            <a:ext cx="6749415" cy="335026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r>
              <a:rPr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Perceptron Model</a:t>
            </a:r>
            <a:endParaRPr b="1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r>
              <a:t>The perceptron is the simplest form of an artificial neural network and serves as the building block of more advanced models.</a:t>
            </a:r>
          </a:p>
          <a:p>
            <a:pPr>
              <a:buFont typeface="Arial" panose="020B0604020202020204"/>
              <a:buChar char="•"/>
            </a:pPr>
            <a:r>
              <a:rPr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Components of a Perceptron:</a:t>
            </a:r>
            <a:endParaRPr b="1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lvl="1">
              <a:buFont typeface="Arial" panose="020B0604020202020204"/>
              <a:buChar char="◦"/>
            </a:pPr>
            <a:r>
              <a:rPr b="1"/>
              <a:t>Inputs</a:t>
            </a:r>
            <a:r>
              <a:t>: Feature values from the dataset.</a:t>
            </a:r>
          </a:p>
          <a:p>
            <a:pPr lvl="1">
              <a:buFont typeface="Arial" panose="020B0604020202020204"/>
              <a:buChar char="◦"/>
            </a:pPr>
            <a:r>
              <a:rPr b="1"/>
              <a:t>Weights</a:t>
            </a:r>
            <a:r>
              <a:t>: Assigned to each input to signify importance.</a:t>
            </a:r>
          </a:p>
          <a:p>
            <a:pPr lvl="1">
              <a:buFont typeface="Arial" panose="020B0604020202020204"/>
              <a:buChar char="◦"/>
            </a:pPr>
            <a:r>
              <a:rPr b="1"/>
              <a:t>Summation </a:t>
            </a:r>
            <a:r>
              <a:t>Function: Computes the weighted sum of inputs.</a:t>
            </a:r>
          </a:p>
          <a:p>
            <a:pPr lvl="1">
              <a:buFont typeface="Arial" panose="020B0604020202020204"/>
              <a:buChar char="◦"/>
            </a:pPr>
            <a:r>
              <a:rPr b="1"/>
              <a:t>Activation Function</a:t>
            </a:r>
            <a:r>
              <a:t>: Applies a threshold to determine output.</a:t>
            </a:r>
          </a:p>
          <a:p>
            <a:pPr indent="0">
              <a:buFont typeface="Arial" panose="020B0604020202020204"/>
              <a:buNone/>
            </a:pPr>
          </a:p>
        </p:txBody>
      </p:sp>
      <p:sp>
        <p:nvSpPr>
          <p:cNvPr id="5" name="Text Box 4"/>
          <p:cNvSpPr txBox="1"/>
          <p:nvPr/>
        </p:nvSpPr>
        <p:spPr>
          <a:xfrm>
            <a:off x="266700" y="2737485"/>
            <a:ext cx="6293485" cy="73723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5400" indent="0"/>
            <a:r>
              <a:rPr sz="1400" b="0" i="0">
                <a:solidFill>
                  <a:srgbClr val="000000"/>
                </a:solidFill>
                <a:latin typeface="Calibri" panose="020F0502020204030204" charset="0"/>
                <a:ea typeface="Rubik"/>
                <a:cs typeface="Calibri" panose="020F0502020204030204" charset="0"/>
              </a:rPr>
              <a:t>The </a:t>
            </a:r>
            <a:r>
              <a:rPr sz="1400" b="1" i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charset="0"/>
                <a:ea typeface="Rubik"/>
                <a:cs typeface="Calibri" panose="020F0502020204030204" charset="0"/>
              </a:rPr>
              <a:t>Perceptron</a:t>
            </a:r>
            <a:r>
              <a:rPr sz="1400" b="0" i="0">
                <a:solidFill>
                  <a:srgbClr val="000000"/>
                </a:solidFill>
                <a:latin typeface="Calibri" panose="020F0502020204030204" charset="0"/>
                <a:ea typeface="Rubik"/>
                <a:cs typeface="Calibri" panose="020F0502020204030204" charset="0"/>
              </a:rPr>
              <a:t> was invented in 1957 by Frank Rosenblatt at the Cornell Aeronautics Laboratory. Based on the first concepts of artificial neurons, he proposed the “</a:t>
            </a:r>
            <a:r>
              <a:rPr sz="1400" b="0" i="1">
                <a:solidFill>
                  <a:srgbClr val="000000"/>
                </a:solidFill>
                <a:latin typeface="Calibri" panose="020F0502020204030204" charset="0"/>
                <a:ea typeface="Rubik"/>
                <a:cs typeface="Calibri" panose="020F0502020204030204" charset="0"/>
              </a:rPr>
              <a:t>Perceptron learning rule</a:t>
            </a:r>
            <a:r>
              <a:rPr sz="1400" b="0" i="0">
                <a:solidFill>
                  <a:srgbClr val="000000"/>
                </a:solidFill>
                <a:latin typeface="Calibri" panose="020F0502020204030204" charset="0"/>
                <a:ea typeface="Rubik"/>
                <a:cs typeface="Calibri" panose="020F0502020204030204" charset="0"/>
              </a:rPr>
              <a:t>“.</a:t>
            </a:r>
            <a:endParaRPr sz="1400" b="0" i="0">
              <a:solidFill>
                <a:srgbClr val="000000"/>
              </a:solidFill>
              <a:latin typeface="Calibri" panose="020F0502020204030204" charset="0"/>
              <a:ea typeface="Rubik"/>
              <a:cs typeface="Calibri" panose="020F0502020204030204" charset="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/>
          <p:nvPr/>
        </p:nvPicPr>
        <p:blipFill>
          <a:blip r:embed="rId1"/>
          <a:stretch>
            <a:fillRect/>
          </a:stretch>
        </p:blipFill>
        <p:spPr>
          <a:xfrm>
            <a:off x="5799455" y="3401263"/>
            <a:ext cx="6313805" cy="3466465"/>
          </a:xfrm>
          <a:prstGeom prst="rect">
            <a:avLst/>
          </a:prstGeom>
        </p:spPr>
      </p:pic>
      <p:sp>
        <p:nvSpPr>
          <p:cNvPr id="2" name="Text Box 1"/>
          <p:cNvSpPr txBox="1"/>
          <p:nvPr/>
        </p:nvSpPr>
        <p:spPr>
          <a:xfrm>
            <a:off x="250190" y="400888"/>
            <a:ext cx="6096000" cy="29845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indent="0">
              <a:buFont typeface="Arial" panose="020B0604020202020204"/>
              <a:buNone/>
            </a:pPr>
            <a:r>
              <a:rPr sz="24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sym typeface="+mn-ea"/>
              </a:rPr>
              <a:t>Types of Perceptron Models:</a:t>
            </a:r>
            <a:endParaRPr sz="2400" b="1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sym typeface="+mn-ea"/>
            </a:endParaRPr>
          </a:p>
          <a:p>
            <a:pPr indent="0">
              <a:buFont typeface="Arial" panose="020B0604020202020204"/>
              <a:buNone/>
            </a:pPr>
            <a:endParaRPr sz="2400" b="1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lvl="1">
              <a:buFont typeface="Arial" panose="020B0604020202020204"/>
              <a:buChar char="◦"/>
            </a:pPr>
            <a:r>
              <a:rPr sz="2000" b="1">
                <a:sym typeface="+mn-ea"/>
              </a:rPr>
              <a:t>Single-layer perceptron</a:t>
            </a:r>
            <a:r>
              <a:rPr sz="2000">
                <a:sym typeface="+mn-ea"/>
              </a:rPr>
              <a:t>: Can only solve linearly separable problems.</a:t>
            </a:r>
            <a:br>
              <a:rPr sz="2000">
                <a:sym typeface="+mn-ea"/>
              </a:rPr>
            </a:br>
            <a:endParaRPr sz="2000">
              <a:sym typeface="+mn-ea"/>
            </a:endParaRPr>
          </a:p>
          <a:p>
            <a:pPr lvl="1">
              <a:buFont typeface="Arial" panose="020B0604020202020204"/>
              <a:buChar char="◦"/>
            </a:pPr>
            <a:endParaRPr sz="2000">
              <a:sym typeface="+mn-ea"/>
            </a:endParaRPr>
          </a:p>
          <a:p>
            <a:pPr lvl="1">
              <a:buFont typeface="Arial" panose="020B0604020202020204"/>
              <a:buChar char="◦"/>
            </a:pPr>
            <a:endParaRPr sz="2000"/>
          </a:p>
          <a:p>
            <a:pPr lvl="1">
              <a:buFont typeface="Arial" panose="020B0604020202020204"/>
              <a:buChar char="◦"/>
            </a:pPr>
            <a:r>
              <a:rPr sz="2000" b="1">
                <a:sym typeface="+mn-ea"/>
              </a:rPr>
              <a:t>Multi-layer perceptron (MLP):</a:t>
            </a:r>
            <a:r>
              <a:rPr sz="2000">
                <a:sym typeface="+mn-ea"/>
              </a:rPr>
              <a:t> Can solve non-linear problems using multiple layers.</a:t>
            </a:r>
            <a:endParaRPr lang="en-US" sz="2000">
              <a:sym typeface="+mn-ea"/>
            </a:endParaRPr>
          </a:p>
        </p:txBody>
      </p:sp>
      <p:pic>
        <p:nvPicPr>
          <p:cNvPr id="5" name="Picture 4"/>
          <p:cNvPicPr/>
          <p:nvPr/>
        </p:nvPicPr>
        <p:blipFill>
          <a:blip r:embed="rId2"/>
          <a:srcRect l="16227" t="19455" r="15667" b="20687"/>
          <a:stretch>
            <a:fillRect/>
          </a:stretch>
        </p:blipFill>
        <p:spPr>
          <a:xfrm>
            <a:off x="6572250" y="-60757"/>
            <a:ext cx="5031105" cy="3305175"/>
          </a:xfrm>
          <a:prstGeom prst="rect">
            <a:avLst/>
          </a:prstGeom>
        </p:spPr>
      </p:pic>
      <p:sp>
        <p:nvSpPr>
          <p:cNvPr id="3" name="Text Box 2"/>
          <p:cNvSpPr txBox="1"/>
          <p:nvPr/>
        </p:nvSpPr>
        <p:spPr>
          <a:xfrm>
            <a:off x="347980" y="4427423"/>
            <a:ext cx="5080000" cy="2287270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indent="0">
              <a:spcAft>
                <a:spcPct val="60000"/>
              </a:spcAft>
            </a:pPr>
            <a:r>
              <a:rPr b="1" i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ea typeface="Manrope"/>
                <a:cs typeface="Arial" panose="020B0604020202020204" pitchFamily="34" charset="0"/>
              </a:rPr>
              <a:t>Neural Networks Architecture:</a:t>
            </a:r>
            <a:r>
              <a:rPr sz="1600" b="0" i="0">
                <a:latin typeface="Manrope"/>
                <a:ea typeface="Manrope"/>
              </a:rPr>
              <a:t> </a:t>
            </a:r>
            <a:endParaRPr sz="1600" b="0" i="0">
              <a:latin typeface="Manrope"/>
              <a:ea typeface="Manrope"/>
            </a:endParaRPr>
          </a:p>
          <a:p>
            <a:pPr marL="0" indent="0"/>
            <a:r>
              <a:rPr b="0" i="0">
                <a:solidFill>
                  <a:srgbClr val="292929"/>
                </a:solidFill>
                <a:latin typeface="Inter"/>
                <a:ea typeface="Inter"/>
              </a:rPr>
              <a:t>the basic elements of the network's architecture. </a:t>
            </a:r>
            <a:endParaRPr b="0" i="0">
              <a:solidFill>
                <a:srgbClr val="292929"/>
              </a:solidFill>
              <a:latin typeface="Inter"/>
              <a:ea typeface="Inter"/>
            </a:endParaRPr>
          </a:p>
          <a:p>
            <a:pPr marL="0" indent="0"/>
            <a:r>
              <a:rPr b="1" i="0">
                <a:solidFill>
                  <a:srgbClr val="292929"/>
                </a:solidFill>
                <a:latin typeface="Inter"/>
                <a:ea typeface="Inter"/>
              </a:rPr>
              <a:t> made of three core layers:</a:t>
            </a:r>
            <a:endParaRPr b="1" i="0">
              <a:solidFill>
                <a:srgbClr val="292929"/>
              </a:solidFill>
              <a:latin typeface="Inter"/>
              <a:ea typeface="Inter"/>
            </a:endParaRPr>
          </a:p>
          <a:p>
            <a:pPr marL="0" indent="0">
              <a:buAutoNum type="arabicPeriod"/>
            </a:pPr>
            <a:r>
              <a:rPr b="0" i="0">
                <a:solidFill>
                  <a:srgbClr val="292929"/>
                </a:solidFill>
                <a:latin typeface="Inter"/>
                <a:ea typeface="Inter"/>
              </a:rPr>
              <a:t>Input layer</a:t>
            </a:r>
            <a:endParaRPr b="0" i="0">
              <a:solidFill>
                <a:srgbClr val="292929"/>
              </a:solidFill>
              <a:latin typeface="Inter"/>
              <a:ea typeface="Inter"/>
            </a:endParaRPr>
          </a:p>
          <a:p>
            <a:pPr marL="0" indent="0">
              <a:buAutoNum type="arabicPeriod"/>
            </a:pPr>
            <a:r>
              <a:rPr b="0" i="0">
                <a:solidFill>
                  <a:srgbClr val="292929"/>
                </a:solidFill>
                <a:latin typeface="Inter"/>
                <a:ea typeface="Inter"/>
              </a:rPr>
              <a:t>Hidden layers </a:t>
            </a:r>
            <a:endParaRPr b="0" i="0">
              <a:solidFill>
                <a:srgbClr val="292929"/>
              </a:solidFill>
              <a:latin typeface="Inter"/>
              <a:ea typeface="Inter"/>
            </a:endParaRPr>
          </a:p>
          <a:p>
            <a:pPr marL="0" indent="0">
              <a:buAutoNum type="arabicPeriod"/>
            </a:pPr>
            <a:r>
              <a:rPr b="0" i="0">
                <a:solidFill>
                  <a:srgbClr val="292929"/>
                </a:solidFill>
                <a:latin typeface="Inter"/>
                <a:ea typeface="Inter"/>
              </a:rPr>
              <a:t>Output layer </a:t>
            </a:r>
            <a:endParaRPr b="0" i="0">
              <a:solidFill>
                <a:srgbClr val="292929"/>
              </a:solidFill>
              <a:latin typeface="Inter"/>
              <a:ea typeface="Inter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Box 3"/>
          <p:cNvSpPr txBox="1"/>
          <p:nvPr/>
        </p:nvSpPr>
        <p:spPr>
          <a:xfrm>
            <a:off x="380365" y="290195"/>
            <a:ext cx="6096000" cy="4603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buAutoNum type="arabicPeriod"/>
            </a:pPr>
            <a:r>
              <a:rPr sz="24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sym typeface="+mn-ea"/>
              </a:rPr>
              <a:t>Feedforward Neural Networks (FNN):</a:t>
            </a:r>
            <a:endParaRPr lang="en-US" sz="2400" b="1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sym typeface="+mn-ea"/>
            </a:endParaRPr>
          </a:p>
        </p:txBody>
      </p:sp>
      <p:sp>
        <p:nvSpPr>
          <p:cNvPr id="5" name="Text Box 4"/>
          <p:cNvSpPr txBox="1"/>
          <p:nvPr/>
        </p:nvSpPr>
        <p:spPr>
          <a:xfrm>
            <a:off x="222885" y="6212840"/>
            <a:ext cx="11197590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lvl="1"/>
            <a:r>
              <a:rPr lang="en-IN" altLang="en-US" b="1">
                <a:sym typeface="+mn-ea"/>
              </a:rPr>
              <a:t>Implement the FNN</a:t>
            </a:r>
            <a:endParaRPr lang="en-IN" altLang="en-US" b="1">
              <a:sym typeface="+mn-ea"/>
            </a:endParaRPr>
          </a:p>
          <a:p>
            <a:pPr lvl="1"/>
            <a:r>
              <a:rPr lang="en-US" altLang="en-US">
                <a:sym typeface="+mn-ea"/>
              </a:rPr>
              <a:t>https://colab.research.google.com/drive/1z_nL3RcvR1x4uIR88VWEj8Zdr7mYEcQK#scrollTo=keCSdzvOrRmx</a:t>
            </a:r>
            <a:endParaRPr lang="en-IN" altLang="en-US" b="1">
              <a:sym typeface="+mn-ea"/>
            </a:endParaRPr>
          </a:p>
        </p:txBody>
      </p:sp>
      <p:sp>
        <p:nvSpPr>
          <p:cNvPr id="2" name="Text Box 1"/>
          <p:cNvSpPr txBox="1"/>
          <p:nvPr/>
        </p:nvSpPr>
        <p:spPr>
          <a:xfrm>
            <a:off x="693420" y="750570"/>
            <a:ext cx="11028680" cy="5835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sz="1600" b="0" i="0">
                <a:latin typeface="Arial" panose="020B0604020202020204" pitchFamily="34" charset="0"/>
                <a:ea typeface="var(--framer-blockquote-font-family"/>
                <a:cs typeface="Arial" panose="020B0604020202020204" pitchFamily="34" charset="0"/>
              </a:rPr>
              <a:t>the flow of information occurs in the forward direction. The input is used to calculate some intermediate function in the hidden layer, which is then used to calculate an output. </a:t>
            </a:r>
            <a:endParaRPr sz="1600" b="0" i="0">
              <a:latin typeface="Arial" panose="020B0604020202020204" pitchFamily="34" charset="0"/>
              <a:ea typeface="var(--framer-blockquote-font-family"/>
              <a:cs typeface="Arial" panose="020B0604020202020204" pitchFamily="34" charset="0"/>
            </a:endParaRPr>
          </a:p>
        </p:txBody>
      </p:sp>
      <p:pic>
        <p:nvPicPr>
          <p:cNvPr id="3" name="Picture 2"/>
          <p:cNvPicPr/>
          <p:nvPr/>
        </p:nvPicPr>
        <p:blipFill>
          <a:blip r:embed="rId1"/>
          <a:stretch>
            <a:fillRect/>
          </a:stretch>
        </p:blipFill>
        <p:spPr>
          <a:xfrm>
            <a:off x="1396365" y="1334135"/>
            <a:ext cx="7849870" cy="1647190"/>
          </a:xfrm>
          <a:prstGeom prst="rect">
            <a:avLst/>
          </a:prstGeom>
        </p:spPr>
      </p:pic>
      <p:pic>
        <p:nvPicPr>
          <p:cNvPr id="7" name="Picture 6"/>
          <p:cNvPicPr/>
          <p:nvPr/>
        </p:nvPicPr>
        <p:blipFill>
          <a:blip r:embed="rId2"/>
          <a:stretch>
            <a:fillRect/>
          </a:stretch>
        </p:blipFill>
        <p:spPr>
          <a:xfrm>
            <a:off x="1192530" y="3071813"/>
            <a:ext cx="5981700" cy="2790825"/>
          </a:xfrm>
          <a:prstGeom prst="rect">
            <a:avLst/>
          </a:prstGeom>
        </p:spPr>
      </p:pic>
      <p:sp>
        <p:nvSpPr>
          <p:cNvPr id="8" name="Text Box 7"/>
          <p:cNvSpPr txBox="1"/>
          <p:nvPr/>
        </p:nvSpPr>
        <p:spPr>
          <a:xfrm>
            <a:off x="7366000" y="3228340"/>
            <a:ext cx="4747895" cy="19069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en-US" sz="28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sym typeface="+mn-ea"/>
              </a:rPr>
              <a:t>Working of Neural Networks</a:t>
            </a:r>
            <a:endParaRPr lang="en-US" altLang="en-US" sz="2800" b="1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342900" indent="-342900">
              <a:buAutoNum type="arabicPeriod"/>
            </a:pPr>
            <a:endParaRPr lang="en-US"/>
          </a:p>
          <a:p>
            <a:pPr marL="342900" indent="-342900">
              <a:buAutoNum type="arabicPeriod"/>
            </a:pPr>
            <a:r>
              <a:rPr lang="en-US" altLang="en-US">
                <a:sym typeface="+mn-ea"/>
              </a:rPr>
              <a:t>Forward Propagation</a:t>
            </a:r>
            <a:endParaRPr lang="en-US" altLang="en-US"/>
          </a:p>
          <a:p>
            <a:pPr marL="800100" lvl="1" indent="-342900">
              <a:buAutoNum type="arabicPeriod"/>
            </a:pPr>
            <a:r>
              <a:rPr lang="en-US" altLang="en-US">
                <a:sym typeface="+mn-ea"/>
              </a:rPr>
              <a:t>input</a:t>
            </a:r>
            <a:endParaRPr lang="en-US" altLang="en-US"/>
          </a:p>
          <a:p>
            <a:pPr marL="800100" lvl="1" indent="-342900">
              <a:buAutoNum type="arabicPeriod"/>
            </a:pPr>
            <a:r>
              <a:rPr lang="en-US" altLang="en-US">
                <a:sym typeface="+mn-ea"/>
              </a:rPr>
              <a:t>calculation --&gt;then apply activation func</a:t>
            </a:r>
            <a:endParaRPr lang="en-US" altLang="en-US"/>
          </a:p>
          <a:p>
            <a:pPr marL="800100" lvl="1" indent="-342900">
              <a:buAutoNum type="arabicPeriod"/>
            </a:pPr>
            <a:r>
              <a:rPr lang="en-US" altLang="en-US">
                <a:sym typeface="+mn-ea"/>
              </a:rPr>
              <a:t>output</a:t>
            </a:r>
            <a:endParaRPr lang="en-US" altLang="en-US">
              <a:sym typeface="+mn-ea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360680" y="459105"/>
            <a:ext cx="8078470" cy="2861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0">
              <a:buNone/>
            </a:pPr>
            <a:r>
              <a:rPr lang="en-US" b="1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ea typeface="var(--framer-blockquote-font-family-bold"/>
                <a:cs typeface="Arial" panose="020B0604020202020204" pitchFamily="34" charset="0"/>
                <a:sym typeface="+mn-ea"/>
              </a:rPr>
              <a:t>2. </a:t>
            </a:r>
            <a:r>
              <a:rPr b="1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ea typeface="var(--framer-blockquote-font-family-bold"/>
                <a:cs typeface="Arial" panose="020B0604020202020204" pitchFamily="34" charset="0"/>
                <a:sym typeface="+mn-ea"/>
              </a:rPr>
              <a:t>Backpropagation </a:t>
            </a:r>
            <a:endParaRPr b="1" i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" panose="020B0604020202020204" pitchFamily="34" charset="0"/>
              <a:ea typeface="var(--framer-blockquote-font-family-bold"/>
              <a:cs typeface="Arial" panose="020B0604020202020204" pitchFamily="34" charset="0"/>
            </a:endParaRPr>
          </a:p>
          <a:p>
            <a:pPr marL="0" indent="0"/>
            <a:r>
              <a:rPr>
                <a:latin typeface="Arial" panose="020B0604020202020204" pitchFamily="34" charset="0"/>
                <a:ea typeface="STK Bureau Sans Book"/>
                <a:cs typeface="Arial" panose="020B0604020202020204" pitchFamily="34" charset="0"/>
                <a:sym typeface="+mn-ea"/>
              </a:rPr>
              <a:t>- the weights of the network connections are repeatedly adjusted to minimize the difference between the actual output vector of the net and the desired output vector.</a:t>
            </a:r>
            <a:endParaRPr lang="en-US" altLang="en-US"/>
          </a:p>
          <a:p>
            <a:pPr marL="342900" indent="-342900">
              <a:buAutoNum type="arabicPeriod"/>
            </a:pPr>
            <a:endParaRPr lang="en-US" altLang="en-US"/>
          </a:p>
          <a:p>
            <a:pPr marL="342900" indent="-342900">
              <a:buAutoNum type="arabicPeriod"/>
            </a:pPr>
            <a:endParaRPr lang="en-US" altLang="en-US"/>
          </a:p>
          <a:p>
            <a:pPr marL="342900" indent="-342900">
              <a:buAutoNum type="arabicPeriod"/>
            </a:pPr>
            <a:r>
              <a:rPr lang="en-US" altLang="en-US"/>
              <a:t>Backpropagation</a:t>
            </a:r>
            <a:endParaRPr lang="en-US" altLang="en-US"/>
          </a:p>
          <a:p>
            <a:pPr marL="800100" lvl="1" indent="-342900">
              <a:buAutoNum type="arabicPeriod"/>
            </a:pPr>
            <a:r>
              <a:rPr lang="en-US" altLang="en-US"/>
              <a:t>Loss Calculation</a:t>
            </a:r>
            <a:endParaRPr lang="en-US" altLang="en-US"/>
          </a:p>
          <a:p>
            <a:pPr marL="800100" lvl="1" indent="-342900">
              <a:buAutoNum type="arabicPeriod"/>
            </a:pPr>
            <a:r>
              <a:rPr lang="en-US" altLang="en-US"/>
              <a:t>Gradient Calculation</a:t>
            </a:r>
            <a:endParaRPr lang="en-US" altLang="en-US"/>
          </a:p>
          <a:p>
            <a:pPr marL="800100" lvl="1" indent="-342900">
              <a:buAutoNum type="arabicPeriod"/>
            </a:pPr>
            <a:r>
              <a:rPr lang="en-US" altLang="en-US"/>
              <a:t>Weight Update</a:t>
            </a:r>
            <a:endParaRPr lang="en-US" altLang="en-US"/>
          </a:p>
        </p:txBody>
      </p:sp>
      <p:sp>
        <p:nvSpPr>
          <p:cNvPr id="12" name="Text Box 11"/>
          <p:cNvSpPr txBox="1"/>
          <p:nvPr/>
        </p:nvSpPr>
        <p:spPr>
          <a:xfrm>
            <a:off x="3048000" y="3244850"/>
            <a:ext cx="609600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/>
          </a:p>
          <a:p>
            <a:endParaRPr lang="en-US"/>
          </a:p>
        </p:txBody>
      </p:sp>
      <p:pic>
        <p:nvPicPr>
          <p:cNvPr id="13" name="Picture 12" descr="1214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3525" y="1829435"/>
            <a:ext cx="6354445" cy="3198495"/>
          </a:xfrm>
          <a:prstGeom prst="rect">
            <a:avLst/>
          </a:prstGeom>
        </p:spPr>
      </p:pic>
      <p:sp>
        <p:nvSpPr>
          <p:cNvPr id="3" name="Text Box 2"/>
          <p:cNvSpPr txBox="1"/>
          <p:nvPr/>
        </p:nvSpPr>
        <p:spPr>
          <a:xfrm>
            <a:off x="596265" y="6359843"/>
            <a:ext cx="5080000" cy="337185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indent="0">
              <a:spcAft>
                <a:spcPct val="60000"/>
              </a:spcAft>
            </a:pPr>
            <a:r>
              <a:rPr sz="1600" b="0" i="0">
                <a:latin typeface="Manrope"/>
                <a:ea typeface="Manrope"/>
              </a:rPr>
              <a:t>Feedforward vs. Backpropagation</a:t>
            </a:r>
            <a:endParaRPr sz="1600" b="0" i="0">
              <a:latin typeface="Manrope"/>
              <a:ea typeface="Manrope"/>
            </a:endParaRPr>
          </a:p>
        </p:txBody>
      </p:sp>
      <p:sp>
        <p:nvSpPr>
          <p:cNvPr id="5" name="Text Box 4"/>
          <p:cNvSpPr txBox="1"/>
          <p:nvPr/>
        </p:nvSpPr>
        <p:spPr>
          <a:xfrm>
            <a:off x="4448810" y="6360160"/>
            <a:ext cx="767461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en-US"/>
              <a:t>https://www.geeksforgeeks.org/backpropagation-in-neural-network/</a:t>
            </a:r>
            <a:endParaRPr lang="en-US"/>
          </a:p>
        </p:txBody>
      </p:sp>
      <p:sp>
        <p:nvSpPr>
          <p:cNvPr id="6" name="Text Box 5"/>
          <p:cNvSpPr txBox="1"/>
          <p:nvPr/>
        </p:nvSpPr>
        <p:spPr>
          <a:xfrm>
            <a:off x="4782185" y="6211570"/>
            <a:ext cx="6096000" cy="3067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en-US" sz="1400"/>
              <a:t>https://www.guru99.com/backpropogation-neural-network.html</a:t>
            </a:r>
            <a:endParaRPr lang="en-US" altLang="en-US" sz="14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Screenshot (282)"/>
          <p:cNvPicPr>
            <a:picLocks noChangeAspect="1"/>
          </p:cNvPicPr>
          <p:nvPr/>
        </p:nvPicPr>
        <p:blipFill>
          <a:blip r:embed="rId1"/>
          <a:srcRect t="11287" r="47089" b="5620"/>
          <a:stretch>
            <a:fillRect/>
          </a:stretch>
        </p:blipFill>
        <p:spPr>
          <a:xfrm>
            <a:off x="6179185" y="175895"/>
            <a:ext cx="5646420" cy="4987925"/>
          </a:xfrm>
          <a:prstGeom prst="rect">
            <a:avLst/>
          </a:prstGeom>
        </p:spPr>
      </p:pic>
      <p:sp>
        <p:nvSpPr>
          <p:cNvPr id="7" name="Text Box 6"/>
          <p:cNvSpPr txBox="1"/>
          <p:nvPr/>
        </p:nvSpPr>
        <p:spPr>
          <a:xfrm>
            <a:off x="1177925" y="175895"/>
            <a:ext cx="4064000" cy="15684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0"/>
            <a:r>
              <a:rPr lang="en-US" sz="24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Terms </a:t>
            </a:r>
            <a:r>
              <a:rPr lang="en-US" altLang="en-US"/>
              <a:t>Neural Networks Architecture:</a:t>
            </a:r>
            <a:endParaRPr lang="en-US" alt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/>
              <a:t>features</a:t>
            </a:r>
            <a:endParaRPr lang="en-US" sz="2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/>
              <a:t>weights</a:t>
            </a:r>
            <a:endParaRPr lang="en-US" sz="2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/>
              <a:t>bias</a:t>
            </a:r>
            <a:endParaRPr lang="en-US" sz="2400"/>
          </a:p>
        </p:txBody>
      </p:sp>
      <p:sp>
        <p:nvSpPr>
          <p:cNvPr id="8" name="Text Box 7"/>
          <p:cNvSpPr txBox="1"/>
          <p:nvPr/>
        </p:nvSpPr>
        <p:spPr>
          <a:xfrm>
            <a:off x="370840" y="1744345"/>
            <a:ext cx="5890260" cy="468185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sz="28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FF00"/>
                </a:highlight>
              </a:rPr>
              <a:t>USE IN ANN </a:t>
            </a:r>
            <a:endParaRPr lang="en-US" sz="2400"/>
          </a:p>
          <a:p>
            <a:pPr marL="800100" lvl="1" indent="-342900">
              <a:buAutoNum type="arabicPeriod"/>
            </a:pPr>
            <a:r>
              <a:rPr lang="en-IN" altLang="en-US" sz="2000"/>
              <a:t>Perceptron</a:t>
            </a:r>
            <a:endParaRPr lang="en-IN" altLang="en-US" sz="2000"/>
          </a:p>
          <a:p>
            <a:pPr marL="800100" lvl="1" indent="-342900">
              <a:buAutoNum type="arabicPeriod"/>
            </a:pPr>
            <a:r>
              <a:rPr lang="en-IN" altLang="en-US" sz="2000"/>
              <a:t>Hidden layers</a:t>
            </a:r>
            <a:endParaRPr lang="en-IN" altLang="en-US" sz="2000"/>
          </a:p>
          <a:p>
            <a:pPr marL="800100" lvl="1" indent="-342900">
              <a:buAutoNum type="arabicPeriod"/>
            </a:pPr>
            <a:r>
              <a:rPr lang="en-IN" altLang="en-US" sz="2000"/>
              <a:t>neurons</a:t>
            </a:r>
            <a:endParaRPr lang="en-IN" altLang="en-US" sz="2000"/>
          </a:p>
          <a:p>
            <a:pPr marL="800100" lvl="1" indent="-342900">
              <a:buAutoNum type="arabicPeriod"/>
            </a:pPr>
            <a:r>
              <a:rPr lang="en-IN" altLang="en-US" sz="2000"/>
              <a:t>Weights and bias</a:t>
            </a:r>
            <a:endParaRPr lang="en-US" sz="2000"/>
          </a:p>
          <a:p>
            <a:pPr marL="342900" indent="-342900">
              <a:buAutoNum type="arabicPeriod"/>
            </a:pPr>
            <a:r>
              <a:rPr lang="en-US" sz="2000">
                <a:sym typeface="+mn-ea"/>
              </a:rPr>
              <a:t>for non linearity in neural network</a:t>
            </a:r>
            <a:endParaRPr lang="en-US" sz="200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/>
              <a:t>activation functions</a:t>
            </a:r>
            <a:endParaRPr lang="en-US" sz="2000"/>
          </a:p>
          <a:p>
            <a:pPr marL="342900" indent="-342900">
              <a:buAutoNum type="arabicPeriod"/>
            </a:pPr>
            <a:r>
              <a:rPr lang="en-US" sz="2000"/>
              <a:t>for error calculations/loss functions/cost functions</a:t>
            </a:r>
            <a:endParaRPr lang="en-US" sz="200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/>
              <a:t>mse,mae, logloss</a:t>
            </a:r>
            <a:endParaRPr lang="en-US" sz="2000"/>
          </a:p>
          <a:p>
            <a:pPr marL="342900" indent="-342900">
              <a:buAutoNum type="arabicPeriod"/>
            </a:pPr>
            <a:r>
              <a:rPr lang="en-US" sz="2000"/>
              <a:t>for optimizations </a:t>
            </a:r>
            <a:endParaRPr lang="en-US" sz="200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/>
              <a:t>gradient descent/ optimzer</a:t>
            </a:r>
            <a:endParaRPr lang="en-US" sz="2000"/>
          </a:p>
          <a:p>
            <a:pPr lvl="0" indent="0">
              <a:buFont typeface="Arial" panose="020B0604020202020204" pitchFamily="34" charset="0"/>
              <a:buNone/>
            </a:pPr>
            <a:r>
              <a:rPr lang="en-US" sz="2000"/>
              <a:t>4.  Evaluation Matrix</a:t>
            </a:r>
            <a:endParaRPr lang="en-US" sz="200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/>
              <a:t>classification</a:t>
            </a:r>
            <a:endParaRPr lang="en-US" sz="200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/>
              <a:t>regression</a:t>
            </a:r>
            <a:endParaRPr lang="en-US" sz="2000"/>
          </a:p>
          <a:p>
            <a:pPr indent="457200"/>
            <a:endParaRPr lang="en-US" sz="20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/>
          <p:nvPr/>
        </p:nvPicPr>
        <p:blipFill>
          <a:blip r:embed="rId1"/>
          <a:stretch>
            <a:fillRect/>
          </a:stretch>
        </p:blipFill>
        <p:spPr>
          <a:xfrm>
            <a:off x="2095500" y="1333500"/>
            <a:ext cx="7620000" cy="3810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810260" y="375285"/>
            <a:ext cx="40640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>
                <a:solidFill>
                  <a:srgbClr val="FF0000"/>
                </a:solidFill>
              </a:rPr>
              <a:t>What we learn </a:t>
            </a:r>
            <a:endParaRPr lang="en-US" sz="2400" b="1">
              <a:solidFill>
                <a:srgbClr val="FF0000"/>
              </a:solidFill>
            </a:endParaRPr>
          </a:p>
        </p:txBody>
      </p:sp>
      <p:sp>
        <p:nvSpPr>
          <p:cNvPr id="3" name="Text Box 2"/>
          <p:cNvSpPr txBox="1"/>
          <p:nvPr/>
        </p:nvSpPr>
        <p:spPr>
          <a:xfrm>
            <a:off x="294640" y="962660"/>
            <a:ext cx="4097655" cy="500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>
              <a:spcBef>
                <a:spcPts val="1000"/>
              </a:spcBef>
              <a:spcAft>
                <a:spcPts val="500"/>
              </a:spcAft>
            </a:pPr>
            <a:r>
              <a:rPr sz="2500" b="0" i="0">
                <a:solidFill>
                  <a:srgbClr val="333333"/>
                </a:solidFill>
                <a:latin typeface="Tomorrow"/>
                <a:ea typeface="Tomorrow"/>
              </a:rPr>
              <a:t>Introduction to AI  </a:t>
            </a:r>
            <a:endParaRPr sz="25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AI vs ML vs DL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Applications of AI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Conventional AI vs GenAI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Future of AI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en-US" b="1" i="0">
                <a:solidFill>
                  <a:srgbClr val="333333"/>
                </a:solidFill>
                <a:latin typeface="Tomorrow"/>
                <a:ea typeface="Tomorrow"/>
              </a:rPr>
              <a:t>Introduction to DL</a:t>
            </a:r>
            <a:r>
              <a:rPr lang="en-US" altLang="en-US" sz="1600" b="0" i="0">
                <a:solidFill>
                  <a:srgbClr val="333333"/>
                </a:solidFill>
                <a:latin typeface="Tomorrow"/>
                <a:ea typeface="Tomorrow"/>
              </a:rPr>
              <a:t>  </a:t>
            </a:r>
            <a:endParaRPr lang="en-US" altLang="en-US"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0" i="0">
                <a:solidFill>
                  <a:srgbClr val="333333"/>
                </a:solidFill>
                <a:latin typeface="Tomorrow"/>
                <a:ea typeface="Tomorrow"/>
              </a:rPr>
              <a:t>Introduction to Deep Learning</a:t>
            </a:r>
            <a:endParaRPr lang="en-US" altLang="en-US"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0" i="0">
                <a:solidFill>
                  <a:srgbClr val="333333"/>
                </a:solidFill>
                <a:latin typeface="Tomorrow"/>
                <a:ea typeface="Tomorrow"/>
              </a:rPr>
              <a:t>Perceptron Model</a:t>
            </a:r>
            <a:endParaRPr lang="en-US" altLang="en-US"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i="0">
                <a:solidFill>
                  <a:srgbClr val="33333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omorrow"/>
                <a:ea typeface="Tomorrow"/>
              </a:rPr>
              <a:t>Introduction to Tensorflow and Keras</a:t>
            </a:r>
            <a:endParaRPr lang="en-US" altLang="en-US" sz="1600" b="1" i="0">
              <a:solidFill>
                <a:srgbClr val="333333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0" i="0">
                <a:solidFill>
                  <a:srgbClr val="333333"/>
                </a:solidFill>
                <a:latin typeface="Tomorrow"/>
                <a:ea typeface="Tomorrow"/>
              </a:rPr>
              <a:t>Introduction to Types of Neural Networks</a:t>
            </a:r>
            <a:endParaRPr lang="en-US" altLang="en-US"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endParaRPr lang="en-US" altLang="en-US" sz="1600" b="1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i="0">
                <a:solidFill>
                  <a:srgbClr val="333333"/>
                </a:solidFill>
                <a:latin typeface="Tomorrow"/>
                <a:ea typeface="Tomorrow"/>
              </a:rPr>
              <a:t>Artificial Neural Network Deep Dive </a:t>
            </a:r>
            <a:r>
              <a:rPr lang="en-US" altLang="en-US" sz="1600" b="0" i="0">
                <a:solidFill>
                  <a:srgbClr val="333333"/>
                </a:solidFill>
                <a:latin typeface="Tomorrow"/>
                <a:ea typeface="Tomorrow"/>
              </a:rPr>
              <a:t> </a:t>
            </a:r>
            <a:endParaRPr lang="en-US" altLang="en-US"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0" i="0">
                <a:solidFill>
                  <a:srgbClr val="333333"/>
                </a:solidFill>
                <a:latin typeface="Tomorrow"/>
                <a:ea typeface="Tomorrow"/>
              </a:rPr>
              <a:t>Activation Functions in NN</a:t>
            </a:r>
            <a:endParaRPr lang="en-US" altLang="en-US"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0" i="0">
                <a:solidFill>
                  <a:srgbClr val="333333"/>
                </a:solidFill>
                <a:latin typeface="Tomorrow"/>
                <a:ea typeface="Tomorrow"/>
              </a:rPr>
              <a:t>Loss Functions</a:t>
            </a:r>
            <a:endParaRPr lang="en-US" altLang="en-US"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0" i="0">
                <a:solidFill>
                  <a:srgbClr val="333333"/>
                </a:solidFill>
                <a:latin typeface="Tomorrow"/>
                <a:ea typeface="Tomorrow"/>
              </a:rPr>
              <a:t>Optimization Technique</a:t>
            </a:r>
            <a:endParaRPr lang="en-US" altLang="en-US"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0" i="0">
                <a:solidFill>
                  <a:srgbClr val="333333"/>
                </a:solidFill>
                <a:latin typeface="Tomorrow"/>
                <a:ea typeface="Tomorrow"/>
              </a:rPr>
              <a:t>Regularization Techniques</a:t>
            </a:r>
            <a:endParaRPr lang="en-US" altLang="en-US"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0" i="0">
                <a:solidFill>
                  <a:srgbClr val="333333"/>
                </a:solidFill>
                <a:latin typeface="Tomorrow"/>
                <a:ea typeface="Tomorrow"/>
              </a:rPr>
              <a:t>CallBacks</a:t>
            </a:r>
            <a:endParaRPr lang="en-US" altLang="en-US" sz="1600" b="0" i="0">
              <a:solidFill>
                <a:srgbClr val="333333"/>
              </a:solidFill>
              <a:latin typeface="Tomorrow"/>
              <a:ea typeface="Tomorrow"/>
            </a:endParaRPr>
          </a:p>
        </p:txBody>
      </p:sp>
      <p:sp>
        <p:nvSpPr>
          <p:cNvPr id="4" name="Text Box 3"/>
          <p:cNvSpPr txBox="1"/>
          <p:nvPr/>
        </p:nvSpPr>
        <p:spPr>
          <a:xfrm>
            <a:off x="4392295" y="962660"/>
            <a:ext cx="4003040" cy="54032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>
              <a:spcBef>
                <a:spcPts val="1000"/>
              </a:spcBef>
              <a:spcAft>
                <a:spcPts val="500"/>
              </a:spcAft>
            </a:pPr>
            <a:r>
              <a:rPr sz="2500" b="0" i="0">
                <a:solidFill>
                  <a:srgbClr val="333333"/>
                </a:solidFill>
                <a:latin typeface="Tomorrow"/>
                <a:ea typeface="Tomorrow"/>
              </a:rPr>
              <a:t>Computer Vision  </a:t>
            </a:r>
            <a:endParaRPr sz="25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Object Detection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Region Proposal Techniques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Semantic Segmentation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b="1" i="0">
                <a:solidFill>
                  <a:srgbClr val="333333"/>
                </a:solidFill>
                <a:latin typeface="Tomorrow"/>
                <a:ea typeface="Tomorrow"/>
              </a:rPr>
              <a:t>Computer Vision with OpenCV  </a:t>
            </a:r>
            <a:endParaRPr lang="en-US" altLang="en-US" sz="2000" b="1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0" i="0">
                <a:solidFill>
                  <a:srgbClr val="333333"/>
                </a:solidFill>
                <a:latin typeface="Tomorrow"/>
                <a:ea typeface="Tomorrow"/>
              </a:rPr>
              <a:t>Working with images</a:t>
            </a:r>
            <a:endParaRPr lang="en-US" altLang="en-US"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0" i="0">
                <a:solidFill>
                  <a:srgbClr val="333333"/>
                </a:solidFill>
                <a:latin typeface="Tomorrow"/>
                <a:ea typeface="Tomorrow"/>
              </a:rPr>
              <a:t>Working with Videos</a:t>
            </a:r>
            <a:endParaRPr lang="en-US" altLang="en-US"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0" i="0">
                <a:solidFill>
                  <a:srgbClr val="333333"/>
                </a:solidFill>
                <a:latin typeface="Tomorrow"/>
                <a:ea typeface="Tomorrow"/>
              </a:rPr>
              <a:t>OCR</a:t>
            </a:r>
            <a:endParaRPr lang="en-US" altLang="en-US"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0" i="0">
                <a:solidFill>
                  <a:srgbClr val="333333"/>
                </a:solidFill>
                <a:latin typeface="Tomorrow"/>
                <a:ea typeface="Tomorrow"/>
              </a:rPr>
              <a:t>Media Pipe - FaceMesh, Pose Detection</a:t>
            </a:r>
            <a:endParaRPr lang="en-US" altLang="en-US"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endParaRPr lang="en-US" altLang="en-US"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b="1" i="0">
                <a:solidFill>
                  <a:srgbClr val="333333"/>
                </a:solidFill>
                <a:latin typeface="Tomorrow"/>
                <a:ea typeface="Tomorrow"/>
              </a:rPr>
              <a:t>Convolution Neural Network </a:t>
            </a:r>
            <a:r>
              <a:rPr lang="en-US" altLang="en-US" sz="1600" b="0" i="0">
                <a:solidFill>
                  <a:srgbClr val="333333"/>
                </a:solidFill>
                <a:latin typeface="Tomorrow"/>
                <a:ea typeface="Tomorrow"/>
              </a:rPr>
              <a:t> </a:t>
            </a:r>
            <a:endParaRPr lang="en-US" altLang="en-US"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0" i="0">
                <a:solidFill>
                  <a:srgbClr val="333333"/>
                </a:solidFill>
                <a:latin typeface="Tomorrow"/>
                <a:ea typeface="Tomorrow"/>
              </a:rPr>
              <a:t>Introduction to CNN</a:t>
            </a:r>
            <a:endParaRPr lang="en-US" altLang="en-US"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endParaRPr lang="en-US" altLang="en-US"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0" i="0">
                <a:solidFill>
                  <a:srgbClr val="333333"/>
                </a:solidFill>
                <a:latin typeface="Tomorrow"/>
                <a:ea typeface="Tomorrow"/>
              </a:rPr>
              <a:t>Architecture of CNN - Kernel / Filter, Stride, Padding, Activation Function Max Pooling and Avg Pooling</a:t>
            </a:r>
            <a:endParaRPr lang="en-US" altLang="en-US" sz="1600" b="0" i="0">
              <a:solidFill>
                <a:srgbClr val="333333"/>
              </a:solidFill>
              <a:latin typeface="Tomorrow"/>
              <a:ea typeface="Tomorrow"/>
            </a:endParaRPr>
          </a:p>
        </p:txBody>
      </p:sp>
      <p:sp>
        <p:nvSpPr>
          <p:cNvPr id="5" name="Text Box 4"/>
          <p:cNvSpPr txBox="1"/>
          <p:nvPr/>
        </p:nvSpPr>
        <p:spPr>
          <a:xfrm>
            <a:off x="8395335" y="835660"/>
            <a:ext cx="3721100" cy="52336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>
              <a:spcBef>
                <a:spcPts val="1000"/>
              </a:spcBef>
              <a:spcAft>
                <a:spcPts val="500"/>
              </a:spcAft>
            </a:pPr>
            <a:r>
              <a:rPr sz="2500" b="0" i="0">
                <a:solidFill>
                  <a:srgbClr val="333333"/>
                </a:solidFill>
                <a:latin typeface="Tomorrow"/>
                <a:ea typeface="Tomorrow"/>
              </a:rPr>
              <a:t>Natural Language Processing  </a:t>
            </a:r>
            <a:endParaRPr sz="25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Introduction to NLP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Text Preprocessing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Text Vecorization and Classification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Embedding Layer in Natural Language Processing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Sentiment Analysis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Sequence Model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Machine Translation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Introduction to LLM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b="1" i="0">
                <a:solidFill>
                  <a:srgbClr val="333333"/>
                </a:solidFill>
                <a:latin typeface="Tomorrow"/>
                <a:ea typeface="Tomorrow"/>
              </a:rPr>
              <a:t>Recurrent Neural Network  </a:t>
            </a:r>
            <a:endParaRPr lang="en-US" altLang="en-US" sz="2000" b="1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b="1" i="0">
                <a:solidFill>
                  <a:srgbClr val="333333"/>
                </a:solidFill>
                <a:latin typeface="Tomorrow"/>
                <a:ea typeface="Tomorrow"/>
              </a:rPr>
              <a:t>Introduction to RNN</a:t>
            </a:r>
            <a:endParaRPr lang="en-US" altLang="en-US" sz="2000" b="1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endParaRPr lang="en-US" altLang="en-US"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0" i="0">
                <a:solidFill>
                  <a:srgbClr val="333333"/>
                </a:solidFill>
                <a:latin typeface="Tomorrow"/>
                <a:ea typeface="Tomorrow"/>
              </a:rPr>
              <a:t>LSTM</a:t>
            </a:r>
            <a:endParaRPr lang="en-US" altLang="en-US"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0" i="0">
                <a:solidFill>
                  <a:srgbClr val="333333"/>
                </a:solidFill>
                <a:latin typeface="Tomorrow"/>
                <a:ea typeface="Tomorrow"/>
              </a:rPr>
              <a:t>Bi-directional LSTM</a:t>
            </a:r>
            <a:endParaRPr lang="en-US" altLang="en-US"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0" i="0">
                <a:solidFill>
                  <a:srgbClr val="333333"/>
                </a:solidFill>
                <a:latin typeface="Tomorrow"/>
                <a:ea typeface="Tomorrow"/>
              </a:rPr>
              <a:t>GRU</a:t>
            </a:r>
            <a:endParaRPr lang="en-US" altLang="en-US" sz="1600" b="0" i="0">
              <a:solidFill>
                <a:srgbClr val="333333"/>
              </a:solidFill>
              <a:latin typeface="Tomorrow"/>
              <a:ea typeface="Tomorrow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294005" y="317"/>
            <a:ext cx="5080000" cy="2017395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indent="0">
              <a:spcBef>
                <a:spcPts val="1000"/>
              </a:spcBef>
              <a:spcAft>
                <a:spcPts val="500"/>
              </a:spcAft>
            </a:pPr>
            <a:r>
              <a:rPr sz="2000" b="0" i="0">
                <a:solidFill>
                  <a:srgbClr val="333333"/>
                </a:solidFill>
                <a:latin typeface="Tomorrow"/>
                <a:ea typeface="Tomorrow"/>
              </a:rPr>
              <a:t>RASA Chatbot </a:t>
            </a:r>
            <a:r>
              <a:rPr sz="2500" b="0" i="0">
                <a:solidFill>
                  <a:srgbClr val="333333"/>
                </a:solidFill>
                <a:latin typeface="Tomorrow"/>
                <a:ea typeface="Tomorrow"/>
              </a:rPr>
              <a:t> </a:t>
            </a:r>
            <a:endParaRPr sz="25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What is RASA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RASA Installation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RASA Initialization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RASA Configuration and File System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Intents, Entity,Response and Story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Actions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</p:txBody>
      </p:sp>
      <p:sp>
        <p:nvSpPr>
          <p:cNvPr id="3" name="Text Box 2"/>
          <p:cNvSpPr txBox="1"/>
          <p:nvPr/>
        </p:nvSpPr>
        <p:spPr>
          <a:xfrm>
            <a:off x="294005" y="1945005"/>
            <a:ext cx="5080000" cy="2509520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indent="0">
              <a:spcBef>
                <a:spcPts val="1000"/>
              </a:spcBef>
              <a:spcAft>
                <a:spcPts val="500"/>
              </a:spcAft>
            </a:pPr>
            <a:r>
              <a:rPr sz="2000" b="0" i="0">
                <a:solidFill>
                  <a:srgbClr val="333333"/>
                </a:solidFill>
                <a:latin typeface="Tomorrow"/>
                <a:ea typeface="Tomorrow"/>
              </a:rPr>
              <a:t>Introduction to Time Series Analysis </a:t>
            </a:r>
            <a:r>
              <a:rPr sz="2500" b="0" i="0">
                <a:solidFill>
                  <a:srgbClr val="333333"/>
                </a:solidFill>
                <a:latin typeface="Tomorrow"/>
                <a:ea typeface="Tomorrow"/>
              </a:rPr>
              <a:t> </a:t>
            </a:r>
            <a:endParaRPr sz="25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What is Sequential Data &amp; Time Series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Functional Relationship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Components of Time Series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Mathemetical Representation of Time Series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ETS Decompositon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Classification of Time Series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Defference between ACF &amp; PACF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Assignment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</p:txBody>
      </p:sp>
      <p:sp>
        <p:nvSpPr>
          <p:cNvPr id="4" name="Text Box 3"/>
          <p:cNvSpPr txBox="1"/>
          <p:nvPr/>
        </p:nvSpPr>
        <p:spPr>
          <a:xfrm>
            <a:off x="294005" y="4532313"/>
            <a:ext cx="5080000" cy="2325370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indent="0">
              <a:spcBef>
                <a:spcPts val="1000"/>
              </a:spcBef>
              <a:spcAft>
                <a:spcPts val="500"/>
              </a:spcAft>
            </a:pPr>
            <a:r>
              <a:rPr sz="2000" b="0" i="0">
                <a:solidFill>
                  <a:srgbClr val="333333"/>
                </a:solidFill>
                <a:latin typeface="Tomorrow"/>
                <a:ea typeface="Tomorrow"/>
              </a:rPr>
              <a:t>Weather Forecasting using ARIMA Model </a:t>
            </a:r>
            <a:r>
              <a:rPr sz="2500" b="0" i="0">
                <a:solidFill>
                  <a:srgbClr val="333333"/>
                </a:solidFill>
                <a:latin typeface="Tomorrow"/>
                <a:ea typeface="Tomorrow"/>
              </a:rPr>
              <a:t> </a:t>
            </a:r>
            <a:endParaRPr sz="25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Introduction to AR and MA model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Stationarity &amp; Differencing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SariMax of Seasonal Data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Identifying order AR(p), I(d), MA(q)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Implementation of ARIMA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Assignment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</p:txBody>
      </p:sp>
      <p:sp>
        <p:nvSpPr>
          <p:cNvPr id="5" name="Text Box 4"/>
          <p:cNvSpPr txBox="1"/>
          <p:nvPr/>
        </p:nvSpPr>
        <p:spPr>
          <a:xfrm>
            <a:off x="5626100" y="103823"/>
            <a:ext cx="5080000" cy="5356860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indent="0">
              <a:spcBef>
                <a:spcPts val="1000"/>
              </a:spcBef>
              <a:spcAft>
                <a:spcPts val="500"/>
              </a:spcAft>
            </a:pPr>
            <a:r>
              <a:rPr sz="2500" b="0" i="0">
                <a:solidFill>
                  <a:srgbClr val="333333"/>
                </a:solidFill>
                <a:latin typeface="Tomorrow"/>
                <a:ea typeface="Tomorrow"/>
              </a:rPr>
              <a:t>Stock Price Prediction using Sequence Model  </a:t>
            </a:r>
            <a:endParaRPr sz="25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Introduction to Sequence Models RNN, LSTM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Preparing Time Series Data for LSTM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Forecasting using LSTM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Future Forecast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Assignment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inden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</a:pPr>
            <a:r>
              <a:rPr lang="en-US" sz="1600" b="1" i="0">
                <a:solidFill>
                  <a:srgbClr val="333333"/>
                </a:solidFill>
                <a:latin typeface="Tomorrow"/>
                <a:ea typeface="Tomorrow"/>
              </a:rPr>
              <a:t>GEN AI </a:t>
            </a:r>
            <a:endParaRPr lang="en-US" sz="1600" b="1" i="0">
              <a:solidFill>
                <a:srgbClr val="333333"/>
              </a:solidFill>
              <a:latin typeface="Tomorrow"/>
              <a:ea typeface="Tomorrow"/>
            </a:endParaRPr>
          </a:p>
          <a:p>
            <a:pPr inden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</a:pPr>
            <a:endParaRPr lang="en-US" sz="1600" b="1" i="0">
              <a:solidFill>
                <a:srgbClr val="333333"/>
              </a:solidFill>
              <a:latin typeface="Tomorrow"/>
              <a:ea typeface="Tomorrow"/>
            </a:endParaRPr>
          </a:p>
          <a:p>
            <a:pPr inden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</a:pPr>
            <a:r>
              <a:rPr lang="en-US" sz="1600" b="1" i="0">
                <a:solidFill>
                  <a:srgbClr val="333333"/>
                </a:solidFill>
                <a:latin typeface="Tomorrow"/>
                <a:ea typeface="Tomorrow"/>
              </a:rPr>
              <a:t>LLM</a:t>
            </a:r>
            <a:endParaRPr lang="en-US" sz="1600" b="1" i="0">
              <a:solidFill>
                <a:srgbClr val="333333"/>
              </a:solidFill>
              <a:latin typeface="Tomorrow"/>
              <a:ea typeface="Tomorrow"/>
            </a:endParaRPr>
          </a:p>
          <a:p>
            <a:pPr inden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</a:pPr>
            <a:endParaRPr lang="en-US" sz="1600" b="1" i="0">
              <a:solidFill>
                <a:srgbClr val="333333"/>
              </a:solidFill>
              <a:latin typeface="Tomorrow"/>
              <a:ea typeface="Tomorrow"/>
            </a:endParaRPr>
          </a:p>
          <a:p>
            <a:pPr inden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</a:pPr>
            <a:r>
              <a:rPr lang="en-US" sz="1600" b="1" i="0">
                <a:solidFill>
                  <a:srgbClr val="333333"/>
                </a:solidFill>
                <a:latin typeface="Tomorrow"/>
                <a:ea typeface="Tomorrow"/>
              </a:rPr>
              <a:t>AGENTIC AI</a:t>
            </a:r>
            <a:endParaRPr lang="en-US" sz="1600" b="1" i="0">
              <a:solidFill>
                <a:srgbClr val="333333"/>
              </a:solidFill>
              <a:latin typeface="Tomorrow"/>
              <a:ea typeface="Tomorrow"/>
            </a:endParaRPr>
          </a:p>
          <a:p>
            <a:pPr inden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</a:pPr>
            <a:endParaRPr lang="en-US" sz="1600" b="1" i="0">
              <a:solidFill>
                <a:srgbClr val="333333"/>
              </a:solidFill>
              <a:latin typeface="Tomorrow"/>
              <a:ea typeface="Tomorrow"/>
            </a:endParaRPr>
          </a:p>
          <a:p>
            <a:pPr inden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</a:pPr>
            <a:r>
              <a:rPr lang="en-US" sz="1600" b="1" i="0">
                <a:solidFill>
                  <a:srgbClr val="333333"/>
                </a:solidFill>
                <a:latin typeface="Tomorrow"/>
                <a:ea typeface="Tomorrow"/>
              </a:rPr>
              <a:t>CLOUD AI</a:t>
            </a:r>
            <a:br>
              <a:rPr lang="en-US" sz="1600" b="0" i="0">
                <a:solidFill>
                  <a:srgbClr val="333333"/>
                </a:solidFill>
                <a:latin typeface="Tomorrow"/>
                <a:ea typeface="Tomorrow"/>
              </a:rPr>
            </a:br>
            <a:endParaRPr lang="en-US"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inden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</a:pPr>
            <a:endParaRPr lang="en-US" sz="1600" b="0" i="0">
              <a:solidFill>
                <a:srgbClr val="333333"/>
              </a:solidFill>
              <a:latin typeface="Tomorrow"/>
              <a:ea typeface="Tomorrow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351155" y="-6350"/>
            <a:ext cx="11840845" cy="88900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lvl="1" indent="0">
              <a:buNone/>
            </a:pPr>
            <a:r>
              <a:rPr lang="en-US" sz="48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 Black" panose="020B0A04020102020204" charset="0"/>
                <a:cs typeface="Arial Black" panose="020B0A04020102020204" charset="0"/>
                <a:sym typeface="+mn-ea"/>
              </a:rPr>
              <a:t>Next  Topic Activation functions</a:t>
            </a:r>
            <a:endParaRPr lang="en-US" sz="4800" b="1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 Black" panose="020B0A04020102020204" charset="0"/>
              <a:cs typeface="Arial Black" panose="020B0A04020102020204" charset="0"/>
              <a:sym typeface="+mn-ea"/>
            </a:endParaRPr>
          </a:p>
        </p:txBody>
      </p:sp>
      <p:sp>
        <p:nvSpPr>
          <p:cNvPr id="3" name="Text Box 2"/>
          <p:cNvSpPr txBox="1"/>
          <p:nvPr/>
        </p:nvSpPr>
        <p:spPr>
          <a:xfrm>
            <a:off x="1960245" y="3853815"/>
            <a:ext cx="6096000" cy="3371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0" indent="0">
              <a:spcBef>
                <a:spcPct val="0"/>
              </a:spcBef>
              <a:spcAft>
                <a:spcPct val="6000"/>
              </a:spcAft>
            </a:pPr>
            <a:endParaRPr lang="en-US" sz="1600">
              <a:latin typeface="var(--framer-blockquote-font-family"/>
              <a:ea typeface="var(--framer-blockquote-font-family"/>
              <a:sym typeface="+mn-ea"/>
            </a:endParaRPr>
          </a:p>
        </p:txBody>
      </p:sp>
      <p:pic>
        <p:nvPicPr>
          <p:cNvPr id="5" name="Picture 4" descr="Linear and non linear function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4470" y="1557655"/>
            <a:ext cx="5871845" cy="3090545"/>
          </a:xfrm>
          <a:prstGeom prst="rect">
            <a:avLst/>
          </a:prstGeom>
        </p:spPr>
      </p:pic>
      <p:sp>
        <p:nvSpPr>
          <p:cNvPr id="6" name="Text Box 5"/>
          <p:cNvSpPr txBox="1"/>
          <p:nvPr/>
        </p:nvSpPr>
        <p:spPr>
          <a:xfrm>
            <a:off x="727075" y="5991860"/>
            <a:ext cx="1094613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en-US"/>
              <a:t>https://www.superannotate.com/blog/activation-functions-in-neural-networks</a:t>
            </a:r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2810" y="1968500"/>
            <a:ext cx="6267450" cy="3568065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/>
          <p:nvPr/>
        </p:nvPicPr>
        <p:blipFill>
          <a:blip r:embed="rId1"/>
          <a:srcRect b="56070"/>
          <a:stretch>
            <a:fillRect/>
          </a:stretch>
        </p:blipFill>
        <p:spPr>
          <a:xfrm>
            <a:off x="0" y="9728"/>
            <a:ext cx="11989435" cy="685863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/>
          <p:nvPr/>
        </p:nvPicPr>
        <p:blipFill>
          <a:blip r:embed="rId1"/>
          <a:srcRect t="40592"/>
          <a:stretch>
            <a:fillRect/>
          </a:stretch>
        </p:blipFill>
        <p:spPr>
          <a:xfrm>
            <a:off x="0" y="75565"/>
            <a:ext cx="12114530" cy="678243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10847</Words>
  <Application>WPS Presentation</Application>
  <PresentationFormat>Widescreen</PresentationFormat>
  <Paragraphs>334</Paragraphs>
  <Slides>25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25</vt:i4>
      </vt:variant>
    </vt:vector>
  </HeadingPairs>
  <TitlesOfParts>
    <vt:vector size="47" baseType="lpstr">
      <vt:lpstr>Arial</vt:lpstr>
      <vt:lpstr>SimSun</vt:lpstr>
      <vt:lpstr>Wingdings</vt:lpstr>
      <vt:lpstr>Tomorrow</vt:lpstr>
      <vt:lpstr>Segoe Print</vt:lpstr>
      <vt:lpstr>Arial</vt:lpstr>
      <vt:lpstr>Google Sans</vt:lpstr>
      <vt:lpstr>Calibri Light</vt:lpstr>
      <vt:lpstr>Calibri</vt:lpstr>
      <vt:lpstr>Microsoft YaHei</vt:lpstr>
      <vt:lpstr>Arial Unicode MS</vt:lpstr>
      <vt:lpstr>RctvjbXddlcgHrcvdjHelveticaNeueLTStd-BdCn</vt:lpstr>
      <vt:lpstr>QkdyncPgkddySjtfmrUtopiaStd</vt:lpstr>
      <vt:lpstr>CtdhkhGrqdxpFqrrvlUtopiaStd-Italic</vt:lpstr>
      <vt:lpstr>Rubik</vt:lpstr>
      <vt:lpstr>Manrope</vt:lpstr>
      <vt:lpstr>Inter</vt:lpstr>
      <vt:lpstr>var(--framer-blockquote-font-family</vt:lpstr>
      <vt:lpstr>var(--framer-blockquote-font-family-bold</vt:lpstr>
      <vt:lpstr>STK Bureau Sans Book</vt:lpstr>
      <vt:lpstr>Arial Black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WPS Presentation</dc:title>
  <dc:creator>hp</dc:creator>
  <cp:lastModifiedBy>hp</cp:lastModifiedBy>
  <cp:revision>347</cp:revision>
  <dcterms:created xsi:type="dcterms:W3CDTF">2025-02-02T08:06:00Z</dcterms:created>
  <dcterms:modified xsi:type="dcterms:W3CDTF">2026-06-09T11:11:44Z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9D96F5E932AF4648AA1B99CD0A39ECB7_11</vt:lpwstr>
  </property>
  <property fmtid="{D5CDD505-2E9C-101B-9397-08002B2CF9AE}" pid="3" name="KSOProductBuildVer">
    <vt:lpwstr>1033-12.1.0.26880</vt:lpwstr>
  </property>
</Properties>
</file>