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328" r:id="rId27"/>
    <p:sldId id="329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331" r:id="rId36"/>
    <p:sldId id="286" r:id="rId37"/>
    <p:sldId id="287" r:id="rId38"/>
    <p:sldId id="288" r:id="rId39"/>
    <p:sldId id="289" r:id="rId40"/>
    <p:sldId id="290" r:id="rId41"/>
    <p:sldId id="332" r:id="rId42"/>
    <p:sldId id="333" r:id="rId43"/>
    <p:sldId id="291" r:id="rId44"/>
    <p:sldId id="292" r:id="rId45"/>
    <p:sldId id="334" r:id="rId46"/>
    <p:sldId id="293" r:id="rId47"/>
    <p:sldId id="294" r:id="rId48"/>
    <p:sldId id="330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35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</p:sldIdLst>
  <p:sldSz cx="9144000" cy="5143500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e6d877b5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e6d877b5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g3f5e6d877b5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7dbbd7a62_0_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7dbbd7a62_0_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g3f7dbbd7a62_0_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7dbbd7a62_0_19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f7dbbd7a62_0_19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g3f7dbbd7a62_0_19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dbbd7a62_0_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f7dbbd7a62_0_1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g3f7dbbd7a62_0_1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dbbd7a62_0_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7dbbd7a62_0_2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g3f7dbbd7a62_0_2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7dbbd7a62_0_6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7dbbd7a62_0_6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g3f7dbbd7a62_0_6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1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dbbd7a62_0_6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f7dbbd7a62_0_6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g3f7dbbd7a62_0_6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dbbd7a62_0_1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f7dbbd7a62_0_13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g3f7dbbd7a62_0_13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1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4" name="Google Shape;254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0" name="Google Shape;270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6" name="Google Shape;296;p16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2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2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dbbd7a62_0_18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3f7dbbd7a62_0_18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g3f7dbbd7a62_0_18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2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0" name="Google Shape;340;p2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4" name="Google Shape;354;p2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5" name="Google Shape;355;p2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0" name="Google Shape;380;p2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2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6" name="Google Shape;406;p2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3" name="Google Shape;413;p3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3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8" name="Google Shape;428;p3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3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8" name="Google Shape;448;p3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3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3" name="Google Shape;463;p3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p3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8" name="Google Shape;478;p3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3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1" name="Google Shape;501;p3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p3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5" name="Google Shape;525;p3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3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0" name="Google Shape;540;p3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p3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p3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3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4" name="Google Shape;584;p3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4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9" name="Google Shape;599;p4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4" name="Google Shape;624;p4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5" name="Google Shape;625;p4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8" name="Google Shape;638;p4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9" name="Google Shape;639;p4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3" name="Google Shape;653;p4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4" name="Google Shape;654;p4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p4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9" name="Google Shape;669;p4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4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6" name="Google Shape;676;p4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4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1" name="Google Shape;691;p4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4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7" name="Google Shape;717;p4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1" name="Google Shape;731;p4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2" name="Google Shape;732;p4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5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7" name="Google Shape;747;p5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5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2" name="Google Shape;762;p5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2" name="Google Shape;792;p5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3" name="Google Shape;793;p5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5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8" name="Google Shape;808;p5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4" name="Google Shape;814;p5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5" name="Google Shape;815;p5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9" name="Google Shape;829;p5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0" name="Google Shape;830;p5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" name="Google Shape;850;p5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1" name="Google Shape;851;p5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5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1" name="Google Shape;871;p5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f977c4936b_0_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f977c4936b_0_2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5" name="Google Shape;885;g3f977c4936b_0_2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0" name="Google Shape;890;p5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1" name="Google Shape;891;p5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6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7" name="Google Shape;897;p6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3" name="Google Shape;913;p6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4" name="Google Shape;914;p6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6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8" name="Google Shape;928;p6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9" name="Google Shape;929;p6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3" name="Google Shape;943;p6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4" name="Google Shape;944;p6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8" name="Google Shape;968;p6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9" name="Google Shape;969;p6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3" name="Google Shape;983;p6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4" name="Google Shape;984;p6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9" name="Google Shape;989;p6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0" name="Google Shape;990;p6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5" name="Google Shape;995;p6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6" name="Google Shape;996;p6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1" name="Google Shape;1001;p6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2" name="Google Shape;1002;p6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7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Google Shape;1030;p7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1" name="Google Shape;1031;p7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2" name="Google Shape;1062;p7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3" name="Google Shape;1063;p7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7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7" name="Google Shape;1077;p7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8" name="Google Shape;1078;p7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3" name="Google Shape;1103;p7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4" name="Google Shape;1104;p7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7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9" name="Google Shape;1139;p7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0" name="Google Shape;1140;p7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6" name="Google Shape;1146;p7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7" name="Google Shape;1147;p7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2" name="Google Shape;1182;p7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3" name="Google Shape;1183;p7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7" name="Google Shape;1197;p7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8" name="Google Shape;1198;p7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6" name="Google Shape;1206;p7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7" name="Google Shape;1207;p7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7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7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3" name="Google Shape;1233;p7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6.png"/><Relationship Id="rId2" Type="http://schemas.openxmlformats.org/officeDocument/2006/relationships/image" Target="../media/image36.png"/><Relationship Id="rId1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1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8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58.png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36.png"/><Relationship Id="rId1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1.png"/><Relationship Id="rId1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42.png"/><Relationship Id="rId1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2.png"/><Relationship Id="rId2" Type="http://schemas.openxmlformats.org/officeDocument/2006/relationships/image" Target="../media/image88.png"/><Relationship Id="rId1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91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1" Type="http://schemas.openxmlformats.org/officeDocument/2006/relationships/image" Target="../media/image9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image" Target="../media/image95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2" Type="http://schemas.openxmlformats.org/officeDocument/2006/relationships/image" Target="../media/image82.png"/><Relationship Id="rId1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7.png"/><Relationship Id="rId2" Type="http://schemas.openxmlformats.org/officeDocument/2006/relationships/image" Target="../media/image42.png"/><Relationship Id="rId1" Type="http://schemas.openxmlformats.org/officeDocument/2006/relationships/image" Target="../media/image8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2.png"/></Relationships>
</file>

<file path=ppt/slides/_rels/slide7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104.png"/><Relationship Id="rId3" Type="http://schemas.openxmlformats.org/officeDocument/2006/relationships/image" Target="../media/image89.png"/><Relationship Id="rId2" Type="http://schemas.openxmlformats.org/officeDocument/2006/relationships/image" Target="../media/image59.png"/><Relationship Id="rId1" Type="http://schemas.openxmlformats.org/officeDocument/2006/relationships/image" Target="../media/image103.png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3.png"/><Relationship Id="rId3" Type="http://schemas.openxmlformats.org/officeDocument/2006/relationships/image" Target="../media/image2.png"/><Relationship Id="rId2" Type="http://schemas.openxmlformats.org/officeDocument/2006/relationships/image" Target="../media/image82.png"/><Relationship Id="rId1" Type="http://schemas.openxmlformats.org/officeDocument/2006/relationships/image" Target="../media/image90.png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5.png"/><Relationship Id="rId2" Type="http://schemas.openxmlformats.org/officeDocument/2006/relationships/image" Target="../media/image27.png"/><Relationship Id="rId1" Type="http://schemas.openxmlformats.org/officeDocument/2006/relationships/image" Target="../media/image31.png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7.png"/><Relationship Id="rId3" Type="http://schemas.openxmlformats.org/officeDocument/2006/relationships/image" Target="../media/image34.png"/><Relationship Id="rId2" Type="http://schemas.openxmlformats.org/officeDocument/2006/relationships/image" Target="../media/image106.png"/><Relationship Id="rId1" Type="http://schemas.openxmlformats.org/officeDocument/2006/relationships/image" Target="../media/image7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98.png"/><Relationship Id="rId4" Type="http://schemas.openxmlformats.org/officeDocument/2006/relationships/image" Target="../media/image11.png"/><Relationship Id="rId3" Type="http://schemas.openxmlformats.org/officeDocument/2006/relationships/image" Target="../media/image64.png"/><Relationship Id="rId2" Type="http://schemas.openxmlformats.org/officeDocument/2006/relationships/image" Target="../media/image65.png"/><Relationship Id="rId1" Type="http://schemas.openxmlformats.org/officeDocument/2006/relationships/image" Target="../media/image63.png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2.png"/><Relationship Id="rId2" Type="http://schemas.openxmlformats.org/officeDocument/2006/relationships/image" Target="../media/image42.png"/><Relationship Id="rId1" Type="http://schemas.openxmlformats.org/officeDocument/2006/relationships/image" Target="../media/image8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6.png"/><Relationship Id="rId3" Type="http://schemas.openxmlformats.org/officeDocument/2006/relationships/image" Target="../media/image79.png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9.png"/><Relationship Id="rId2" Type="http://schemas.openxmlformats.org/officeDocument/2006/relationships/image" Target="../media/image110.png"/><Relationship Id="rId1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0" y="105156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40080" y="1051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FFD7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 END-TO-END TEACHING CURRICULUM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371600"/>
            <a:ext cx="676656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Zomato AI Data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 panose="020B0604020202020204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Engineering Project</a:t>
            </a:r>
            <a:endParaRPr sz="4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017520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DEE"/>
              </a:buClr>
              <a:buSzPts val="1350"/>
              <a:buFont typeface="Arial" panose="020B0604020202020204"/>
              <a:buNone/>
            </a:pPr>
            <a:r>
              <a:rPr lang="en-US" sz="1350" b="0" i="0" u="none" strike="noStrike" cap="none">
                <a:solidFill>
                  <a:srgbClr val="FFEDE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raw CSVs to an AI-powered warehouse — a complete modern data stack, built on one food-delivery dataset.</a:t>
            </a: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3886200"/>
            <a:ext cx="439278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1"/>
          <p:cNvSpPr/>
          <p:nvPr/>
        </p:nvSpPr>
        <p:spPr>
          <a:xfrm>
            <a:off x="640080" y="3886200"/>
            <a:ext cx="43927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S3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07374" y="3886200"/>
            <a:ext cx="1016630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1"/>
          <p:cNvSpPr/>
          <p:nvPr/>
        </p:nvSpPr>
        <p:spPr>
          <a:xfrm>
            <a:off x="1207374" y="3886200"/>
            <a:ext cx="101663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Snowflake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352020" y="3886200"/>
            <a:ext cx="521757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1"/>
          <p:cNvSpPr/>
          <p:nvPr/>
        </p:nvSpPr>
        <p:spPr>
          <a:xfrm>
            <a:off x="2352020" y="3886200"/>
            <a:ext cx="521757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001792" y="3886200"/>
            <a:ext cx="851672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1"/>
          <p:cNvSpPr/>
          <p:nvPr/>
        </p:nvSpPr>
        <p:spPr>
          <a:xfrm>
            <a:off x="3001792" y="3886200"/>
            <a:ext cx="85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981480" y="3886200"/>
            <a:ext cx="769193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1"/>
          <p:cNvSpPr/>
          <p:nvPr/>
        </p:nvSpPr>
        <p:spPr>
          <a:xfrm>
            <a:off x="3981480" y="3886200"/>
            <a:ext cx="769193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Docker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878690" y="3886200"/>
            <a:ext cx="769193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1"/>
          <p:cNvSpPr/>
          <p:nvPr/>
        </p:nvSpPr>
        <p:spPr>
          <a:xfrm>
            <a:off x="4878690" y="3886200"/>
            <a:ext cx="769193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OpenAI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75899" y="3886200"/>
            <a:ext cx="1016630" cy="329184"/>
          </a:xfrm>
          <a:prstGeom prst="roundRect">
            <a:avLst>
              <a:gd name="adj" fmla="val 50000"/>
            </a:avLst>
          </a:prstGeom>
          <a:solidFill>
            <a:srgbClr val="C225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1"/>
          <p:cNvSpPr/>
          <p:nvPr/>
        </p:nvSpPr>
        <p:spPr>
          <a:xfrm>
            <a:off x="5775899" y="3886200"/>
            <a:ext cx="101663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Streamlit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100"/>
              <a:buFont typeface="Arial" panose="020B0604020202020204"/>
              <a:buNone/>
            </a:pPr>
            <a:r>
              <a:rPr lang="en-US" sz="1100" b="0" i="1" u="none" strike="noStrike" cap="none">
                <a:solidFill>
                  <a:srgbClr val="FFD7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Batch pipeline · Medallion architecture · LLM enrichment, RAG &amp; text-to-SQL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BEFORE WE START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Prerequisites — you need surprisingly little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02945" y="1216333"/>
            <a:ext cx="3968400" cy="1463100"/>
          </a:xfrm>
          <a:prstGeom prst="roundRect">
            <a:avLst>
              <a:gd name="adj" fmla="val 4375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3"/>
          <p:cNvSpPr/>
          <p:nvPr/>
        </p:nvSpPr>
        <p:spPr>
          <a:xfrm>
            <a:off x="704113" y="13809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4" name="Google Shape;44;p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41" y="14906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280185" y="1380925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Basic SQL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22401" y="1947853"/>
            <a:ext cx="3529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SELECT, GROUP BY, JOIN. If you can write a query with a filter and an aggregate, you're ready.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672609" y="1216333"/>
            <a:ext cx="3968400" cy="1463100"/>
          </a:xfrm>
          <a:prstGeom prst="roundRect">
            <a:avLst>
              <a:gd name="adj" fmla="val 4375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3"/>
          <p:cNvSpPr/>
          <p:nvPr/>
        </p:nvSpPr>
        <p:spPr>
          <a:xfrm>
            <a:off x="4873777" y="138092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" name="Google Shape;49;p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505" y="149065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5449849" y="1380925"/>
            <a:ext cx="300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Basic Python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892065" y="1947853"/>
            <a:ext cx="3529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 a script, read a function. No frameworks, no advanced patterns required.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2920" y="3036220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Cross-cutting tools you'll pick up along the way: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02920" y="3383692"/>
            <a:ext cx="499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3"/>
          <p:cNvSpPr/>
          <p:nvPr/>
        </p:nvSpPr>
        <p:spPr>
          <a:xfrm>
            <a:off x="502920" y="3383692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SQL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130198" y="3383692"/>
            <a:ext cx="724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Google Shape;56;p3"/>
          <p:cNvSpPr/>
          <p:nvPr/>
        </p:nvSpPr>
        <p:spPr>
          <a:xfrm>
            <a:off x="1130198" y="3383692"/>
            <a:ext cx="724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982419" y="3383692"/>
            <a:ext cx="1174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3"/>
          <p:cNvSpPr/>
          <p:nvPr/>
        </p:nvSpPr>
        <p:spPr>
          <a:xfrm>
            <a:off x="1982419" y="3383692"/>
            <a:ext cx="1174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 S3 + IAM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84525" y="3383692"/>
            <a:ext cx="949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3"/>
          <p:cNvSpPr/>
          <p:nvPr/>
        </p:nvSpPr>
        <p:spPr>
          <a:xfrm>
            <a:off x="3284525" y="3383692"/>
            <a:ext cx="949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Snowflake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361688" y="3383692"/>
            <a:ext cx="499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" name="Google Shape;62;p3"/>
          <p:cNvSpPr/>
          <p:nvPr/>
        </p:nvSpPr>
        <p:spPr>
          <a:xfrm>
            <a:off x="4361688" y="3383692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88966" y="3383692"/>
            <a:ext cx="799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3"/>
          <p:cNvSpPr/>
          <p:nvPr/>
        </p:nvSpPr>
        <p:spPr>
          <a:xfrm>
            <a:off x="4988966" y="3383692"/>
            <a:ext cx="799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916168" y="3383692"/>
            <a:ext cx="724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3"/>
          <p:cNvSpPr/>
          <p:nvPr/>
        </p:nvSpPr>
        <p:spPr>
          <a:xfrm>
            <a:off x="5916168" y="3383692"/>
            <a:ext cx="724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Docker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768389" y="3383692"/>
            <a:ext cx="1024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3"/>
          <p:cNvSpPr/>
          <p:nvPr/>
        </p:nvSpPr>
        <p:spPr>
          <a:xfrm>
            <a:off x="6768389" y="3383692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OpenAI API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3822604"/>
            <a:ext cx="949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70;p3"/>
          <p:cNvSpPr/>
          <p:nvPr/>
        </p:nvSpPr>
        <p:spPr>
          <a:xfrm>
            <a:off x="502920" y="3822604"/>
            <a:ext cx="949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Streamlit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80083" y="3822604"/>
            <a:ext cx="499200" cy="329100"/>
          </a:xfrm>
          <a:prstGeom prst="roundRect">
            <a:avLst>
              <a:gd name="adj" fmla="val 50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3"/>
          <p:cNvSpPr/>
          <p:nvPr/>
        </p:nvSpPr>
        <p:spPr>
          <a:xfrm>
            <a:off x="1580083" y="3822604"/>
            <a:ext cx="499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Git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 i="0" u="none" strike="noStrike" cap="none">
                <a:solidFill>
                  <a:srgbClr val="C225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" y="235174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 &amp; Architecture</a:t>
            </a:r>
            <a:endParaRPr sz="2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g3f5e6d877b5_0_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959100" y="191475"/>
            <a:ext cx="32258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f7dbbd7a62_0_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99825" y="1575688"/>
            <a:ext cx="2988174" cy="199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3f7dbbd7a62_0_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440399" y="152400"/>
            <a:ext cx="2388726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f7dbbd7a62_0_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11550" y="319425"/>
            <a:ext cx="1256275" cy="12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f7dbbd7a62_0_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21425" y="2002613"/>
            <a:ext cx="2168151" cy="11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f7dbbd7a62_0_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6905068" y="3711350"/>
            <a:ext cx="1000876" cy="8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dbbd7a62_0_191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g3f7dbbd7a62_0_191"/>
          <p:cNvSpPr/>
          <p:nvPr/>
        </p:nvSpPr>
        <p:spPr>
          <a:xfrm>
            <a:off x="1271250" y="2302350"/>
            <a:ext cx="6601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4100" b="1">
                <a:solidFill>
                  <a:srgbClr val="FFFFFF"/>
                </a:solidFill>
              </a:rPr>
              <a:t>I NEED AI DATA PIPELINE</a:t>
            </a:r>
            <a:endParaRPr sz="4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dbbd7a62_0_25"/>
          <p:cNvSpPr/>
          <p:nvPr/>
        </p:nvSpPr>
        <p:spPr>
          <a:xfrm>
            <a:off x="502920" y="512064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dataset — a food-delivery business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g3f7dbbd7a62_0_25"/>
          <p:cNvSpPr/>
          <p:nvPr/>
        </p:nvSpPr>
        <p:spPr>
          <a:xfrm>
            <a:off x="502920" y="969264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Familiar domain, real analytical questions: growth, cancellations, delivery speed, customer sentiment.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g3f7dbbd7a62_0_25"/>
          <p:cNvSpPr/>
          <p:nvPr/>
        </p:nvSpPr>
        <p:spPr>
          <a:xfrm>
            <a:off x="502920" y="1508760"/>
            <a:ext cx="2578500" cy="1591200"/>
          </a:xfrm>
          <a:prstGeom prst="roundRect">
            <a:avLst>
              <a:gd name="adj" fmla="val 402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g3f7dbbd7a62_0_25"/>
          <p:cNvSpPr/>
          <p:nvPr/>
        </p:nvSpPr>
        <p:spPr>
          <a:xfrm>
            <a:off x="704088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7" name="Google Shape;117;g3f7dbbd7a62_0_2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7dbbd7a62_0_25"/>
          <p:cNvSpPr/>
          <p:nvPr/>
        </p:nvSpPr>
        <p:spPr>
          <a:xfrm>
            <a:off x="1280160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g3f7dbbd7a62_0_25"/>
          <p:cNvSpPr/>
          <p:nvPr/>
        </p:nvSpPr>
        <p:spPr>
          <a:xfrm>
            <a:off x="722376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Who orders — city, signup date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g3f7dbbd7a62_0_25"/>
          <p:cNvSpPr/>
          <p:nvPr/>
        </p:nvSpPr>
        <p:spPr>
          <a:xfrm>
            <a:off x="3282696" y="1508760"/>
            <a:ext cx="2578500" cy="1591200"/>
          </a:xfrm>
          <a:prstGeom prst="roundRect">
            <a:avLst>
              <a:gd name="adj" fmla="val 402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g3f7dbbd7a62_0_25"/>
          <p:cNvSpPr/>
          <p:nvPr/>
        </p:nvSpPr>
        <p:spPr>
          <a:xfrm>
            <a:off x="3483864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2" name="Google Shape;122;g3f7dbbd7a62_0_2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93592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f7dbbd7a62_0_25"/>
          <p:cNvSpPr/>
          <p:nvPr/>
        </p:nvSpPr>
        <p:spPr>
          <a:xfrm>
            <a:off x="4059936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restaurants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g3f7dbbd7a62_0_25"/>
          <p:cNvSpPr/>
          <p:nvPr/>
        </p:nvSpPr>
        <p:spPr>
          <a:xfrm>
            <a:off x="3502152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Who sells — cuisine, city, rating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g3f7dbbd7a62_0_25"/>
          <p:cNvSpPr/>
          <p:nvPr/>
        </p:nvSpPr>
        <p:spPr>
          <a:xfrm>
            <a:off x="6062472" y="1508760"/>
            <a:ext cx="2578500" cy="1591200"/>
          </a:xfrm>
          <a:prstGeom prst="roundRect">
            <a:avLst>
              <a:gd name="adj" fmla="val 402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g3f7dbbd7a62_0_25"/>
          <p:cNvSpPr/>
          <p:nvPr/>
        </p:nvSpPr>
        <p:spPr>
          <a:xfrm>
            <a:off x="6263640" y="16733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27;g3f7dbbd7a62_0_2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73368" y="17830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f7dbbd7a62_0_25"/>
          <p:cNvSpPr/>
          <p:nvPr/>
        </p:nvSpPr>
        <p:spPr>
          <a:xfrm>
            <a:off x="6839712" y="1673352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menu_items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g3f7dbbd7a62_0_25"/>
          <p:cNvSpPr/>
          <p:nvPr/>
        </p:nvSpPr>
        <p:spPr>
          <a:xfrm>
            <a:off x="6281928" y="2240280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What's sold — item, price, category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g3f7dbbd7a62_0_25"/>
          <p:cNvSpPr/>
          <p:nvPr/>
        </p:nvSpPr>
        <p:spPr>
          <a:xfrm>
            <a:off x="502920" y="3300984"/>
            <a:ext cx="2578500" cy="1591200"/>
          </a:xfrm>
          <a:prstGeom prst="roundRect">
            <a:avLst>
              <a:gd name="adj" fmla="val 402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g3f7dbbd7a62_0_25"/>
          <p:cNvSpPr/>
          <p:nvPr/>
        </p:nvSpPr>
        <p:spPr>
          <a:xfrm>
            <a:off x="704088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32;g3f7dbbd7a62_0_2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3816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7dbbd7a62_0_25"/>
          <p:cNvSpPr/>
          <p:nvPr/>
        </p:nvSpPr>
        <p:spPr>
          <a:xfrm>
            <a:off x="1280160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orders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g3f7dbbd7a62_0_25"/>
          <p:cNvSpPr/>
          <p:nvPr/>
        </p:nvSpPr>
        <p:spPr>
          <a:xfrm>
            <a:off x="722376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core fact — status, amounts, times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g3f7dbbd7a62_0_25"/>
          <p:cNvSpPr/>
          <p:nvPr/>
        </p:nvSpPr>
        <p:spPr>
          <a:xfrm>
            <a:off x="3282696" y="3300984"/>
            <a:ext cx="2578500" cy="1591200"/>
          </a:xfrm>
          <a:prstGeom prst="roundRect">
            <a:avLst>
              <a:gd name="adj" fmla="val 402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g3f7dbbd7a62_0_25"/>
          <p:cNvSpPr/>
          <p:nvPr/>
        </p:nvSpPr>
        <p:spPr>
          <a:xfrm>
            <a:off x="3483864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37;g3f7dbbd7a62_0_25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593592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7dbbd7a62_0_25"/>
          <p:cNvSpPr/>
          <p:nvPr/>
        </p:nvSpPr>
        <p:spPr>
          <a:xfrm>
            <a:off x="4059936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order_items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g3f7dbbd7a62_0_25"/>
          <p:cNvSpPr/>
          <p:nvPr/>
        </p:nvSpPr>
        <p:spPr>
          <a:xfrm>
            <a:off x="3502152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Line items — order × menu item × qty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Google Shape;140;g3f7dbbd7a62_0_25"/>
          <p:cNvSpPr/>
          <p:nvPr/>
        </p:nvSpPr>
        <p:spPr>
          <a:xfrm>
            <a:off x="6062472" y="3300984"/>
            <a:ext cx="2578500" cy="1591200"/>
          </a:xfrm>
          <a:prstGeom prst="roundRect">
            <a:avLst>
              <a:gd name="adj" fmla="val 402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g3f7dbbd7a62_0_25"/>
          <p:cNvSpPr/>
          <p:nvPr/>
        </p:nvSpPr>
        <p:spPr>
          <a:xfrm>
            <a:off x="6263640" y="34655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2" name="Google Shape;142;g3f7dbbd7a62_0_25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373368" y="35753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7dbbd7a62_0_25"/>
          <p:cNvSpPr/>
          <p:nvPr/>
        </p:nvSpPr>
        <p:spPr>
          <a:xfrm>
            <a:off x="6839712" y="3465576"/>
            <a:ext cx="1618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reviews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g3f7dbbd7a62_0_25"/>
          <p:cNvSpPr/>
          <p:nvPr/>
        </p:nvSpPr>
        <p:spPr>
          <a:xfrm>
            <a:off x="6281928" y="4032504"/>
            <a:ext cx="21396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Free-text comments + ratings (AI fuel)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f7dbbd7a62_0_62"/>
          <p:cNvPicPr preferRelativeResize="0"/>
          <p:nvPr/>
        </p:nvPicPr>
        <p:blipFill rotWithShape="1">
          <a:blip r:embed="rId1"/>
          <a:srcRect l="6780" t="-7210" r="-6780" b="7210"/>
          <a:stretch>
            <a:fillRect/>
          </a:stretch>
        </p:blipFill>
        <p:spPr>
          <a:xfrm>
            <a:off x="152400" y="93975"/>
            <a:ext cx="8701376" cy="489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volume — why this needs a warehouse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0292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15"/>
          <p:cNvSpPr/>
          <p:nvPr/>
        </p:nvSpPr>
        <p:spPr>
          <a:xfrm>
            <a:off x="50292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 panose="020B0604020202020204"/>
              <a:buNone/>
            </a:pPr>
            <a:r>
              <a:rPr lang="en-US" sz="38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10M</a:t>
            </a:r>
            <a:endParaRPr sz="3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6751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orders — the core fact table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29184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15"/>
          <p:cNvSpPr/>
          <p:nvPr/>
        </p:nvSpPr>
        <p:spPr>
          <a:xfrm>
            <a:off x="32918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 panose="020B0604020202020204"/>
              <a:buNone/>
            </a:pPr>
            <a:r>
              <a:rPr lang="en-US" sz="38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23M</a:t>
            </a:r>
            <a:endParaRPr sz="3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345643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order line items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6080760" y="155448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15"/>
          <p:cNvSpPr/>
          <p:nvPr/>
        </p:nvSpPr>
        <p:spPr>
          <a:xfrm>
            <a:off x="608076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800"/>
              <a:buFont typeface="Arial" panose="020B0604020202020204"/>
              <a:buNone/>
            </a:pPr>
            <a:r>
              <a:rPr lang="en-US" sz="38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300K</a:t>
            </a:r>
            <a:endParaRPr sz="3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245352" y="2560320"/>
            <a:ext cx="22311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free-text reviews (the AI fuel)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7dbbd7a62_0_66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g3f7dbbd7a62_0_66"/>
          <p:cNvSpPr/>
          <p:nvPr/>
        </p:nvSpPr>
        <p:spPr>
          <a:xfrm>
            <a:off x="2531400" y="2290900"/>
            <a:ext cx="4081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4100" b="1">
                <a:solidFill>
                  <a:srgbClr val="FFFFFF"/>
                </a:solidFill>
              </a:rPr>
              <a:t>Load Data To S3</a:t>
            </a:r>
            <a:endParaRPr sz="4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dbbd7a62_0_130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g3f7dbbd7a62_0_130"/>
          <p:cNvSpPr/>
          <p:nvPr/>
        </p:nvSpPr>
        <p:spPr>
          <a:xfrm>
            <a:off x="457200" y="4892040"/>
            <a:ext cx="36576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 panose="020F0502020204030204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AWS Masterclass</a:t>
            </a:r>
            <a:endParaRPr sz="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g3f7dbbd7a62_0_130"/>
          <p:cNvSpPr/>
          <p:nvPr/>
        </p:nvSpPr>
        <p:spPr>
          <a:xfrm>
            <a:off x="8229600" y="4892040"/>
            <a:ext cx="457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 panose="020F0502020204030204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r>
            <a:endParaRPr sz="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g3f7dbbd7a62_0_130"/>
          <p:cNvSpPr/>
          <p:nvPr/>
        </p:nvSpPr>
        <p:spPr>
          <a:xfrm>
            <a:off x="457200" y="27432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 panose="020B0603020202020204"/>
              <a:buNone/>
            </a:pPr>
            <a:r>
              <a:rPr lang="en-US" sz="2800" b="1" i="0" u="none" strike="noStrike" cap="none">
                <a:solidFill>
                  <a:srgbClr val="1E293B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Amazon S3 — Core Concepts</a:t>
            </a:r>
            <a:endParaRPr sz="2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2" name="Google Shape;182;g3f7dbbd7a62_0_130"/>
          <p:cNvSpPr/>
          <p:nvPr/>
        </p:nvSpPr>
        <p:spPr>
          <a:xfrm>
            <a:off x="457200" y="1097280"/>
            <a:ext cx="5029200" cy="210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g3f7dbbd7a62_0_130"/>
          <p:cNvSpPr/>
          <p:nvPr/>
        </p:nvSpPr>
        <p:spPr>
          <a:xfrm>
            <a:off x="457200" y="1097280"/>
            <a:ext cx="54900" cy="2103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" name="Google Shape;184;g3f7dbbd7a62_0_130"/>
          <p:cNvSpPr/>
          <p:nvPr/>
        </p:nvSpPr>
        <p:spPr>
          <a:xfrm>
            <a:off x="731520" y="123444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 panose="020F0502020204030204"/>
              <a:buChar char="•"/>
            </a:pPr>
            <a:r>
              <a:rPr lang="en-US" sz="1600" b="0" i="0" u="none" strike="noStrike" cap="none">
                <a:solidFill>
                  <a:srgbClr val="47556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 storage with 99.999999999% (11 9s) durability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 panose="020F0502020204030204"/>
              <a:buChar char="•"/>
            </a:pPr>
            <a:r>
              <a:rPr lang="en-US" sz="1600" b="0" i="0" u="none" strike="noStrike" cap="none">
                <a:solidFill>
                  <a:srgbClr val="47556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Store unlimited data — objects up to 5 TB each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 panose="020F0502020204030204"/>
              <a:buChar char="•"/>
            </a:pPr>
            <a:r>
              <a:rPr lang="en-US" sz="1600" b="0" i="0" u="none" strike="noStrike" cap="none">
                <a:solidFill>
                  <a:srgbClr val="47556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Buckets are region-specific, names are globally unique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683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 panose="020F0502020204030204"/>
              <a:buChar char="•"/>
            </a:pPr>
            <a:r>
              <a:rPr lang="en-US" sz="1600" b="0" i="0" u="none" strike="noStrike" cap="none">
                <a:solidFill>
                  <a:srgbClr val="47556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Key-value store: key = object name, value = data + metadata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g3f7dbbd7a62_0_130"/>
          <p:cNvSpPr/>
          <p:nvPr/>
        </p:nvSpPr>
        <p:spPr>
          <a:xfrm>
            <a:off x="5760720" y="109728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g3f7dbbd7a62_0_130"/>
          <p:cNvSpPr/>
          <p:nvPr/>
        </p:nvSpPr>
        <p:spPr>
          <a:xfrm>
            <a:off x="5852160" y="117043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 panose="020B0603020202020204"/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Versioning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g3f7dbbd7a62_0_130"/>
          <p:cNvSpPr/>
          <p:nvPr/>
        </p:nvSpPr>
        <p:spPr>
          <a:xfrm>
            <a:off x="585216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Keep multiple variants of objects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g3f7dbbd7a62_0_130"/>
          <p:cNvSpPr/>
          <p:nvPr/>
        </p:nvSpPr>
        <p:spPr>
          <a:xfrm>
            <a:off x="7406640" y="109728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g3f7dbbd7a62_0_130"/>
          <p:cNvSpPr/>
          <p:nvPr/>
        </p:nvSpPr>
        <p:spPr>
          <a:xfrm>
            <a:off x="7498080" y="117043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 panose="020B0603020202020204"/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Encryption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g3f7dbbd7a62_0_130"/>
          <p:cNvSpPr/>
          <p:nvPr/>
        </p:nvSpPr>
        <p:spPr>
          <a:xfrm>
            <a:off x="749808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SSE-S3, SSE-KMS, SSE-C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g3f7dbbd7a62_0_130"/>
          <p:cNvSpPr/>
          <p:nvPr/>
        </p:nvSpPr>
        <p:spPr>
          <a:xfrm>
            <a:off x="5760720" y="219456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g3f7dbbd7a62_0_130"/>
          <p:cNvSpPr/>
          <p:nvPr/>
        </p:nvSpPr>
        <p:spPr>
          <a:xfrm>
            <a:off x="5852160" y="22677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 panose="020B0603020202020204"/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Lifecycle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g3f7dbbd7a62_0_130"/>
          <p:cNvSpPr/>
          <p:nvPr/>
        </p:nvSpPr>
        <p:spPr>
          <a:xfrm>
            <a:off x="585216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Auto-transition between storage classes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g3f7dbbd7a62_0_130"/>
          <p:cNvSpPr/>
          <p:nvPr/>
        </p:nvSpPr>
        <p:spPr>
          <a:xfrm>
            <a:off x="7406640" y="2194560"/>
            <a:ext cx="1554600" cy="960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dist="127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5" name="Google Shape;195;g3f7dbbd7a62_0_130"/>
          <p:cNvSpPr/>
          <p:nvPr/>
        </p:nvSpPr>
        <p:spPr>
          <a:xfrm>
            <a:off x="7498080" y="2267712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200"/>
              <a:buFont typeface="Trebuchet MS" panose="020B0603020202020204"/>
              <a:buNone/>
            </a:pPr>
            <a:r>
              <a:rPr lang="en-US" sz="1200" b="1" i="0" u="none" strike="noStrike" cap="none">
                <a:solidFill>
                  <a:srgbClr val="FF990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Replication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g3f7dbbd7a62_0_130"/>
          <p:cNvSpPr/>
          <p:nvPr/>
        </p:nvSpPr>
        <p:spPr>
          <a:xfrm>
            <a:off x="749808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Cross-region or same-region replication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g3f7dbbd7a62_0_130"/>
          <p:cNvSpPr/>
          <p:nvPr/>
        </p:nvSpPr>
        <p:spPr>
          <a:xfrm>
            <a:off x="457200" y="338328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Trebuchet MS" panose="020B0603020202020204"/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S3 Storage Classes</a:t>
            </a: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g3f7dbbd7a62_0_130"/>
          <p:cNvSpPr/>
          <p:nvPr/>
        </p:nvSpPr>
        <p:spPr>
          <a:xfrm>
            <a:off x="457200" y="3840480"/>
            <a:ext cx="1280100" cy="8229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g3f7dbbd7a62_0_130"/>
          <p:cNvSpPr/>
          <p:nvPr/>
        </p:nvSpPr>
        <p:spPr>
          <a:xfrm>
            <a:off x="457200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 panose="020B0603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Standard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g3f7dbbd7a62_0_130"/>
          <p:cNvSpPr/>
          <p:nvPr/>
        </p:nvSpPr>
        <p:spPr>
          <a:xfrm>
            <a:off x="457200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Frequently accessed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g3f7dbbd7a62_0_130"/>
          <p:cNvSpPr/>
          <p:nvPr/>
        </p:nvSpPr>
        <p:spPr>
          <a:xfrm>
            <a:off x="1847088" y="3840480"/>
            <a:ext cx="1280100" cy="822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g3f7dbbd7a62_0_130"/>
          <p:cNvSpPr/>
          <p:nvPr/>
        </p:nvSpPr>
        <p:spPr>
          <a:xfrm>
            <a:off x="1847088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 panose="020B0603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IA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g3f7dbbd7a62_0_130"/>
          <p:cNvSpPr/>
          <p:nvPr/>
        </p:nvSpPr>
        <p:spPr>
          <a:xfrm>
            <a:off x="1847088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Infrequent access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g3f7dbbd7a62_0_130"/>
          <p:cNvSpPr/>
          <p:nvPr/>
        </p:nvSpPr>
        <p:spPr>
          <a:xfrm>
            <a:off x="3236976" y="3840480"/>
            <a:ext cx="1280100" cy="822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g3f7dbbd7a62_0_130"/>
          <p:cNvSpPr/>
          <p:nvPr/>
        </p:nvSpPr>
        <p:spPr>
          <a:xfrm>
            <a:off x="3236976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 panose="020B0603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One Zone-IA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g3f7dbbd7a62_0_130"/>
          <p:cNvSpPr/>
          <p:nvPr/>
        </p:nvSpPr>
        <p:spPr>
          <a:xfrm>
            <a:off x="3236976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AZ, lower cost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g3f7dbbd7a62_0_130"/>
          <p:cNvSpPr/>
          <p:nvPr/>
        </p:nvSpPr>
        <p:spPr>
          <a:xfrm>
            <a:off x="4626864" y="3840480"/>
            <a:ext cx="1280100" cy="8229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g3f7dbbd7a62_0_130"/>
          <p:cNvSpPr/>
          <p:nvPr/>
        </p:nvSpPr>
        <p:spPr>
          <a:xfrm>
            <a:off x="4626864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 panose="020B0603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Glacier Instant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g3f7dbbd7a62_0_130"/>
          <p:cNvSpPr/>
          <p:nvPr/>
        </p:nvSpPr>
        <p:spPr>
          <a:xfrm>
            <a:off x="4626864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Archive, ms retrieval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g3f7dbbd7a62_0_130"/>
          <p:cNvSpPr/>
          <p:nvPr/>
        </p:nvSpPr>
        <p:spPr>
          <a:xfrm>
            <a:off x="6016752" y="3840480"/>
            <a:ext cx="1280100" cy="8229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g3f7dbbd7a62_0_130"/>
          <p:cNvSpPr/>
          <p:nvPr/>
        </p:nvSpPr>
        <p:spPr>
          <a:xfrm>
            <a:off x="6016752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 panose="020B0603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Glacier Deep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g3f7dbbd7a62_0_130"/>
          <p:cNvSpPr/>
          <p:nvPr/>
        </p:nvSpPr>
        <p:spPr>
          <a:xfrm>
            <a:off x="6016752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Lowest cost archive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g3f7dbbd7a62_0_130"/>
          <p:cNvSpPr/>
          <p:nvPr/>
        </p:nvSpPr>
        <p:spPr>
          <a:xfrm>
            <a:off x="7406640" y="3840480"/>
            <a:ext cx="1280100" cy="822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g3f7dbbd7a62_0_130"/>
          <p:cNvSpPr/>
          <p:nvPr/>
        </p:nvSpPr>
        <p:spPr>
          <a:xfrm>
            <a:off x="7406640" y="3858768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 panose="020B06030202020202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Intelligent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g3f7dbbd7a62_0_130"/>
          <p:cNvSpPr/>
          <p:nvPr/>
        </p:nvSpPr>
        <p:spPr>
          <a:xfrm>
            <a:off x="7406640" y="420624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 panose="020F0502020204030204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Auto-tiering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6" name="Google Shape;216;g3f7dbbd7a62_0_1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316900" y="224470"/>
            <a:ext cx="552774" cy="55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S3 mechanics: buckets &amp; prefixes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4" name="Google Shape;224;p1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/>
          <p:nvPr/>
        </p:nvSpPr>
        <p:spPr>
          <a:xfrm>
            <a:off x="1280160" y="130759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Bucket = top-level container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Globally unique name, lives in one region. Ours holds the whole lake.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27" name="Google Shape;227;p1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1280160" y="249631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Prefixes look like folders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S3 is actually flat — “raw/orders/” is just part of the key — but tools display it as folders. Organize by dataset.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02920" y="37216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30" name="Google Shape;230;p1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58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1280160" y="3685032"/>
            <a:ext cx="3931920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Uploading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Console drag-and-drop for a few files; aws s3 cp / sync from the CLI for millions of rows.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394960" y="1325880"/>
            <a:ext cx="3246120" cy="329184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19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the lake layout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5623560" y="1764792"/>
            <a:ext cx="28346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zomato-data/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raw/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orders/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orders_0001.csv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orders_0002.csv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reviews/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reviews_0001.csv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 panose="020F0502020204030204"/>
              <a:buNone/>
            </a:pP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$ aws s3 sync ./out \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s3://zomato-data/raw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ETL vs ELT — where does the T happen?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02920" y="1325880"/>
            <a:ext cx="3968496" cy="2514600"/>
          </a:xfrm>
          <a:prstGeom prst="roundRect">
            <a:avLst>
              <a:gd name="adj" fmla="val 2545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7"/>
          <p:cNvSpPr/>
          <p:nvPr/>
        </p:nvSpPr>
        <p:spPr>
          <a:xfrm>
            <a:off x="731520" y="1481328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ETL  ·  the old way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31520" y="1783080"/>
            <a:ext cx="35112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Extract → Transform → Load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731520" y="2121408"/>
            <a:ext cx="351129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Transform on a separate server before loading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Warehouse compute was scarce &amp; expensive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Rigid: changing logic means re-extracting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72584" y="1325880"/>
            <a:ext cx="3968496" cy="2514600"/>
          </a:xfrm>
          <a:prstGeom prst="roundRect">
            <a:avLst>
              <a:gd name="adj" fmla="val 2545"/>
            </a:avLst>
          </a:prstGeom>
          <a:solidFill>
            <a:srgbClr val="FDEDEE"/>
          </a:solidFill>
          <a:ln w="9525" cap="flat" cmpd="sng">
            <a:solidFill>
              <a:srgbClr val="F6D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7"/>
          <p:cNvSpPr/>
          <p:nvPr/>
        </p:nvSpPr>
        <p:spPr>
          <a:xfrm>
            <a:off x="4901184" y="1481328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ELT  ·  what we build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901184" y="1783080"/>
            <a:ext cx="35112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Extract → Load → Transform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901184" y="2121408"/>
            <a:ext cx="3511296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Load raw first; transform inside the warehouse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Cloud compute is elastic and cheap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Keep raw forever — re-transform anytime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02920" y="411480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7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this project: </a:t>
            </a:r>
            <a:r>
              <a:rPr lang="en-US" sz="115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COPY INTO lands raw CSVs in Snowflake; dbt does every transformation in the warehouse.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Batch vs streaming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2920" y="1417320"/>
            <a:ext cx="3968496" cy="1691640"/>
          </a:xfrm>
          <a:prstGeom prst="roundRect">
            <a:avLst>
              <a:gd name="adj" fmla="val 378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8"/>
          <p:cNvSpPr/>
          <p:nvPr/>
        </p:nvSpPr>
        <p:spPr>
          <a:xfrm>
            <a:off x="704088" y="15819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9" name="Google Shape;259;p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691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/>
          <p:nvPr/>
        </p:nvSpPr>
        <p:spPr>
          <a:xfrm>
            <a:off x="1280160" y="158191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Batch — what we build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22376" y="2148840"/>
            <a:ext cx="352958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 data in scheduled chunks (hourly, daily). Simpler, cheaper, and what most analytics actually needs. Airflow triggers each run.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672584" y="1417320"/>
            <a:ext cx="3968496" cy="1691640"/>
          </a:xfrm>
          <a:prstGeom prst="roundRect">
            <a:avLst>
              <a:gd name="adj" fmla="val 378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3" name="Google Shape;263;p8"/>
          <p:cNvSpPr/>
          <p:nvPr/>
        </p:nvSpPr>
        <p:spPr>
          <a:xfrm>
            <a:off x="4873752" y="158191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64" name="Google Shape;264;p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480" y="16916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/>
          <p:nvPr/>
        </p:nvSpPr>
        <p:spPr>
          <a:xfrm>
            <a:off x="5449824" y="158191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Streaming — the future project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892040" y="2148840"/>
            <a:ext cx="352958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 events continuously, seconds after they happen. Kafka + Spark + Iceberg territory — a sequel project once batch fundamentals are solid.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Medallion Architecture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layer is rebuildable from the one before it — raw data is never thrown away.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02920" y="1645920"/>
            <a:ext cx="2377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5" name="Google Shape;275;p9"/>
          <p:cNvSpPr/>
          <p:nvPr/>
        </p:nvSpPr>
        <p:spPr>
          <a:xfrm>
            <a:off x="1444752" y="1810512"/>
            <a:ext cx="493776" cy="493776"/>
          </a:xfrm>
          <a:prstGeom prst="ellipse">
            <a:avLst/>
          </a:prstGeom>
          <a:solidFill>
            <a:srgbClr val="C085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76" name="Google Shape;276;p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6362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RAW  (Bronze)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8521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exactly as it landed from the lake. Untouched, append-only. Schema: RAW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862072" y="2455164"/>
            <a:ext cx="53949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383280" y="1645920"/>
            <a:ext cx="2377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1" name="Google Shape;281;p9"/>
          <p:cNvSpPr/>
          <p:nvPr/>
        </p:nvSpPr>
        <p:spPr>
          <a:xfrm>
            <a:off x="4325112" y="1810512"/>
            <a:ext cx="493776" cy="493776"/>
          </a:xfrm>
          <a:prstGeom prst="ellipse">
            <a:avLst/>
          </a:prstGeom>
          <a:solidFill>
            <a:srgbClr val="8E9A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2" name="Google Shape;282;p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398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342900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STAGING  (Silver)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46557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Cleaned, typed, renamed. One staging model per source table. Schema: STAGING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5742432" y="2455164"/>
            <a:ext cx="53949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63640" y="1645920"/>
            <a:ext cx="2377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7" name="Google Shape;287;p9"/>
          <p:cNvSpPr/>
          <p:nvPr/>
        </p:nvSpPr>
        <p:spPr>
          <a:xfrm>
            <a:off x="7205472" y="1810512"/>
            <a:ext cx="493776" cy="493776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88" name="Google Shape;288;p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24344" y="19293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6309360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MARTS  (Gold)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345936" y="265176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Business-ready dimensions, facts and aggregates. What BI and AI consume. Schema: MARTS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2727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layers? </a:t>
            </a:r>
            <a:r>
              <a:rPr lang="en-US" sz="115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Debuggability (trace any number back to raw) and safety (bad transform ≠ lost data).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 i="0" u="none" strike="noStrike" cap="none">
                <a:solidFill>
                  <a:srgbClr val="C225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40080" y="20459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 panose="020B0604020202020204"/>
              <a:buNone/>
            </a:pPr>
            <a:r>
              <a:rPr lang="en-US" sz="2900" b="1">
                <a:solidFill>
                  <a:schemeClr val="lt1"/>
                </a:solidFill>
              </a:rPr>
              <a:t>The Cloud Data Warehouse (Snowflake)</a:t>
            </a:r>
            <a:endParaRPr sz="29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endParaRPr sz="2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IAM in five minutes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7" name="Google Shape;307;p2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Users &amp; access keys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 IAM user is a programmatic identity; its access key + secret let scripts and Snowflake talk to AWS as that user.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0" name="Google Shape;310;p2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0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Least privilege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Grant only what's needed: read access to this one bucket — not AdministratorAccess. Small blast radius when keys leak.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3" name="Google Shape;313;p20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Two rules that save careers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Never use root account keys. Never commit keys to Git — environment variables only (a theme we'll repeat).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dbbd7a62_0_182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1" name="Google Shape;321;g3f7dbbd7a62_0_182"/>
          <p:cNvSpPr/>
          <p:nvPr/>
        </p:nvSpPr>
        <p:spPr>
          <a:xfrm>
            <a:off x="1548300" y="2290900"/>
            <a:ext cx="60474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4100" b="1">
                <a:solidFill>
                  <a:srgbClr val="FFFFFF"/>
                </a:solidFill>
              </a:rPr>
              <a:t>Load Data To Snowflake</a:t>
            </a:r>
            <a:endParaRPr sz="4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RBAC — why dbt doesn't run as admin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29" name="Google Shape;329;p2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Privileges → roles → users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Grant USAGE / SELECT / CREATE to a role; grant the role to a user. Change the role once, every user of it follows.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32" name="Google Shape;332;p2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dedicated DBT_ROLE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connects as a service user with DBT_ROLE: full rights on the ZOMATO database, nothing else. Automation never runs as ACCOUNTADMIN.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35" name="Google Shape;335;p2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bother in a course project?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Because it's free to do right, and least-privilege muscle memory is exactly what employers expect from a data engineer.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a cloud data warehouse is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44" name="Google Shape;344;p2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for analytics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Columnar storage and massive parallel scans: aggregate 10M rows in seconds. The opposite trade-off from an app database.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47" name="Google Shape;347;p2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Storage and compute are separate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Snowflake's core idea: data is stored once; independent compute clusters (“warehouses”) spin up, query it, and shut down.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50" name="Google Shape;350;p22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Pay per second of compute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 X-Small warehouse with auto-suspend costs almost nothing when idle. Scale up for a big load, back down after.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Loading data: stage → file format → COPY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02920" y="1371600"/>
            <a:ext cx="2407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25"/>
          <p:cNvSpPr/>
          <p:nvPr/>
        </p:nvSpPr>
        <p:spPr>
          <a:xfrm>
            <a:off x="145999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60" name="Google Shape;360;p2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7886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/>
          <p:nvPr/>
        </p:nvSpPr>
        <p:spPr>
          <a:xfrm>
            <a:off x="54864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Stage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58521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Named pointer to the S3 location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2892552" y="18150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3368040" y="1371600"/>
            <a:ext cx="2407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5" name="Google Shape;365;p25"/>
          <p:cNvSpPr/>
          <p:nvPr/>
        </p:nvSpPr>
        <p:spPr>
          <a:xfrm>
            <a:off x="432511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66" name="Google Shape;366;p2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398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5"/>
          <p:cNvSpPr/>
          <p:nvPr/>
        </p:nvSpPr>
        <p:spPr>
          <a:xfrm>
            <a:off x="341376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File format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345033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How to parse: CSV, delimiter, header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5757672" y="18150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6233160" y="1371600"/>
            <a:ext cx="2407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1" name="Google Shape;371;p25"/>
          <p:cNvSpPr/>
          <p:nvPr/>
        </p:nvSpPr>
        <p:spPr>
          <a:xfrm>
            <a:off x="7190232" y="153619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72" name="Google Shape;372;p2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09104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/>
          <p:nvPr/>
        </p:nvSpPr>
        <p:spPr>
          <a:xfrm>
            <a:off x="6278880" y="210312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COPY INTO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6315456" y="2377440"/>
            <a:ext cx="2243328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Parallel bulk load into a raw table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02920" y="2880360"/>
            <a:ext cx="8138160" cy="1920240"/>
          </a:xfrm>
          <a:prstGeom prst="roundRect">
            <a:avLst>
              <a:gd name="adj" fmla="val 3333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6" name="Google Shape;376;p25"/>
          <p:cNvSpPr/>
          <p:nvPr/>
        </p:nvSpPr>
        <p:spPr>
          <a:xfrm>
            <a:off x="731520" y="3026664"/>
            <a:ext cx="7726680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 panose="02070309020205020404"/>
              <a:buNone/>
            </a:pP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CREATE STAGE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zomato_stage </a:t>
            </a:r>
            <a:r>
              <a:rPr lang="en-US" sz="10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STORAGE_INTEGRATION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s3_int  </a:t>
            </a:r>
            <a:r>
              <a:rPr lang="en-US" sz="10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URL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's3://zomato-data/raw/'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 panose="02070309020205020404"/>
              <a:buNone/>
            </a:pP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CREATE FILE FORMAT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csv_fmt </a:t>
            </a:r>
            <a:r>
              <a:rPr lang="en-US" sz="10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TYPE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='CSV' </a:t>
            </a:r>
            <a:r>
              <a:rPr lang="en-US" sz="10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SKIP_HEADER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=1 </a:t>
            </a:r>
            <a:r>
              <a:rPr lang="en-US" sz="10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FIELD_OPTIONALLY_ENCLOSED_BY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='"'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 panose="020F0502020204030204"/>
              <a:buNone/>
            </a:pP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 panose="02070309020205020404"/>
              <a:buNone/>
            </a:pP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COPY INTO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raw.orders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 panose="02070309020205020404"/>
              <a:buNone/>
            </a:pP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FROM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@zomato_stage/orders/  </a:t>
            </a:r>
            <a:r>
              <a:rPr lang="en-US" sz="10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FILE_FORMAT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= (FORMAT_NAME='csv_fmt');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Loading messy files without losing data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27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85" name="Google Shape;385;p2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7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SKIP_HEADER = 1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first line is column names, not data. Forget it and your table gains a row of strings.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9" name="Google Shape;389;p27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90" name="Google Shape;390;p2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7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ON_ERROR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ABORT_STATEMENT = strict (fail the load). CONTINUE = tolerant (skip bad rows, keep going). Know which you're choosing.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4" name="Google Shape;394;p27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95" name="Google Shape;395;p27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7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Column-count mismatch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Ragged rows kill loads. ERROR_ON_COLUMN_COUNT_MISMATCH=FALSE lets them land for later inspection.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9" name="Google Shape;399;p27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00" name="Google Shape;400;p27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7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philosophy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Land data tolerantly in RAW as text; enforce types and quality downstream in dbt, where failures are visible and testable.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509270"/>
            <a:ext cx="6781800" cy="41243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12180" y="463359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we do here ELT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>
                <a:solidFill>
                  <a:srgbClr val="C22530"/>
                </a:solidFill>
              </a:rPr>
              <a:t>3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640080" y="23817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2900" b="1">
                <a:solidFill>
                  <a:schemeClr val="lt1"/>
                </a:solidFill>
              </a:rPr>
              <a:t>Transformation with dbt</a:t>
            </a:r>
            <a:endParaRPr sz="29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dbt is — and why everyone uses it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17" name="Google Shape;417;p3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SQL SELECTs become managed tables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 write a SELECT; dbt wraps it in the right CREATE statement, runs it in Snowflake in dependency order, and tracks what depends on what.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20" name="Google Shape;420;p3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0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Software practices for analytics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Version control, code review, automated tests, generated docs — applied to SQL. This job title is “analytics engineering.”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23" name="Google Shape;423;p30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0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stores nothing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It's a compiler + orchestrator for SQL. All data and all compute stay in Snowflake — dbt just tells it what to build, in what order.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setup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32" name="Google Shape;432;p3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1"/>
          <p:cNvSpPr/>
          <p:nvPr/>
        </p:nvSpPr>
        <p:spPr>
          <a:xfrm>
            <a:off x="1280160" y="130759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init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Scaffolds the project: models/, snapshots/, tests/, dbt_project.yml.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4" name="Google Shape;434;p31"/>
          <p:cNvSpPr/>
          <p:nvPr/>
        </p:nvSpPr>
        <p:spPr>
          <a:xfrm>
            <a:off x="502920" y="23957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35" name="Google Shape;435;p3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5328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1"/>
          <p:cNvSpPr/>
          <p:nvPr/>
        </p:nvSpPr>
        <p:spPr>
          <a:xfrm>
            <a:off x="1280160" y="235915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Two config files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dbt_project.yml = the project (name, folders, defaults). profiles.yml = the connection (account, user, role DBT_ROLE, warehouse).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7" name="Google Shape;437;p31"/>
          <p:cNvSpPr/>
          <p:nvPr/>
        </p:nvSpPr>
        <p:spPr>
          <a:xfrm>
            <a:off x="502920" y="34472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38" name="Google Shape;438;p3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5844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1"/>
          <p:cNvSpPr/>
          <p:nvPr/>
        </p:nvSpPr>
        <p:spPr>
          <a:xfrm>
            <a:off x="1280160" y="3410712"/>
            <a:ext cx="3931920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debug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command that validates config + connection before you build anything. Run it first, always.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0" name="Google Shape;440;p31"/>
          <p:cNvSpPr/>
          <p:nvPr/>
        </p:nvSpPr>
        <p:spPr>
          <a:xfrm>
            <a:off x="5394960" y="1325880"/>
            <a:ext cx="3246120" cy="2286000"/>
          </a:xfrm>
          <a:prstGeom prst="roundRect">
            <a:avLst>
              <a:gd name="adj" fmla="val 2800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1" name="Google Shape;441;p31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dbt_project.yml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5623560" y="1764792"/>
            <a:ext cx="28346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name: 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'zomato'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profile: 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'zomato'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 panose="020F0502020204030204"/>
              <a:buNone/>
            </a:pP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models: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zomato: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staging: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+materialized: view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3" name="Google Shape;443;p31"/>
          <p:cNvSpPr/>
          <p:nvPr/>
        </p:nvSpPr>
        <p:spPr>
          <a:xfrm>
            <a:off x="502920" y="4434840"/>
            <a:ext cx="8138160" cy="502920"/>
          </a:xfrm>
          <a:prstGeom prst="roundRect">
            <a:avLst>
              <a:gd name="adj" fmla="val 12727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4" name="Google Shape;444;p3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Gotcha: </a:t>
            </a:r>
            <a:r>
              <a:rPr lang="en-US" sz="110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key under models: must exactly match name: — mismatch means your folder configs silently don't apply.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Sources — declaring where raw data lives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52" name="Google Shape;452;p3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_sources.yml names the raw tables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Declare ZOMATO.RAW's tables once; models refer to them as source('zomato', 'orders').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55" name="Google Shape;455;p3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not hardcode names?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Sources make lineage start at raw, survive renames in one place, and enable source freshness checks later.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5394960" y="132588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32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models/staging/_sources.yml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5623560" y="1764792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sources: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- name: 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zomato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database: 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ZOMATO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schema: 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RAW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tables: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- name: orders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- name: reviews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- name: users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model is just a SELECT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67" name="Google Shape;467;p3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3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.sql file = one model = one table/view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 CREATE TABLE boilerplate — dbt adds it. The file name becomes the object name in Snowflake.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70" name="Google Shape;470;p3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3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run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Compiles the Jinja, figures out order, executes in Snowflake. Rerun anytime; it rebuilds cleanly.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5394960" y="1325880"/>
            <a:ext cx="324612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3" name="Google Shape;473;p33"/>
          <p:cNvSpPr/>
          <p:nvPr/>
        </p:nvSpPr>
        <p:spPr>
          <a:xfrm>
            <a:off x="5623560" y="1472184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models/staging/stg_orders.sql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5623560" y="1764792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order_id,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user_id,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order_status,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total_amount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{{ source(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'zomato','orders'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 }}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873125" y="397256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dbt run --select staging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ref() builds the DAG for you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82" name="Google Shape;482;p3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4"/>
          <p:cNvSpPr/>
          <p:nvPr/>
        </p:nvSpPr>
        <p:spPr>
          <a:xfrm>
            <a:off x="1280160" y="130759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Depend on models with ref()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select … from {{ ref('stg_orders') }} — never a hardcoded table name between models.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85" name="Google Shape;485;p3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/>
          <p:nvPr/>
        </p:nvSpPr>
        <p:spPr>
          <a:xfrm>
            <a:off x="1280160" y="2587752"/>
            <a:ext cx="393192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infers the run order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From source() and ref() calls, dbt assembles the dependency graph (DAG) and runs upstream models first — parallelizing where it can.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5486400" y="146304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8" name="Google Shape;488;p34"/>
          <p:cNvSpPr/>
          <p:nvPr/>
        </p:nvSpPr>
        <p:spPr>
          <a:xfrm>
            <a:off x="5486400" y="146304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Courier New" panose="02070309020205020404"/>
              <a:buNone/>
            </a:pPr>
            <a:r>
              <a:rPr lang="en-US" sz="1100" b="1" i="0" u="none" strike="noStrike" cap="none">
                <a:solidFill>
                  <a:srgbClr val="5F5F6A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raw.orders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548640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5486400" y="228600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1" name="Google Shape;491;p34"/>
          <p:cNvSpPr/>
          <p:nvPr/>
        </p:nvSpPr>
        <p:spPr>
          <a:xfrm>
            <a:off x="5486400" y="228600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Courier New" panose="02070309020205020404"/>
              <a:buNone/>
            </a:pPr>
            <a:r>
              <a:rPr lang="en-US" sz="1100" b="1" i="0" u="none" strike="noStrike" cap="none">
                <a:solidFill>
                  <a:srgbClr val="A31E2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stg_orders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5486400" y="27432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5486400" y="310896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34"/>
          <p:cNvSpPr/>
          <p:nvPr/>
        </p:nvSpPr>
        <p:spPr>
          <a:xfrm>
            <a:off x="5486400" y="310896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Courier New" panose="02070309020205020404"/>
              <a:buNone/>
            </a:pPr>
            <a:r>
              <a:rPr lang="en-US" sz="1100" b="1" i="0" u="none" strike="noStrike" cap="none">
                <a:solidFill>
                  <a:srgbClr val="A31E2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fct_orders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5486400" y="35661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↓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5486400" y="39319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E23744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7" name="Google Shape;497;p34"/>
          <p:cNvSpPr/>
          <p:nvPr/>
        </p:nvSpPr>
        <p:spPr>
          <a:xfrm>
            <a:off x="5486400" y="3931920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 panose="02070309020205020404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mart_daily_gmv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Materializations — how a model becomes real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Set per folder in dbt_project.yml or per model with {{ config(materialized='…') }} — our first taste of Jinja.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502920" y="1600200"/>
            <a:ext cx="2578608" cy="1965960"/>
          </a:xfrm>
          <a:prstGeom prst="roundRect">
            <a:avLst>
              <a:gd name="adj" fmla="val 3256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6" name="Google Shape;506;p35"/>
          <p:cNvSpPr/>
          <p:nvPr/>
        </p:nvSpPr>
        <p:spPr>
          <a:xfrm>
            <a:off x="704088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07" name="Google Shape;507;p3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/>
          <p:nvPr/>
        </p:nvSpPr>
        <p:spPr>
          <a:xfrm>
            <a:off x="1280160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view  (default)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722376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Stores only the query. Always fresh, zero storage — but recomputed on every read. Fine for staging.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3282696" y="1600200"/>
            <a:ext cx="2578608" cy="1965960"/>
          </a:xfrm>
          <a:prstGeom prst="roundRect">
            <a:avLst>
              <a:gd name="adj" fmla="val 3256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1" name="Google Shape;511;p35"/>
          <p:cNvSpPr/>
          <p:nvPr/>
        </p:nvSpPr>
        <p:spPr>
          <a:xfrm>
            <a:off x="3483864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12" name="Google Shape;512;p3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93592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5"/>
          <p:cNvSpPr/>
          <p:nvPr/>
        </p:nvSpPr>
        <p:spPr>
          <a:xfrm>
            <a:off x="4059936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table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3392297" y="2284095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Physically built each dbt run. Fast to query; costs a full rebuild. Good for marts.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6062472" y="1600200"/>
            <a:ext cx="2578608" cy="1965960"/>
          </a:xfrm>
          <a:prstGeom prst="roundRect">
            <a:avLst>
              <a:gd name="adj" fmla="val 3256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6" name="Google Shape;516;p35"/>
          <p:cNvSpPr/>
          <p:nvPr/>
        </p:nvSpPr>
        <p:spPr>
          <a:xfrm>
            <a:off x="6263640" y="176479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17" name="Google Shape;517;p3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73368" y="1874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5"/>
          <p:cNvSpPr/>
          <p:nvPr/>
        </p:nvSpPr>
        <p:spPr>
          <a:xfrm>
            <a:off x="6839712" y="176479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incremental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6281928" y="23317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Only processes new rows and merges them in. The answer for 10M-row facts — full slide coming up.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502920" y="3977640"/>
            <a:ext cx="8138160" cy="502920"/>
          </a:xfrm>
          <a:prstGeom prst="roundRect">
            <a:avLst>
              <a:gd name="adj" fmla="val 12727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1" name="Google Shape;521;p35"/>
          <p:cNvSpPr/>
          <p:nvPr/>
        </p:nvSpPr>
        <p:spPr>
          <a:xfrm>
            <a:off x="803275" y="39776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Rule of thumb: view until it's slow, table until it's big, incremental when rebuilds hurt.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728345"/>
            <a:ext cx="7372350" cy="3686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Silver layer: cleaning in SQL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29" name="Google Shape;529;p3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6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RAW is all text — Silver makes types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Cast safely with try_to_number / try_to_decimal: garbage becomes NULL instead of a crashed query.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32" name="Google Shape;532;p3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6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Standardize strings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nullif('','') for fake empties, initcap/lower for casing, regexp_substr to dig values out of messy text, coalesce for defaults.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5" name="Google Shape;535;p36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stg_orders.sql (excerpt)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try_to_decimal(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total_amount</a:t>
            </a: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,10,2)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as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total_amount,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lower(</a:t>
            </a:r>
            <a:r>
              <a:rPr lang="en-US" sz="9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nullif(</a:t>
            </a:r>
            <a:r>
              <a:rPr lang="en-US" sz="90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status,''</a:t>
            </a: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))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as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order_status,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initcap(trim(city))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as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city,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regexp_substr(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phone,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'[0-9]+'</a:t>
            </a: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as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phone_digits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Dimensional modeling — the star schema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44" name="Google Shape;544;p3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7"/>
          <p:cNvSpPr/>
          <p:nvPr/>
        </p:nvSpPr>
        <p:spPr>
          <a:xfrm>
            <a:off x="1280160" y="1353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Facts: events + measures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fct_orders — one row per order, with amounts and timestamps.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6" name="Google Shape;546;p37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47" name="Google Shape;547;p3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/>
          <p:nvPr/>
        </p:nvSpPr>
        <p:spPr>
          <a:xfrm>
            <a:off x="1280160" y="2496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Dimensions: the context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Who, where, what, when. Derived attributes via CASE (spend bands, delivery-time buckets).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502920" y="3675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50" name="Google Shape;550;p37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13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7"/>
          <p:cNvSpPr/>
          <p:nvPr/>
        </p:nvSpPr>
        <p:spPr>
          <a:xfrm>
            <a:off x="1280160" y="3639312"/>
            <a:ext cx="3429000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a star?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Predictable joins, fast aggregates, and BI tools understand it instantly.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52" name="Google Shape;552;p37"/>
          <p:cNvCxnSpPr/>
          <p:nvPr/>
        </p:nvCxnSpPr>
        <p:spPr>
          <a:xfrm>
            <a:off x="5623560" y="1728216"/>
            <a:ext cx="914400" cy="1252728"/>
          </a:xfrm>
          <a:prstGeom prst="straightConnector1">
            <a:avLst/>
          </a:prstGeom>
          <a:noFill/>
          <a:ln w="12700" cap="flat" cmpd="sng">
            <a:solidFill>
              <a:srgbClr val="9A9A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3" name="Google Shape;553;p37"/>
          <p:cNvCxnSpPr/>
          <p:nvPr/>
        </p:nvCxnSpPr>
        <p:spPr>
          <a:xfrm rot="10800000" flipH="1">
            <a:off x="6537960" y="1728216"/>
            <a:ext cx="1280160" cy="1252728"/>
          </a:xfrm>
          <a:prstGeom prst="straightConnector1">
            <a:avLst/>
          </a:prstGeom>
          <a:noFill/>
          <a:ln w="12700" cap="flat" cmpd="sng">
            <a:solidFill>
              <a:srgbClr val="9A9A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4" name="Google Shape;554;p37"/>
          <p:cNvCxnSpPr/>
          <p:nvPr/>
        </p:nvCxnSpPr>
        <p:spPr>
          <a:xfrm rot="10800000" flipH="1">
            <a:off x="5623560" y="2980944"/>
            <a:ext cx="914400" cy="1216152"/>
          </a:xfrm>
          <a:prstGeom prst="straightConnector1">
            <a:avLst/>
          </a:prstGeom>
          <a:noFill/>
          <a:ln w="12700" cap="flat" cmpd="sng">
            <a:solidFill>
              <a:srgbClr val="9A9A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5" name="Google Shape;555;p37"/>
          <p:cNvCxnSpPr/>
          <p:nvPr/>
        </p:nvCxnSpPr>
        <p:spPr>
          <a:xfrm>
            <a:off x="6537960" y="2980944"/>
            <a:ext cx="1280160" cy="1216152"/>
          </a:xfrm>
          <a:prstGeom prst="straightConnector1">
            <a:avLst/>
          </a:prstGeom>
          <a:noFill/>
          <a:ln w="12700" cap="flat" cmpd="sng">
            <a:solidFill>
              <a:srgbClr val="9A9A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6" name="Google Shape;556;p37"/>
          <p:cNvSpPr/>
          <p:nvPr/>
        </p:nvSpPr>
        <p:spPr>
          <a:xfrm>
            <a:off x="4892040" y="150876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7" name="Google Shape;557;p37"/>
          <p:cNvSpPr/>
          <p:nvPr/>
        </p:nvSpPr>
        <p:spPr>
          <a:xfrm>
            <a:off x="4892040" y="15087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 panose="02070309020205020404"/>
              <a:buNone/>
            </a:pPr>
            <a:r>
              <a:rPr lang="en-US" sz="950" b="1" i="0" u="none" strike="noStrike" cap="none">
                <a:solidFill>
                  <a:srgbClr val="26262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dim_users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7086600" y="150876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9" name="Google Shape;559;p37"/>
          <p:cNvSpPr/>
          <p:nvPr/>
        </p:nvSpPr>
        <p:spPr>
          <a:xfrm>
            <a:off x="7086600" y="15087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 panose="02070309020205020404"/>
              <a:buNone/>
            </a:pPr>
            <a:r>
              <a:rPr lang="en-US" sz="950" b="1" i="0" u="none" strike="noStrike" cap="none">
                <a:solidFill>
                  <a:srgbClr val="26262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dim_restaurants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89204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1" name="Google Shape;561;p37"/>
          <p:cNvSpPr/>
          <p:nvPr/>
        </p:nvSpPr>
        <p:spPr>
          <a:xfrm>
            <a:off x="4892040" y="39776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 panose="02070309020205020404"/>
              <a:buNone/>
            </a:pPr>
            <a:r>
              <a:rPr lang="en-US" sz="950" b="1" i="0" u="none" strike="noStrike" cap="none">
                <a:solidFill>
                  <a:srgbClr val="26262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dim_menu_items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7086600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3" name="Google Shape;563;p37"/>
          <p:cNvSpPr/>
          <p:nvPr/>
        </p:nvSpPr>
        <p:spPr>
          <a:xfrm>
            <a:off x="7086600" y="397764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950"/>
              <a:buFont typeface="Courier New" panose="02070309020205020404"/>
              <a:buNone/>
            </a:pPr>
            <a:r>
              <a:rPr lang="en-US" sz="950" b="1" i="0" u="none" strike="noStrike" cap="none">
                <a:solidFill>
                  <a:srgbClr val="26262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dim_date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5943600" y="269748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E237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5" name="Google Shape;565;p37"/>
          <p:cNvSpPr/>
          <p:nvPr/>
        </p:nvSpPr>
        <p:spPr>
          <a:xfrm>
            <a:off x="5943600" y="269748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 panose="02070309020205020404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fct_orders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date spine — a calendar built from nothing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2" name="Google Shape;572;p38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73" name="Google Shape;573;p3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8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problem: missing days vanish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GROUP BY order_date skips days with zero orders — charts silently lie. You need one row per calendar day, orders or not.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5" name="Google Shape;575;p38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76" name="Google Shape;576;p3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8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generator + seq4()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Snowflake can fabricate rows from thin air. Generate N sequential numbers, add each to a start date — instant calendar dimension.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9" name="Google Shape;579;p38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dim_date.sql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dateadd(</a:t>
            </a: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'day',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seq4()</a:t>
            </a: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'2023-01-01'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)::date</a:t>
            </a: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as date_day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table(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generator(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rowcount =&gt; 1096))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Incremental models — stop rebuilding 10M rows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" name="Google Shape;587;p39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88" name="Google Shape;588;p3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9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 only what's new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First run builds the full table. Every run after: select rows newer than what {{ this }} already has, and MERGE them in via unique_key.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0" name="Google Shape;590;p39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591" name="Google Shape;591;p3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9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Escape hatch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Logic changed? dbt run --full-refresh rebuilds from scratch. Incremental is an optimization, never a trap.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3" name="Google Shape;593;p39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4" name="Google Shape;594;p39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fct_orders.sql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" name="Google Shape;595;p39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{{ config(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materialized=</a:t>
            </a:r>
            <a:r>
              <a:rPr lang="en-US" sz="90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'incremental'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unique_key=</a:t>
            </a:r>
            <a:r>
              <a:rPr lang="en-US" sz="90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'order_id'</a:t>
            </a: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 }}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</a:pP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... from </a:t>
            </a: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{{ ref(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'stg_orders') }}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{% if is_incremental() %}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ordered_at &gt; (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select max(ordered_at)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from </a:t>
            </a: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{{ this }}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{% endif %}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Gold layer: marts &amp; aggregations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" name="Google Shape;602;p41"/>
          <p:cNvSpPr/>
          <p:nvPr/>
        </p:nvSpPr>
        <p:spPr>
          <a:xfrm>
            <a:off x="502920" y="1280160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3" name="Google Shape;603;p41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04" name="Google Shape;604;p4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1"/>
          <p:cNvSpPr/>
          <p:nvPr/>
        </p:nvSpPr>
        <p:spPr>
          <a:xfrm>
            <a:off x="1280160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Revenue marts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6" name="Google Shape;606;p41"/>
          <p:cNvSpPr/>
          <p:nvPr/>
        </p:nvSpPr>
        <p:spPr>
          <a:xfrm>
            <a:off x="722376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Daily GMV &amp; AOV per city/cuisine. Snowflake helpers: count_if, iff, div0 (no divide-by-zero crashes).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4672584" y="1280160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8" name="Google Shape;608;p41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09" name="Google Shape;609;p4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480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1"/>
          <p:cNvSpPr/>
          <p:nvPr/>
        </p:nvSpPr>
        <p:spPr>
          <a:xfrm>
            <a:off x="5449824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Delivery performance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1" name="Google Shape;611;p41"/>
          <p:cNvSpPr/>
          <p:nvPr/>
        </p:nvSpPr>
        <p:spPr>
          <a:xfrm>
            <a:off x="4892040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datediff for durations; median &amp; percentile_cont for honest SLAs — averages hide the pain.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502920" y="3186684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" name="Google Shape;613;p41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14" name="Google Shape;614;p4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1"/>
          <p:cNvSpPr/>
          <p:nvPr/>
        </p:nvSpPr>
        <p:spPr>
          <a:xfrm>
            <a:off x="1280160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Cancellations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722376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Cancel rate by city, hour, restaurant — count_if(status='cancelled') / count(*), safely with div0.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4672584" y="3186684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8" name="Google Shape;618;p41"/>
          <p:cNvSpPr/>
          <p:nvPr/>
        </p:nvSpPr>
        <p:spPr>
          <a:xfrm>
            <a:off x="4873752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19" name="Google Shape;619;p41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83480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1"/>
          <p:cNvSpPr/>
          <p:nvPr/>
        </p:nvSpPr>
        <p:spPr>
          <a:xfrm>
            <a:off x="5449824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Cohorts &amp; retention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1" name="Google Shape;621;p41"/>
          <p:cNvSpPr/>
          <p:nvPr/>
        </p:nvSpPr>
        <p:spPr>
          <a:xfrm>
            <a:off x="4892040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Group users by signup month, track who reorders. Stacked CTEs keep the logic readable.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075" y="657225"/>
            <a:ext cx="565785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905" y="928370"/>
            <a:ext cx="36957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quality — tests that run in the warehouse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8" name="Google Shape;628;p42"/>
          <p:cNvSpPr/>
          <p:nvPr/>
        </p:nvSpPr>
        <p:spPr>
          <a:xfrm>
            <a:off x="502920" y="1325880"/>
            <a:ext cx="3968496" cy="2880360"/>
          </a:xfrm>
          <a:prstGeom prst="roundRect">
            <a:avLst>
              <a:gd name="adj" fmla="val 2222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9" name="Google Shape;629;p42"/>
          <p:cNvSpPr/>
          <p:nvPr/>
        </p:nvSpPr>
        <p:spPr>
          <a:xfrm>
            <a:off x="731520" y="1481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Generic tests — one YAML line each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0" name="Google Shape;630;p42"/>
          <p:cNvSpPr/>
          <p:nvPr/>
        </p:nvSpPr>
        <p:spPr>
          <a:xfrm>
            <a:off x="731520" y="182880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unique — no duplicate order_ids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not_null — keys always present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relationships — every FK exists in its dim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80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Char char="•"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accepted_values — status ∈ known set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1" name="Google Shape;631;p42"/>
          <p:cNvSpPr/>
          <p:nvPr/>
        </p:nvSpPr>
        <p:spPr>
          <a:xfrm>
            <a:off x="4672584" y="1325880"/>
            <a:ext cx="3968496" cy="2880360"/>
          </a:xfrm>
          <a:prstGeom prst="roundRect">
            <a:avLst>
              <a:gd name="adj" fmla="val 2222"/>
            </a:avLst>
          </a:prstGeom>
          <a:solidFill>
            <a:srgbClr val="FDEDEE"/>
          </a:solidFill>
          <a:ln w="9525" cap="flat" cmpd="sng">
            <a:solidFill>
              <a:srgbClr val="F6D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2" name="Google Shape;632;p42"/>
          <p:cNvSpPr/>
          <p:nvPr/>
        </p:nvSpPr>
        <p:spPr>
          <a:xfrm>
            <a:off x="4901184" y="14813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Singular tests — custom SQL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3" name="Google Shape;633;p42"/>
          <p:cNvSpPr/>
          <p:nvPr/>
        </p:nvSpPr>
        <p:spPr>
          <a:xfrm>
            <a:off x="4901184" y="182880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Any business rule you can write as a query that must return zero rows: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“No order may have a delivered_at earlier than ordered_at.”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“GMV per day must never be negative.”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4" name="Google Shape;634;p42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5" name="Google Shape;635;p4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test runs them all against real warehouse data — a quality gate on every pipeline run.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build &amp; the free documentation site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2" name="Google Shape;642;p43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3" name="Google Shape;643;p4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3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build = run + test + snapshot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command, DAG order, fail fast: if a staging test fails, downstream marts never build on bad data.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5" name="Google Shape;645;p43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6" name="Google Shape;646;p4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3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docs generate &amp;&amp; dbt docs serve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searchable website of every model, column and test — generated from code you already wrote.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8" name="Google Shape;648;p43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49" name="Google Shape;649;p43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3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lineage graph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DAG rendered visually: click any model, see everything upstream and downstream. The single best explain-your-pipeline tool you'll own.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5436235" y="103568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dbt test  --&gt; to run the _filename.yml test in each models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03985" y="105981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run --&gt; dbt build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9750" y="83058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build the project from start to end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-14605" y="1497330"/>
            <a:ext cx="5965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dbt create the documentations for dbt 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0" y="1708150"/>
            <a:ext cx="59505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cmd --&gt; dbt docs generate &amp;&amp; dbt docs serve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4427855" y="75311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http://localhost:8080/#!/overview/zomato_project1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2067560"/>
            <a:ext cx="6558915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Tags &amp; selection — running slices of the DAG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58" name="Google Shape;658;p4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 models by concern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AI-dependent models get tags: ['ai'] in their config; core models stay untagged.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0" name="Google Shape;660;p4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61" name="Google Shape;661;p4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Select what to run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 build --select tag:ai (just the AI slice) · --exclude tag:ai (everything else) · stg_orders+ (a model and all its children).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3" name="Google Shape;663;p4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64" name="Google Shape;664;p4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this matters soon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 will run core and AI as separate tasks — dbt_build_core excludes the AI tag, dbt_build_ai selects it. Selection makes that split possible.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5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>
                <a:solidFill>
                  <a:srgbClr val="C22530"/>
                </a:solidFill>
              </a:rPr>
              <a:t>4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2" name="Google Shape;672;p45"/>
          <p:cNvSpPr/>
          <p:nvPr/>
        </p:nvSpPr>
        <p:spPr>
          <a:xfrm>
            <a:off x="640080" y="245002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Orchestration with Airflow</a:t>
            </a:r>
            <a:endParaRPr sz="2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114425"/>
            <a:ext cx="7343775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cron isn't enough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9" name="Google Shape;679;p46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0" name="Google Shape;680;p4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6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Scheduling with dependencies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“Run dbt only after the load succeeds” — cron can't express order; an orchestrator's whole job is the arrows between steps.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2" name="Google Shape;682;p46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3" name="Google Shape;683;p4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6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Retries &amp; alerting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Networks blip, APIs time out. Airflow retries with backoff and tells you when something is truly broken.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86" name="Google Shape;686;p4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6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History &amp; observability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Every run, every task, every log, forever. “Did Tuesday's load run? Why is the mart stale?” — answered in one UI.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 in four concepts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4" name="Google Shape;694;p47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5" name="Google Shape;695;p47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96" name="Google Shape;696;p4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7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8" name="Google Shape;698;p47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whole workflow: tasks + dependencies, defined in a Python file, with a schedule.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9" name="Google Shape;699;p47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0" name="Google Shape;700;p47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01" name="Google Shape;701;p4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7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Task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unit of work — load this table, run dbt, call the enrichment script.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4" name="Google Shape;704;p47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5" name="Google Shape;705;p47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06" name="Google Shape;706;p47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47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Operator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8" name="Google Shape;708;p47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task template: SQLExecuteQueryOperator, BashOperator, PythonOperator. You configure, it executes.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0" name="Google Shape;710;p47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11" name="Google Shape;711;p47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7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Scheduler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3" name="Google Shape;713;p47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engine that watches the clock, resolves t1 &gt;&gt; t2 dependencies, and fires tasks. The web UI shows it all.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Running Airflow locally with Docker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21" name="Google Shape;721;p4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8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docker compose up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 is several services (scheduler, webserver, metadata DB). One compose file starts them all, wired together, on your laptop.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3" name="Google Shape;723;p48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24" name="Google Shape;724;p4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8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custom Dockerfile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 extend the official image to add our dependencies — the standard pattern for real deployments too.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27" name="Google Shape;727;p4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8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Volumes mount your code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local dags/ folder is mounted into the containers: edit a DAG file, refresh the UI, it's live. No rebuild loop.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Connections &amp; the two operators we use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36" name="Google Shape;736;p4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9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Connections: creds by ID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Snowflake account, user, role stored once in Airflow as snowflake_default. DAG code references the ID — no secrets in Python files.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8" name="Google Shape;738;p49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39" name="Google Shape;739;p4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9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SQLExecuteQueryOperator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Runs SQL against Snowflake through the connection — our COPY INTO reload lives here.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1" name="Google Shape;741;p49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42" name="Google Shape;742;p4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9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BashOperator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Runs shell commands — how Airflow invokes dbt build (and the enrichment script's CLI).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Keeping dbt out of Airflow's dependencies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0" name="Google Shape;750;p50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51" name="Google Shape;751;p5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0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conflict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 and dbt disagree on shared Python libraries. Install both in one environment and pip's resolver eventually loses.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3" name="Google Shape;753;p50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54" name="Google Shape;754;p5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0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fix: a venv inside the image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Dockerfile builds a dedicated virtualenv just for dbt. Airflow never imports dbt — it just shells out to it.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7" name="Google Shape;757;p50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Dockerfile (excerpt)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apache/airflow:2.9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</a:pP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RUN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python -m venv \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/opt/dbt_venv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RUN </a:t>
            </a: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/opt/dbt_venv/bin/pip \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install dbt-snowflake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</a:pP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BashOperator calls: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D9A9"/>
              </a:buClr>
              <a:buSzPts val="900"/>
              <a:buFont typeface="Courier New" panose="02070309020205020404"/>
              <a:buNone/>
            </a:pPr>
            <a:r>
              <a:rPr lang="en-US" sz="90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 /opt/dbt_venv/bin/dbt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DAG — four tasks, one story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5" name="Google Shape;765;p51"/>
          <p:cNvSpPr/>
          <p:nvPr/>
        </p:nvSpPr>
        <p:spPr>
          <a:xfrm>
            <a:off x="502920" y="1554480"/>
            <a:ext cx="17465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6" name="Google Shape;766;p51"/>
          <p:cNvSpPr/>
          <p:nvPr/>
        </p:nvSpPr>
        <p:spPr>
          <a:xfrm>
            <a:off x="1129284" y="171907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67" name="Google Shape;767;p5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48156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51"/>
          <p:cNvSpPr/>
          <p:nvPr/>
        </p:nvSpPr>
        <p:spPr>
          <a:xfrm>
            <a:off x="548640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reload_raw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9" name="Google Shape;769;p51"/>
          <p:cNvSpPr/>
          <p:nvPr/>
        </p:nvSpPr>
        <p:spPr>
          <a:xfrm>
            <a:off x="585216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COPY INTO refreshes RAW from S3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0" name="Google Shape;770;p51"/>
          <p:cNvSpPr/>
          <p:nvPr/>
        </p:nvSpPr>
        <p:spPr>
          <a:xfrm>
            <a:off x="2231136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2633472" y="1554480"/>
            <a:ext cx="174650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2" name="Google Shape;772;p51"/>
          <p:cNvSpPr/>
          <p:nvPr/>
        </p:nvSpPr>
        <p:spPr>
          <a:xfrm>
            <a:off x="3259836" y="171907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73" name="Google Shape;773;p5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78708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51"/>
          <p:cNvSpPr/>
          <p:nvPr/>
        </p:nvSpPr>
        <p:spPr>
          <a:xfrm>
            <a:off x="2679192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dbt_build_core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5" name="Google Shape;775;p51"/>
          <p:cNvSpPr/>
          <p:nvPr/>
        </p:nvSpPr>
        <p:spPr>
          <a:xfrm>
            <a:off x="2715768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build + test everything except tag:ai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6" name="Google Shape;776;p51"/>
          <p:cNvSpPr/>
          <p:nvPr/>
        </p:nvSpPr>
        <p:spPr>
          <a:xfrm>
            <a:off x="4361688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7" name="Google Shape;777;p51"/>
          <p:cNvSpPr/>
          <p:nvPr/>
        </p:nvSpPr>
        <p:spPr>
          <a:xfrm>
            <a:off x="4764024" y="1554480"/>
            <a:ext cx="1746504" cy="1600200"/>
          </a:xfrm>
          <a:prstGeom prst="roundRect">
            <a:avLst>
              <a:gd name="adj" fmla="val 4571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8" name="Google Shape;778;p51"/>
          <p:cNvSpPr/>
          <p:nvPr/>
        </p:nvSpPr>
        <p:spPr>
          <a:xfrm>
            <a:off x="5390388" y="17190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79" name="Google Shape;779;p5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509260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1"/>
          <p:cNvSpPr/>
          <p:nvPr/>
        </p:nvSpPr>
        <p:spPr>
          <a:xfrm>
            <a:off x="4809744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enrich_reviews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4846320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 adds sentiment + topic (new rows only)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6492240" y="2180844"/>
            <a:ext cx="42062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3" name="Google Shape;783;p51"/>
          <p:cNvSpPr/>
          <p:nvPr/>
        </p:nvSpPr>
        <p:spPr>
          <a:xfrm>
            <a:off x="6894576" y="1554480"/>
            <a:ext cx="1746504" cy="1600200"/>
          </a:xfrm>
          <a:prstGeom prst="roundRect">
            <a:avLst>
              <a:gd name="adj" fmla="val 4571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4" name="Google Shape;784;p51"/>
          <p:cNvSpPr/>
          <p:nvPr/>
        </p:nvSpPr>
        <p:spPr>
          <a:xfrm>
            <a:off x="7520940" y="171907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85" name="Google Shape;785;p51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39812" y="18379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51"/>
          <p:cNvSpPr/>
          <p:nvPr/>
        </p:nvSpPr>
        <p:spPr>
          <a:xfrm>
            <a:off x="6940296" y="2286000"/>
            <a:ext cx="16550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dbt_build_ai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7" name="Google Shape;787;p51"/>
          <p:cNvSpPr/>
          <p:nvPr/>
        </p:nvSpPr>
        <p:spPr>
          <a:xfrm>
            <a:off x="6976872" y="2560320"/>
            <a:ext cx="158191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build tag:ai marts on enriched data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502920" y="379476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9" name="Google Shape;789;p51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 it aloud: </a:t>
            </a:r>
            <a:r>
              <a:rPr lang="en-US" sz="115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refresh raw → build the core warehouse → let the LLM enrich → build the AI marts. The whole project in one line.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Idempotency — the property that lets you sleep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6" name="Google Shape;796;p5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97" name="Google Shape;797;p5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Definition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Running a task twice produces the same result as once: no duplicate rows, no double-billed API calls.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9" name="Google Shape;799;p5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00" name="Google Shape;800;p5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5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How we achieve it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Incremental models MERGE on keys · enrichment processes only rows NOT already enriched · loads are deterministic.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2" name="Google Shape;802;p5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03" name="Google Shape;803;p52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5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it matters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Airflow will retry failures — that's the feature. Retries are only safe when every task is idempotent. Non-idempotent + auto-retry = data corruption on a schedule.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48500" cy="32480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4035" y="3703955"/>
            <a:ext cx="30480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docker-compose up -d</a:t>
            </a:r>
            <a:endParaRPr lang="en-US"/>
          </a:p>
          <a:p>
            <a:endParaRPr lang="en-US"/>
          </a:p>
          <a:p>
            <a:r>
              <a:rPr lang="en-US"/>
              <a:t>docker-compose down</a:t>
            </a:r>
            <a:endParaRPr lang="en-US"/>
          </a:p>
          <a:p>
            <a:endParaRPr lang="en-US"/>
          </a:p>
          <a:p>
            <a:r>
              <a:rPr lang="en-US"/>
              <a:t>docker-compose up</a:t>
            </a:r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3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>
                <a:solidFill>
                  <a:srgbClr val="C22530"/>
                </a:solidFill>
              </a:rPr>
              <a:t>5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1" name="Google Shape;811;p53"/>
          <p:cNvSpPr/>
          <p:nvPr/>
        </p:nvSpPr>
        <p:spPr>
          <a:xfrm>
            <a:off x="640080" y="2045995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AI Layer (OpenAI)</a:t>
            </a:r>
            <a:endParaRPr sz="2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Why AI belongs in a data pipeline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8" name="Google Shape;818;p54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19" name="Google Shape;819;p5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4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Classic DE handles structured data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Numbers, categories, timestamps — everything so far. But huge value hides in free text: reviews, tickets, chats.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1" name="Google Shape;821;p54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22" name="Google Shape;822;p5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54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SQL can't understand meaning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SELECT can count reviews; it cannot tell you a review is an angry complaint about late delivery. That gap is exactly what LLMs close.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4" name="Google Shape;824;p54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25" name="Google Shape;825;p5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54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AI Data Engineer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Plugs an LLM into the pipeline as just another transformation, and builds apps on top of the warehouse. Not an ML researcher — an engineer with one new tool.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we'll build — three AI capabilities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502920" y="1463040"/>
            <a:ext cx="2578608" cy="2103120"/>
          </a:xfrm>
          <a:prstGeom prst="roundRect">
            <a:avLst>
              <a:gd name="adj" fmla="val 304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4" name="Google Shape;834;p55"/>
          <p:cNvSpPr/>
          <p:nvPr/>
        </p:nvSpPr>
        <p:spPr>
          <a:xfrm>
            <a:off x="704088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35" name="Google Shape;835;p5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55"/>
          <p:cNvSpPr/>
          <p:nvPr/>
        </p:nvSpPr>
        <p:spPr>
          <a:xfrm>
            <a:off x="1280160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①  Enrichment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7" name="Google Shape;837;p55"/>
          <p:cNvSpPr/>
          <p:nvPr/>
        </p:nvSpPr>
        <p:spPr>
          <a:xfrm>
            <a:off x="722376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LLM reads every review and writes sentiment + topic columns back to Snowflake. Feelings become queryable.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8" name="Google Shape;838;p55"/>
          <p:cNvSpPr/>
          <p:nvPr/>
        </p:nvSpPr>
        <p:spPr>
          <a:xfrm>
            <a:off x="3282696" y="1463040"/>
            <a:ext cx="2578608" cy="2103120"/>
          </a:xfrm>
          <a:prstGeom prst="roundRect">
            <a:avLst>
              <a:gd name="adj" fmla="val 304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9" name="Google Shape;839;p55"/>
          <p:cNvSpPr/>
          <p:nvPr/>
        </p:nvSpPr>
        <p:spPr>
          <a:xfrm>
            <a:off x="3483864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40" name="Google Shape;840;p5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93592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55"/>
          <p:cNvSpPr/>
          <p:nvPr/>
        </p:nvSpPr>
        <p:spPr>
          <a:xfrm>
            <a:off x="4059936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②  RAG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2" name="Google Shape;842;p55"/>
          <p:cNvSpPr/>
          <p:nvPr/>
        </p:nvSpPr>
        <p:spPr>
          <a:xfrm>
            <a:off x="3502152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“Chat with your reviews” — semantic search finds the relevant ones, the LLM answers only from those.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3" name="Google Shape;843;p55"/>
          <p:cNvSpPr/>
          <p:nvPr/>
        </p:nvSpPr>
        <p:spPr>
          <a:xfrm>
            <a:off x="6062472" y="1463040"/>
            <a:ext cx="2578608" cy="2103120"/>
          </a:xfrm>
          <a:prstGeom prst="roundRect">
            <a:avLst>
              <a:gd name="adj" fmla="val 304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4" name="Google Shape;844;p55"/>
          <p:cNvSpPr/>
          <p:nvPr/>
        </p:nvSpPr>
        <p:spPr>
          <a:xfrm>
            <a:off x="6263640" y="1627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45" name="Google Shape;845;p5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73368" y="17373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55"/>
          <p:cNvSpPr/>
          <p:nvPr/>
        </p:nvSpPr>
        <p:spPr>
          <a:xfrm>
            <a:off x="6839712" y="162763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③  Text-to-SQL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7" name="Google Shape;847;p55"/>
          <p:cNvSpPr/>
          <p:nvPr/>
        </p:nvSpPr>
        <p:spPr>
          <a:xfrm>
            <a:off x="6281928" y="2194560"/>
            <a:ext cx="213969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“Chat with your warehouse” — plain English in, real Snowflake SQL out, run safely, answer back.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Where LLMs sit in the AI universe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4" name="Google Shape;854;p56"/>
          <p:cNvSpPr/>
          <p:nvPr/>
        </p:nvSpPr>
        <p:spPr>
          <a:xfrm>
            <a:off x="502920" y="14356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55" name="Google Shape;855;p5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727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56"/>
          <p:cNvSpPr/>
          <p:nvPr/>
        </p:nvSpPr>
        <p:spPr>
          <a:xfrm>
            <a:off x="1280160" y="1399032"/>
            <a:ext cx="352044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model = learned patterns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Patterns learned from data that map input → output. Nobody hand-writes the rules — that's the whole point.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7" name="Google Shape;857;p56"/>
          <p:cNvSpPr/>
          <p:nvPr/>
        </p:nvSpPr>
        <p:spPr>
          <a:xfrm>
            <a:off x="502920" y="280720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58" name="Google Shape;858;p5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944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56"/>
          <p:cNvSpPr/>
          <p:nvPr/>
        </p:nvSpPr>
        <p:spPr>
          <a:xfrm>
            <a:off x="1280160" y="2770632"/>
            <a:ext cx="3520440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ring specializes the last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 is the goal; ML learns from data; deep learning uses neural networks; LLMs are deep learning applied to language.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0" name="Google Shape;860;p56"/>
          <p:cNvSpPr/>
          <p:nvPr/>
        </p:nvSpPr>
        <p:spPr>
          <a:xfrm>
            <a:off x="5029200" y="1325880"/>
            <a:ext cx="3383280" cy="3383280"/>
          </a:xfrm>
          <a:prstGeom prst="ellipse">
            <a:avLst/>
          </a:prstGeom>
          <a:solidFill>
            <a:srgbClr val="FDEDEE"/>
          </a:solidFill>
          <a:ln w="9525" cap="flat" cmpd="sng">
            <a:solidFill>
              <a:srgbClr val="F6D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1" name="Google Shape;861;p56"/>
          <p:cNvSpPr/>
          <p:nvPr/>
        </p:nvSpPr>
        <p:spPr>
          <a:xfrm>
            <a:off x="5422392" y="1719072"/>
            <a:ext cx="2596896" cy="2596896"/>
          </a:xfrm>
          <a:prstGeom prst="ellipse">
            <a:avLst/>
          </a:prstGeom>
          <a:solidFill>
            <a:srgbClr val="FADCDF"/>
          </a:solidFill>
          <a:ln w="9525" cap="flat" cmpd="sng">
            <a:solidFill>
              <a:srgbClr val="F6D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2" name="Google Shape;862;p56"/>
          <p:cNvSpPr/>
          <p:nvPr/>
        </p:nvSpPr>
        <p:spPr>
          <a:xfrm>
            <a:off x="5806440" y="2103120"/>
            <a:ext cx="1828800" cy="1828800"/>
          </a:xfrm>
          <a:prstGeom prst="ellipse">
            <a:avLst/>
          </a:prstGeom>
          <a:solidFill>
            <a:srgbClr val="F3B9BF"/>
          </a:solidFill>
          <a:ln w="9525" cap="flat" cmpd="sng">
            <a:solidFill>
              <a:srgbClr val="F6D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3" name="Google Shape;863;p56"/>
          <p:cNvSpPr/>
          <p:nvPr/>
        </p:nvSpPr>
        <p:spPr>
          <a:xfrm>
            <a:off x="6190488" y="2487168"/>
            <a:ext cx="1060704" cy="1060704"/>
          </a:xfrm>
          <a:prstGeom prst="ellipse">
            <a:avLst/>
          </a:prstGeom>
          <a:solidFill>
            <a:srgbClr val="E23744"/>
          </a:solidFill>
          <a:ln w="9525" cap="flat" cmpd="sng">
            <a:solidFill>
              <a:srgbClr val="F6D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4" name="Google Shape;864;p56"/>
          <p:cNvSpPr/>
          <p:nvPr/>
        </p:nvSpPr>
        <p:spPr>
          <a:xfrm>
            <a:off x="6190488" y="2788920"/>
            <a:ext cx="1060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LLMs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5806440" y="21305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900"/>
              <a:buFont typeface="Arial" panose="020B0604020202020204"/>
              <a:buNone/>
            </a:pPr>
            <a:r>
              <a:rPr lang="en-US" sz="9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Deep Learning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6" name="Google Shape;866;p56"/>
          <p:cNvSpPr/>
          <p:nvPr/>
        </p:nvSpPr>
        <p:spPr>
          <a:xfrm>
            <a:off x="5422392" y="1737360"/>
            <a:ext cx="25968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950"/>
              <a:buFont typeface="Arial" panose="020B0604020202020204"/>
              <a:buNone/>
            </a:pPr>
            <a:r>
              <a:rPr lang="en-US" sz="95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Machine Learning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5029200" y="13441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000"/>
              <a:buFont typeface="Arial" panose="020B0604020202020204"/>
              <a:buNone/>
            </a:pPr>
            <a:r>
              <a:rPr lang="en-US" sz="100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Artificial Intelligence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7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 LLM predicts the next token. That's it.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4" name="Google Shape;874;p57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75" name="Google Shape;875;p57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7"/>
          <p:cNvSpPr/>
          <p:nvPr/>
        </p:nvSpPr>
        <p:spPr>
          <a:xfrm>
            <a:off x="1280160" y="1353312"/>
            <a:ext cx="7360920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Trained on massive text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Large Language Model has read a huge slice of the internet with one training objective: given text so far, predict what comes next.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77" name="Google Shape;877;p57"/>
          <p:cNvSpPr/>
          <p:nvPr/>
        </p:nvSpPr>
        <p:spPr>
          <a:xfrm>
            <a:off x="502920" y="24414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78" name="Google Shape;878;p57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5786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7"/>
          <p:cNvSpPr/>
          <p:nvPr/>
        </p:nvSpPr>
        <p:spPr>
          <a:xfrm>
            <a:off x="1280160" y="2404872"/>
            <a:ext cx="7360920" cy="99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 objective, many skills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Predicting next tokens well enough forces the model to absorb grammar, facts and reasoning — so it can summarize, classify, translate and write.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0" name="Google Shape;880;p57"/>
          <p:cNvSpPr/>
          <p:nvPr/>
        </p:nvSpPr>
        <p:spPr>
          <a:xfrm>
            <a:off x="502920" y="3566160"/>
            <a:ext cx="8138160" cy="1097280"/>
          </a:xfrm>
          <a:prstGeom prst="roundRect">
            <a:avLst>
              <a:gd name="adj" fmla="val 5833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1" name="Google Shape;881;p57"/>
          <p:cNvSpPr/>
          <p:nvPr/>
        </p:nvSpPr>
        <p:spPr>
          <a:xfrm>
            <a:off x="777240" y="3566160"/>
            <a:ext cx="7589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8EE"/>
              </a:buClr>
              <a:buSzPts val="1200"/>
              <a:buFont typeface="Courier New" panose="02070309020205020404"/>
              <a:buNone/>
            </a:pPr>
            <a:r>
              <a:rPr lang="en-US" sz="12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“The biryani arrived cold and the rider was 40 minutes </a:t>
            </a:r>
            <a:r>
              <a:rPr lang="en-US" sz="1200" b="1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___”</a:t>
            </a:r>
            <a:r>
              <a:rPr lang="en-US" sz="120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→     </a:t>
            </a:r>
            <a:r>
              <a:rPr lang="en-US" sz="1200" b="1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late</a:t>
            </a:r>
            <a:r>
              <a:rPr lang="en-US" sz="120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(p=0.92)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g3f977c4936b_0_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42975" y="210575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5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42975" y="21055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money slide — read before running anything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0" name="Google Shape;900;p61"/>
          <p:cNvSpPr/>
          <p:nvPr/>
        </p:nvSpPr>
        <p:spPr>
          <a:xfrm>
            <a:off x="502920" y="14173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1" name="Google Shape;901;p61"/>
          <p:cNvSpPr/>
          <p:nvPr/>
        </p:nvSpPr>
        <p:spPr>
          <a:xfrm>
            <a:off x="50292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400"/>
              <a:buFont typeface="Arial" panose="020B0604020202020204"/>
              <a:buNone/>
            </a:pPr>
            <a:r>
              <a:rPr lang="en-US" sz="3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≈ ¾</a:t>
            </a:r>
            <a:endParaRPr sz="3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2" name="Google Shape;902;p61"/>
          <p:cNvSpPr/>
          <p:nvPr/>
        </p:nvSpPr>
        <p:spPr>
          <a:xfrm>
            <a:off x="66751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 a word = one token. Models read &amp; write tokens, and you pay per token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3" name="Google Shape;903;p61"/>
          <p:cNvSpPr/>
          <p:nvPr/>
        </p:nvSpPr>
        <p:spPr>
          <a:xfrm>
            <a:off x="3291840" y="14173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4" name="Google Shape;904;p61"/>
          <p:cNvSpPr/>
          <p:nvPr/>
        </p:nvSpPr>
        <p:spPr>
          <a:xfrm>
            <a:off x="329184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0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+ out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5" name="Google Shape;905;p61"/>
          <p:cNvSpPr/>
          <p:nvPr/>
        </p:nvSpPr>
        <p:spPr>
          <a:xfrm>
            <a:off x="345643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 pay for input tokens AND output tokens, at different rates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6080760" y="141732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7" name="Google Shape;907;p61"/>
          <p:cNvSpPr/>
          <p:nvPr/>
        </p:nvSpPr>
        <p:spPr>
          <a:xfrm>
            <a:off x="6080760" y="164592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3000"/>
              <a:buFont typeface="Arial" panose="020B0604020202020204"/>
              <a:buNone/>
            </a:pPr>
            <a:r>
              <a:rPr lang="en-US" sz="30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~$7-9</a:t>
            </a:r>
            <a:endParaRPr sz="3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6245352" y="2423160"/>
            <a:ext cx="223113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50"/>
              <a:buFont typeface="Arial" panose="020B0604020202020204"/>
              <a:buNone/>
            </a:pPr>
            <a:r>
              <a:rPr lang="en-US" sz="10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ballpark to enrich all 300K reviews with gpt-4o-mini (~45M input tokens)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9" name="Google Shape;909;p61"/>
          <p:cNvSpPr/>
          <p:nvPr/>
        </p:nvSpPr>
        <p:spPr>
          <a:xfrm>
            <a:off x="502920" y="3520440"/>
            <a:ext cx="8138160" cy="548640"/>
          </a:xfrm>
          <a:prstGeom prst="roundRect">
            <a:avLst>
              <a:gd name="adj" fmla="val 11667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0" name="Google Shape;910;p61"/>
          <p:cNvSpPr/>
          <p:nvPr/>
        </p:nvSpPr>
        <p:spPr>
          <a:xfrm>
            <a:off x="731520" y="35204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Our two defenses: </a:t>
            </a:r>
            <a:r>
              <a:rPr lang="en-US" sz="115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SAMPLE_N caps how many reviews each run processes, and idempotency guarantees no review is ever paid for twice.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context window — the model's field of view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7" name="Google Shape;917;p62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18" name="Google Shape;918;p6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62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hard limit on what fits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context window is the maximum tokens a model can see at once — prompt + data + its own reply, all inside one budget.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0" name="Google Shape;920;p62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21" name="Google Shape;921;p6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62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 you can't dump a table into a prompt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300K reviews are millions of tokens; no window holds that. “Just paste everything” is not a strategy.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3" name="Google Shape;923;p62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24" name="Google Shape;924;p62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2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Remember this limitation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It's exactly why RAG exists: retrieve only the few most relevant pieces and put those in the window. We'll build it in 6.7.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Making LLM output usable as data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2" name="Google Shape;932;p63"/>
          <p:cNvSpPr/>
          <p:nvPr/>
        </p:nvSpPr>
        <p:spPr>
          <a:xfrm>
            <a:off x="502920" y="13441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33" name="Google Shape;933;p63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63"/>
          <p:cNvSpPr/>
          <p:nvPr/>
        </p:nvSpPr>
        <p:spPr>
          <a:xfrm>
            <a:off x="1280160" y="130759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Problem: LLMs reply in prose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“This customer seems quite unhappy about…” — charming, unparseable. A pipeline needs columns.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5" name="Google Shape;935;p63"/>
          <p:cNvSpPr/>
          <p:nvPr/>
        </p:nvSpPr>
        <p:spPr>
          <a:xfrm>
            <a:off x="502920" y="262432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36" name="Google Shape;936;p63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61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63"/>
          <p:cNvSpPr/>
          <p:nvPr/>
        </p:nvSpPr>
        <p:spPr>
          <a:xfrm>
            <a:off x="1280160" y="2587752"/>
            <a:ext cx="384048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Fix: demand JSON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response_format={type:'json_object'} + a system prompt that names the exact fields. The reply parses straight into table columns — reliable, testable.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8" name="Google Shape;938;p63"/>
          <p:cNvSpPr/>
          <p:nvPr/>
        </p:nvSpPr>
        <p:spPr>
          <a:xfrm>
            <a:off x="5303520" y="132588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9" name="Google Shape;939;p63"/>
          <p:cNvSpPr/>
          <p:nvPr/>
        </p:nvSpPr>
        <p:spPr>
          <a:xfrm>
            <a:off x="5532120" y="1472184"/>
            <a:ext cx="2880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every reply, guaranteed JSON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0" name="Google Shape;940;p63"/>
          <p:cNvSpPr/>
          <p:nvPr/>
        </p:nvSpPr>
        <p:spPr>
          <a:xfrm>
            <a:off x="5532120" y="1764792"/>
            <a:ext cx="292608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"sentiment":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"negative"</a:t>
            </a:r>
            <a:r>
              <a:rPr lang="en-US" sz="95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C3F5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9CC3F5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"topic":</a:t>
            </a:r>
            <a:r>
              <a:rPr lang="en-US" sz="95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"delivery"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C87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F2C87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 panose="020F0502020204030204"/>
              <a:buNone/>
            </a:pP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sentiment ∈ positive |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negative | neutral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topic ∈ delivery | food |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E8E99"/>
              </a:buClr>
              <a:buSzPts val="950"/>
              <a:buFont typeface="Courier New" panose="02070309020205020404"/>
              <a:buNone/>
            </a:pPr>
            <a:r>
              <a:rPr lang="en-US" sz="950" b="0" i="0" u="none" strike="noStrike" cap="none">
                <a:solidFill>
                  <a:srgbClr val="8E8E9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price | app | service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4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 enrichment — a normal ELT step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7" name="Google Shape;947;p64"/>
          <p:cNvSpPr/>
          <p:nvPr/>
        </p:nvSpPr>
        <p:spPr>
          <a:xfrm>
            <a:off x="502920" y="1417320"/>
            <a:ext cx="2407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8" name="Google Shape;948;p64"/>
          <p:cNvSpPr/>
          <p:nvPr/>
        </p:nvSpPr>
        <p:spPr>
          <a:xfrm>
            <a:off x="145999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49" name="Google Shape;949;p64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7886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64"/>
          <p:cNvSpPr/>
          <p:nvPr/>
        </p:nvSpPr>
        <p:spPr>
          <a:xfrm>
            <a:off x="54864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READ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1" name="Google Shape;951;p64"/>
          <p:cNvSpPr/>
          <p:nvPr/>
        </p:nvSpPr>
        <p:spPr>
          <a:xfrm>
            <a:off x="58521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un-enriched reviews from Snowflake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2" name="Google Shape;952;p64"/>
          <p:cNvSpPr/>
          <p:nvPr/>
        </p:nvSpPr>
        <p:spPr>
          <a:xfrm>
            <a:off x="2892552" y="19293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3" name="Google Shape;953;p64"/>
          <p:cNvSpPr/>
          <p:nvPr/>
        </p:nvSpPr>
        <p:spPr>
          <a:xfrm>
            <a:off x="3368040" y="1417320"/>
            <a:ext cx="2407920" cy="1371600"/>
          </a:xfrm>
          <a:prstGeom prst="roundRect">
            <a:avLst>
              <a:gd name="adj" fmla="val 5333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4" name="Google Shape;954;p64"/>
          <p:cNvSpPr/>
          <p:nvPr/>
        </p:nvSpPr>
        <p:spPr>
          <a:xfrm>
            <a:off x="432511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55" name="Google Shape;955;p64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398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64"/>
          <p:cNvSpPr/>
          <p:nvPr/>
        </p:nvSpPr>
        <p:spPr>
          <a:xfrm>
            <a:off x="341376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CALL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7" name="Google Shape;957;p64"/>
          <p:cNvSpPr/>
          <p:nvPr/>
        </p:nvSpPr>
        <p:spPr>
          <a:xfrm>
            <a:off x="345033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gpt-4o-mini classifies each comment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8" name="Google Shape;958;p64"/>
          <p:cNvSpPr/>
          <p:nvPr/>
        </p:nvSpPr>
        <p:spPr>
          <a:xfrm>
            <a:off x="5757672" y="192938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9" name="Google Shape;959;p64"/>
          <p:cNvSpPr/>
          <p:nvPr/>
        </p:nvSpPr>
        <p:spPr>
          <a:xfrm>
            <a:off x="6233160" y="1417320"/>
            <a:ext cx="2407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0" name="Google Shape;960;p64"/>
          <p:cNvSpPr/>
          <p:nvPr/>
        </p:nvSpPr>
        <p:spPr>
          <a:xfrm>
            <a:off x="719023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61" name="Google Shape;961;p64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0910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64"/>
          <p:cNvSpPr/>
          <p:nvPr/>
        </p:nvSpPr>
        <p:spPr>
          <a:xfrm>
            <a:off x="627888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WRITE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3" name="Google Shape;963;p64"/>
          <p:cNvSpPr/>
          <p:nvPr/>
        </p:nvSpPr>
        <p:spPr>
          <a:xfrm>
            <a:off x="6315456" y="2423160"/>
            <a:ext cx="2243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sentiment + topic rows into AI.REVIEW_ENRICHED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502920" y="379476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2323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5" name="Google Shape;965;p64"/>
          <p:cNvSpPr/>
          <p:nvPr/>
        </p:nvSpPr>
        <p:spPr>
          <a:xfrm>
            <a:off x="731520" y="3941064"/>
            <a:ext cx="772668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 panose="02070309020205020404"/>
              <a:buNone/>
            </a:pP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SELECT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city, topic, count(*) </a:t>
            </a: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FROM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mart_review_insights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9AA3"/>
              </a:buClr>
              <a:buSzPts val="1000"/>
              <a:buFont typeface="Courier New" panose="02070309020205020404"/>
              <a:buNone/>
            </a:pP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WHERE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sentiment = </a:t>
            </a:r>
            <a:r>
              <a:rPr lang="en-US" sz="1000" b="0" i="0" u="none" strike="noStrike" cap="none">
                <a:solidFill>
                  <a:srgbClr val="8BD9A9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'negative' </a:t>
            </a: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GROUP BY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1,2 </a:t>
            </a: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ORDER BY 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 </a:t>
            </a:r>
            <a:r>
              <a:rPr lang="en-US" sz="1000" b="0" i="0" u="none" strike="noStrike" cap="none">
                <a:solidFill>
                  <a:srgbClr val="F09AA3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DESC</a:t>
            </a:r>
            <a:r>
              <a:rPr lang="en-US" sz="1000" b="0" i="0" u="none" strike="noStrike" cap="none">
                <a:solidFill>
                  <a:srgbClr val="E8E8EE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6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Enrichment done right: idempotent &amp; modeled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2" name="Google Shape;972;p65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73" name="Google Shape;973;p6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65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Never pay for the same review twice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run selects reviews NOT IN (already enriched) LIMIT SAMPLE_N. Re-run all you like — only new rows cost money.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5" name="Google Shape;975;p65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76" name="Google Shape;976;p6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65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LLM's output is just another table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ZOMATO.AI.REVIEW_ENRICHED is declared as a dbt source; mart_review_insights joins it with the star schema like any other data.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8" name="Google Shape;978;p65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79" name="Google Shape;979;p6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65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“aha” of the whole module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AI folds cleanly into the medallion flow. No special AI infrastructure — a source, a model, a mart. That's the AI Data Engineer pattern.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6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67000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6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42975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 in three steps — chat with your reviews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5" name="Google Shape;1005;p69"/>
          <p:cNvSpPr/>
          <p:nvPr/>
        </p:nvSpPr>
        <p:spPr>
          <a:xfrm>
            <a:off x="502920" y="1417320"/>
            <a:ext cx="2407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6" name="Google Shape;1006;p69"/>
          <p:cNvSpPr/>
          <p:nvPr/>
        </p:nvSpPr>
        <p:spPr>
          <a:xfrm>
            <a:off x="145999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07" name="Google Shape;1007;p6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57886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69"/>
          <p:cNvSpPr/>
          <p:nvPr/>
        </p:nvSpPr>
        <p:spPr>
          <a:xfrm>
            <a:off x="54864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 · EMBED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9" name="Google Shape;1009;p69"/>
          <p:cNvSpPr/>
          <p:nvPr/>
        </p:nvSpPr>
        <p:spPr>
          <a:xfrm>
            <a:off x="58521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All reviews → vectors, once, cached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0" name="Google Shape;1010;p69"/>
          <p:cNvSpPr/>
          <p:nvPr/>
        </p:nvSpPr>
        <p:spPr>
          <a:xfrm>
            <a:off x="2892552" y="197510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1" name="Google Shape;1011;p69"/>
          <p:cNvSpPr/>
          <p:nvPr/>
        </p:nvSpPr>
        <p:spPr>
          <a:xfrm>
            <a:off x="3368040" y="1417320"/>
            <a:ext cx="2407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2" name="Google Shape;1012;p69"/>
          <p:cNvSpPr/>
          <p:nvPr/>
        </p:nvSpPr>
        <p:spPr>
          <a:xfrm>
            <a:off x="432511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13" name="Google Shape;1013;p6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398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69"/>
          <p:cNvSpPr/>
          <p:nvPr/>
        </p:nvSpPr>
        <p:spPr>
          <a:xfrm>
            <a:off x="341376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 · RETRIEVE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5" name="Google Shape;1015;p69"/>
          <p:cNvSpPr/>
          <p:nvPr/>
        </p:nvSpPr>
        <p:spPr>
          <a:xfrm>
            <a:off x="345033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Embed the question; find the most similar reviews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6" name="Google Shape;1016;p69"/>
          <p:cNvSpPr/>
          <p:nvPr/>
        </p:nvSpPr>
        <p:spPr>
          <a:xfrm>
            <a:off x="5757672" y="1975104"/>
            <a:ext cx="4937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7" name="Google Shape;1017;p69"/>
          <p:cNvSpPr/>
          <p:nvPr/>
        </p:nvSpPr>
        <p:spPr>
          <a:xfrm>
            <a:off x="6233160" y="1417320"/>
            <a:ext cx="2407920" cy="1463040"/>
          </a:xfrm>
          <a:prstGeom prst="roundRect">
            <a:avLst>
              <a:gd name="adj" fmla="val 5000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8" name="Google Shape;1018;p69"/>
          <p:cNvSpPr/>
          <p:nvPr/>
        </p:nvSpPr>
        <p:spPr>
          <a:xfrm>
            <a:off x="719023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19" name="Google Shape;1019;p6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30910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69"/>
          <p:cNvSpPr/>
          <p:nvPr/>
        </p:nvSpPr>
        <p:spPr>
          <a:xfrm>
            <a:off x="6278880" y="2148840"/>
            <a:ext cx="231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 · GENERATE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1" name="Google Shape;1021;p69"/>
          <p:cNvSpPr/>
          <p:nvPr/>
        </p:nvSpPr>
        <p:spPr>
          <a:xfrm>
            <a:off x="6315456" y="2423160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 answers using only those reviews as context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2" name="Google Shape;1022;p69"/>
          <p:cNvSpPr/>
          <p:nvPr/>
        </p:nvSpPr>
        <p:spPr>
          <a:xfrm>
            <a:off x="502920" y="31729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23" name="Google Shape;1023;p69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0080" y="33101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69"/>
          <p:cNvSpPr/>
          <p:nvPr/>
        </p:nvSpPr>
        <p:spPr>
          <a:xfrm>
            <a:off x="1280160" y="3136392"/>
            <a:ext cx="736092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answer ships with its sources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app shows the reviews it used — you can verify every claim. That's what makes RAG trustworthy.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5" name="Google Shape;1025;p69"/>
          <p:cNvSpPr/>
          <p:nvPr/>
        </p:nvSpPr>
        <p:spPr>
          <a:xfrm>
            <a:off x="502920" y="40416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26" name="Google Shape;1026;p69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40080" y="4178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69"/>
          <p:cNvSpPr/>
          <p:nvPr/>
        </p:nvSpPr>
        <p:spPr>
          <a:xfrm>
            <a:off x="1280160" y="4005072"/>
            <a:ext cx="736092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And it solves the context window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Retrieval fits only the relevant slice into the window — the limitation from 6.3, answered.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70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Text-to-SQL — chat with your warehouse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4" name="Google Shape;1034;p70"/>
          <p:cNvSpPr/>
          <p:nvPr/>
        </p:nvSpPr>
        <p:spPr>
          <a:xfrm>
            <a:off x="502920" y="1417320"/>
            <a:ext cx="17602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5" name="Google Shape;1035;p70"/>
          <p:cNvSpPr/>
          <p:nvPr/>
        </p:nvSpPr>
        <p:spPr>
          <a:xfrm>
            <a:off x="113614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36" name="Google Shape;1036;p70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5501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70"/>
          <p:cNvSpPr/>
          <p:nvPr/>
        </p:nvSpPr>
        <p:spPr>
          <a:xfrm>
            <a:off x="54864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English question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8" name="Google Shape;1038;p70"/>
          <p:cNvSpPr/>
          <p:nvPr/>
        </p:nvSpPr>
        <p:spPr>
          <a:xfrm>
            <a:off x="58521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“Which city cancels the most?”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9" name="Google Shape;1039;p70"/>
          <p:cNvSpPr/>
          <p:nvPr/>
        </p:nvSpPr>
        <p:spPr>
          <a:xfrm>
            <a:off x="224485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0" name="Google Shape;1040;p70"/>
          <p:cNvSpPr/>
          <p:nvPr/>
        </p:nvSpPr>
        <p:spPr>
          <a:xfrm>
            <a:off x="2628900" y="1417320"/>
            <a:ext cx="1760220" cy="1508760"/>
          </a:xfrm>
          <a:prstGeom prst="roundRect">
            <a:avLst>
              <a:gd name="adj" fmla="val 4848"/>
            </a:avLst>
          </a:prstGeom>
          <a:solidFill>
            <a:srgbClr val="FDEDEE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1" name="Google Shape;1041;p70"/>
          <p:cNvSpPr/>
          <p:nvPr/>
        </p:nvSpPr>
        <p:spPr>
          <a:xfrm>
            <a:off x="3262122" y="158191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42" name="Google Shape;1042;p70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38099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70"/>
          <p:cNvSpPr/>
          <p:nvPr/>
        </p:nvSpPr>
        <p:spPr>
          <a:xfrm>
            <a:off x="267462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 + schema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4" name="Google Shape;1044;p70"/>
          <p:cNvSpPr/>
          <p:nvPr/>
        </p:nvSpPr>
        <p:spPr>
          <a:xfrm>
            <a:off x="271119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prompt includes the marts' tables &amp; columns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5" name="Google Shape;1045;p70"/>
          <p:cNvSpPr/>
          <p:nvPr/>
        </p:nvSpPr>
        <p:spPr>
          <a:xfrm>
            <a:off x="437083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6" name="Google Shape;1046;p70"/>
          <p:cNvSpPr/>
          <p:nvPr/>
        </p:nvSpPr>
        <p:spPr>
          <a:xfrm>
            <a:off x="4754880" y="1417320"/>
            <a:ext cx="17602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7" name="Google Shape;1047;p70"/>
          <p:cNvSpPr/>
          <p:nvPr/>
        </p:nvSpPr>
        <p:spPr>
          <a:xfrm>
            <a:off x="538810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48" name="Google Shape;1048;p70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50697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0"/>
          <p:cNvSpPr/>
          <p:nvPr/>
        </p:nvSpPr>
        <p:spPr>
          <a:xfrm>
            <a:off x="480060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SQL runs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0" name="Google Shape;1050;p70"/>
          <p:cNvSpPr/>
          <p:nvPr/>
        </p:nvSpPr>
        <p:spPr>
          <a:xfrm>
            <a:off x="483717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generated SELECT executes on Snowflake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1" name="Google Shape;1051;p70"/>
          <p:cNvSpPr/>
          <p:nvPr/>
        </p:nvSpPr>
        <p:spPr>
          <a:xfrm>
            <a:off x="6496812" y="1997964"/>
            <a:ext cx="4023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→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2" name="Google Shape;1052;p70"/>
          <p:cNvSpPr/>
          <p:nvPr/>
        </p:nvSpPr>
        <p:spPr>
          <a:xfrm>
            <a:off x="6880860" y="1417320"/>
            <a:ext cx="17602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3" name="Google Shape;1053;p70"/>
          <p:cNvSpPr/>
          <p:nvPr/>
        </p:nvSpPr>
        <p:spPr>
          <a:xfrm>
            <a:off x="7514082" y="1581912"/>
            <a:ext cx="493776" cy="493776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54" name="Google Shape;1054;p70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32954" y="17007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0"/>
          <p:cNvSpPr/>
          <p:nvPr/>
        </p:nvSpPr>
        <p:spPr>
          <a:xfrm>
            <a:off x="6926580" y="2148840"/>
            <a:ext cx="16687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+ SQL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6" name="Google Shape;1056;p70"/>
          <p:cNvSpPr/>
          <p:nvPr/>
        </p:nvSpPr>
        <p:spPr>
          <a:xfrm>
            <a:off x="6963156" y="2423160"/>
            <a:ext cx="159562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00"/>
              <a:buFont typeface="Arial" panose="020B0604020202020204"/>
              <a:buNone/>
            </a:pPr>
            <a:r>
              <a:rPr lang="en-US" sz="9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 shown with the query for review</a:t>
            </a:r>
            <a:endParaRPr sz="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7" name="Google Shape;1057;p70"/>
          <p:cNvSpPr/>
          <p:nvPr/>
        </p:nvSpPr>
        <p:spPr>
          <a:xfrm>
            <a:off x="502920" y="324612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8" name="Google Shape;1058;p70"/>
          <p:cNvSpPr/>
          <p:nvPr/>
        </p:nvSpPr>
        <p:spPr>
          <a:xfrm>
            <a:off x="731520" y="324612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1E29"/>
              </a:buClr>
              <a:buSzPts val="1150"/>
              <a:buFont typeface="Arial" panose="020B0604020202020204"/>
              <a:buNone/>
            </a:pPr>
            <a:r>
              <a:rPr lang="en-US" sz="1150" b="1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Schema-grounding: </a:t>
            </a:r>
            <a:r>
              <a:rPr lang="en-US" sz="1150" b="0" i="0" u="none" strike="noStrike" cap="none">
                <a:solidFill>
                  <a:srgbClr val="A31E2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model writes correct SQL because it sees your real table and column names — no invented columns. Same grounding idea as RAG, applied to metadata.</a:t>
            </a:r>
            <a:endParaRPr sz="11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9" name="Google Shape;1059;p70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100"/>
              <a:buFont typeface="Arial" panose="020B0604020202020204"/>
              <a:buNone/>
            </a:pPr>
            <a:r>
              <a:rPr lang="en-US" sz="1100" b="0" i="1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headline demo: someone who's never written SQL asks the warehouse a question and gets a real answer.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1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Making text-to-SQL safe to run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6" name="Google Shape;1066;p71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67" name="Google Shape;1067;p7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71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Guardrail 1: SELECT-only validation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Before executing, verify the generated query is a read-only SELECT — reject DROP / DELETE / UPDATE / anything else. Code checks, not vibes.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9" name="Google Shape;1069;p71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70" name="Google Shape;1070;p7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1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Guardrail 2: a limited role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app connects as DBT_ROLE, not admin — even a malicious query couldn't do damage. Defense in depth.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2" name="Google Shape;1072;p71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73" name="Google Shape;1073;p71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71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bugs were the best teachers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Real failures we hit: 2-part vs 3-part table names, and sentiment stored lowercase while the model guessed 'Negative'. Lesson: ground the model precisely or it improvises.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2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Putting the AI layer into production shape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1" name="Google Shape;1081;p72"/>
          <p:cNvSpPr/>
          <p:nvPr/>
        </p:nvSpPr>
        <p:spPr>
          <a:xfrm>
            <a:off x="502920" y="1325880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2" name="Google Shape;1082;p72"/>
          <p:cNvSpPr/>
          <p:nvPr/>
        </p:nvSpPr>
        <p:spPr>
          <a:xfrm>
            <a:off x="704088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83" name="Google Shape;1083;p72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72"/>
          <p:cNvSpPr/>
          <p:nvPr/>
        </p:nvSpPr>
        <p:spPr>
          <a:xfrm>
            <a:off x="1280160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Enrichment is an Airflow task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5" name="Google Shape;1085;p72"/>
          <p:cNvSpPr/>
          <p:nvPr/>
        </p:nvSpPr>
        <p:spPr>
          <a:xfrm>
            <a:off x="722376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enrich_reviews runs between dbt_build_core and dbt_build_ai — scheduled, retried, idempotent like everything else.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6" name="Google Shape;1086;p72"/>
          <p:cNvSpPr/>
          <p:nvPr/>
        </p:nvSpPr>
        <p:spPr>
          <a:xfrm>
            <a:off x="4672584" y="1325880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7" name="Google Shape;1087;p72"/>
          <p:cNvSpPr/>
          <p:nvPr/>
        </p:nvSpPr>
        <p:spPr>
          <a:xfrm>
            <a:off x="4873752" y="1490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88" name="Google Shape;1088;p72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480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72"/>
          <p:cNvSpPr/>
          <p:nvPr/>
        </p:nvSpPr>
        <p:spPr>
          <a:xfrm>
            <a:off x="5449824" y="149047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 &amp; text-to-SQL are apps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0" name="Google Shape;1090;p72"/>
          <p:cNvSpPr/>
          <p:nvPr/>
        </p:nvSpPr>
        <p:spPr>
          <a:xfrm>
            <a:off x="4892040" y="2057400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Streamlit serving apps that sit on top of the warehouse — they read, they never load.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1" name="Google Shape;1091;p72"/>
          <p:cNvSpPr/>
          <p:nvPr/>
        </p:nvSpPr>
        <p:spPr>
          <a:xfrm>
            <a:off x="502920" y="3209544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2" name="Google Shape;1092;p72"/>
          <p:cNvSpPr/>
          <p:nvPr/>
        </p:nvSpPr>
        <p:spPr>
          <a:xfrm>
            <a:off x="704088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93" name="Google Shape;1093;p72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3816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72"/>
          <p:cNvSpPr/>
          <p:nvPr/>
        </p:nvSpPr>
        <p:spPr>
          <a:xfrm>
            <a:off x="1280160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Cost control recap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5" name="Google Shape;1095;p72"/>
          <p:cNvSpPr/>
          <p:nvPr/>
        </p:nvSpPr>
        <p:spPr>
          <a:xfrm>
            <a:off x="722376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SAMPLE_N caps volume · cheap model · idempotent enrichment · embeddings cached, never recomputed.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6" name="Google Shape;1096;p72"/>
          <p:cNvSpPr/>
          <p:nvPr/>
        </p:nvSpPr>
        <p:spPr>
          <a:xfrm>
            <a:off x="4672584" y="3209544"/>
            <a:ext cx="3968496" cy="1682496"/>
          </a:xfrm>
          <a:prstGeom prst="roundRect">
            <a:avLst>
              <a:gd name="adj" fmla="val 380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7" name="Google Shape;1097;p72"/>
          <p:cNvSpPr/>
          <p:nvPr/>
        </p:nvSpPr>
        <p:spPr>
          <a:xfrm>
            <a:off x="4873752" y="337413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98" name="Google Shape;1098;p72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83480" y="348386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72"/>
          <p:cNvSpPr/>
          <p:nvPr/>
        </p:nvSpPr>
        <p:spPr>
          <a:xfrm>
            <a:off x="5449824" y="337413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0" name="Google Shape;1100;p72"/>
          <p:cNvSpPr/>
          <p:nvPr/>
        </p:nvSpPr>
        <p:spPr>
          <a:xfrm>
            <a:off x="4892040" y="3941064"/>
            <a:ext cx="3529584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OPENAI_API_KEY lives in an environment variable. Never in code, never in Git — same rule as the AWS keys.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3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AI vocabulary — one slide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7" name="Google Shape;1107;p73"/>
          <p:cNvSpPr/>
          <p:nvPr/>
        </p:nvSpPr>
        <p:spPr>
          <a:xfrm>
            <a:off x="502920" y="1280160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8" name="Google Shape;1108;p73"/>
          <p:cNvSpPr/>
          <p:nvPr/>
        </p:nvSpPr>
        <p:spPr>
          <a:xfrm>
            <a:off x="63093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LLM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model that predicts next tokens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9" name="Google Shape;1109;p73"/>
          <p:cNvSpPr/>
          <p:nvPr/>
        </p:nvSpPr>
        <p:spPr>
          <a:xfrm>
            <a:off x="3291840" y="1280160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0" name="Google Shape;1110;p73"/>
          <p:cNvSpPr/>
          <p:nvPr/>
        </p:nvSpPr>
        <p:spPr>
          <a:xfrm>
            <a:off x="341985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prompt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your instruction (system + user)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1" name="Google Shape;1111;p73"/>
          <p:cNvSpPr/>
          <p:nvPr/>
        </p:nvSpPr>
        <p:spPr>
          <a:xfrm>
            <a:off x="6080760" y="1280160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2" name="Google Shape;1112;p73"/>
          <p:cNvSpPr/>
          <p:nvPr/>
        </p:nvSpPr>
        <p:spPr>
          <a:xfrm>
            <a:off x="6208776" y="1335024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token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≈ ¾ word; the unit you pay for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3" name="Google Shape;1113;p73"/>
          <p:cNvSpPr/>
          <p:nvPr/>
        </p:nvSpPr>
        <p:spPr>
          <a:xfrm>
            <a:off x="502920" y="1993392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4" name="Google Shape;1114;p73"/>
          <p:cNvSpPr/>
          <p:nvPr/>
        </p:nvSpPr>
        <p:spPr>
          <a:xfrm>
            <a:off x="63093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context window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max tokens seen at once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5" name="Google Shape;1115;p73"/>
          <p:cNvSpPr/>
          <p:nvPr/>
        </p:nvSpPr>
        <p:spPr>
          <a:xfrm>
            <a:off x="3291840" y="1993392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6" name="Google Shape;1116;p73"/>
          <p:cNvSpPr/>
          <p:nvPr/>
        </p:nvSpPr>
        <p:spPr>
          <a:xfrm>
            <a:off x="341985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temperature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randomness dial; low = stable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7" name="Google Shape;1117;p73"/>
          <p:cNvSpPr/>
          <p:nvPr/>
        </p:nvSpPr>
        <p:spPr>
          <a:xfrm>
            <a:off x="6080760" y="1993392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8" name="Google Shape;1118;p73"/>
          <p:cNvSpPr/>
          <p:nvPr/>
        </p:nvSpPr>
        <p:spPr>
          <a:xfrm>
            <a:off x="6208776" y="2048256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structured output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force JSON, get columns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9" name="Google Shape;1119;p73"/>
          <p:cNvSpPr/>
          <p:nvPr/>
        </p:nvSpPr>
        <p:spPr>
          <a:xfrm>
            <a:off x="502920" y="2706624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0" name="Google Shape;1120;p73"/>
          <p:cNvSpPr/>
          <p:nvPr/>
        </p:nvSpPr>
        <p:spPr>
          <a:xfrm>
            <a:off x="63093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embedding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text → vector of meaning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1" name="Google Shape;1121;p73"/>
          <p:cNvSpPr/>
          <p:nvPr/>
        </p:nvSpPr>
        <p:spPr>
          <a:xfrm>
            <a:off x="3291840" y="2706624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2" name="Google Shape;1122;p73"/>
          <p:cNvSpPr/>
          <p:nvPr/>
        </p:nvSpPr>
        <p:spPr>
          <a:xfrm>
            <a:off x="341985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vector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list of numbers = a location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3" name="Google Shape;1123;p73"/>
          <p:cNvSpPr/>
          <p:nvPr/>
        </p:nvSpPr>
        <p:spPr>
          <a:xfrm>
            <a:off x="6080760" y="2706624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4" name="Google Shape;1124;p73"/>
          <p:cNvSpPr/>
          <p:nvPr/>
        </p:nvSpPr>
        <p:spPr>
          <a:xfrm>
            <a:off x="6208776" y="2761488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cosine similarity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closeness of two vectors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5" name="Google Shape;1125;p73"/>
          <p:cNvSpPr/>
          <p:nvPr/>
        </p:nvSpPr>
        <p:spPr>
          <a:xfrm>
            <a:off x="502920" y="3419856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6" name="Google Shape;1126;p73"/>
          <p:cNvSpPr/>
          <p:nvPr/>
        </p:nvSpPr>
        <p:spPr>
          <a:xfrm>
            <a:off x="63093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vector store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searchable home for vectors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7" name="Google Shape;1127;p73"/>
          <p:cNvSpPr/>
          <p:nvPr/>
        </p:nvSpPr>
        <p:spPr>
          <a:xfrm>
            <a:off x="3291840" y="3419856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8" name="Google Shape;1128;p73"/>
          <p:cNvSpPr/>
          <p:nvPr/>
        </p:nvSpPr>
        <p:spPr>
          <a:xfrm>
            <a:off x="341985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retrieve, then generate grounded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9" name="Google Shape;1129;p73"/>
          <p:cNvSpPr/>
          <p:nvPr/>
        </p:nvSpPr>
        <p:spPr>
          <a:xfrm>
            <a:off x="6080760" y="3419856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0" name="Google Shape;1130;p73"/>
          <p:cNvSpPr/>
          <p:nvPr/>
        </p:nvSpPr>
        <p:spPr>
          <a:xfrm>
            <a:off x="6208776" y="3474720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grounding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 only from given data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1" name="Google Shape;1131;p73"/>
          <p:cNvSpPr/>
          <p:nvPr/>
        </p:nvSpPr>
        <p:spPr>
          <a:xfrm>
            <a:off x="502920" y="4133088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2" name="Google Shape;1132;p73"/>
          <p:cNvSpPr/>
          <p:nvPr/>
        </p:nvSpPr>
        <p:spPr>
          <a:xfrm>
            <a:off x="63093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hallucination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confident made-up output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3" name="Google Shape;1133;p73"/>
          <p:cNvSpPr/>
          <p:nvPr/>
        </p:nvSpPr>
        <p:spPr>
          <a:xfrm>
            <a:off x="3291840" y="4133088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4" name="Google Shape;1134;p73"/>
          <p:cNvSpPr/>
          <p:nvPr/>
        </p:nvSpPr>
        <p:spPr>
          <a:xfrm>
            <a:off x="341985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schema-grounding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show real tables → real SQL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5" name="Google Shape;1135;p73"/>
          <p:cNvSpPr/>
          <p:nvPr/>
        </p:nvSpPr>
        <p:spPr>
          <a:xfrm>
            <a:off x="6080760" y="4133088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6" name="Google Shape;1136;p73"/>
          <p:cNvSpPr/>
          <p:nvPr/>
        </p:nvSpPr>
        <p:spPr>
          <a:xfrm>
            <a:off x="6208776" y="4187952"/>
            <a:ext cx="24323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3744"/>
              </a:buClr>
              <a:buSzPts val="1050"/>
              <a:buFont typeface="Arial" panose="020B0604020202020204"/>
              <a:buNone/>
            </a:pPr>
            <a:r>
              <a:rPr lang="en-US" sz="1050" b="1" i="0" u="none" strike="noStrike" cap="none">
                <a:solidFill>
                  <a:srgbClr val="E2374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idempotency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850"/>
              <a:buFont typeface="Arial" panose="020B0604020202020204"/>
              <a:buNone/>
            </a:pPr>
            <a:r>
              <a:rPr lang="en-US" sz="8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re-runs never double-pay</a:t>
            </a:r>
            <a:endParaRPr sz="10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4"/>
          <p:cNvSpPr/>
          <p:nvPr/>
        </p:nvSpPr>
        <p:spPr>
          <a:xfrm>
            <a:off x="5394960" y="548640"/>
            <a:ext cx="338328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>
                <a:solidFill>
                  <a:srgbClr val="C22530"/>
                </a:solidFill>
              </a:rPr>
              <a:t>6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3" name="Google Shape;1143;p74"/>
          <p:cNvSpPr/>
          <p:nvPr/>
        </p:nvSpPr>
        <p:spPr>
          <a:xfrm>
            <a:off x="640080" y="232717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Serving &amp; Dashboards</a:t>
            </a:r>
            <a:endParaRPr sz="2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75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questions the Gold layer answers in one SELECT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0" name="Google Shape;1150;p75"/>
          <p:cNvSpPr/>
          <p:nvPr/>
        </p:nvSpPr>
        <p:spPr>
          <a:xfrm>
            <a:off x="502920" y="1280160"/>
            <a:ext cx="2578608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1" name="Google Shape;1151;p75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52" name="Google Shape;1152;p75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75"/>
          <p:cNvSpPr/>
          <p:nvPr/>
        </p:nvSpPr>
        <p:spPr>
          <a:xfrm>
            <a:off x="1280160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GMV &amp; AOV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4" name="Google Shape;1154;p75"/>
          <p:cNvSpPr/>
          <p:nvPr/>
        </p:nvSpPr>
        <p:spPr>
          <a:xfrm>
            <a:off x="722376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Gross merchandise value and average order value — by day, city, cuisine.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5" name="Google Shape;1155;p75"/>
          <p:cNvSpPr/>
          <p:nvPr/>
        </p:nvSpPr>
        <p:spPr>
          <a:xfrm>
            <a:off x="3282696" y="1280160"/>
            <a:ext cx="2578608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56" name="Google Shape;1156;p75"/>
          <p:cNvSpPr/>
          <p:nvPr/>
        </p:nvSpPr>
        <p:spPr>
          <a:xfrm>
            <a:off x="3483864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57" name="Google Shape;1157;p75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93592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75"/>
          <p:cNvSpPr/>
          <p:nvPr/>
        </p:nvSpPr>
        <p:spPr>
          <a:xfrm>
            <a:off x="4059936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Cancel rate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9" name="Google Shape;1159;p75"/>
          <p:cNvSpPr/>
          <p:nvPr/>
        </p:nvSpPr>
        <p:spPr>
          <a:xfrm>
            <a:off x="3502152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Where and when orders die — by city, hour and restaurant.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0" name="Google Shape;1160;p75"/>
          <p:cNvSpPr/>
          <p:nvPr/>
        </p:nvSpPr>
        <p:spPr>
          <a:xfrm>
            <a:off x="6062472" y="1280160"/>
            <a:ext cx="2578608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1" name="Google Shape;1161;p75"/>
          <p:cNvSpPr/>
          <p:nvPr/>
        </p:nvSpPr>
        <p:spPr>
          <a:xfrm>
            <a:off x="6263640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62" name="Google Shape;1162;p75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73368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5"/>
          <p:cNvSpPr/>
          <p:nvPr/>
        </p:nvSpPr>
        <p:spPr>
          <a:xfrm>
            <a:off x="6839712" y="1444752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Delivery SLA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4" name="Google Shape;1164;p75"/>
          <p:cNvSpPr/>
          <p:nvPr/>
        </p:nvSpPr>
        <p:spPr>
          <a:xfrm>
            <a:off x="6281928" y="2011680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Median and p90 delivery time — honest numbers, not averages.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5" name="Google Shape;1165;p75"/>
          <p:cNvSpPr/>
          <p:nvPr/>
        </p:nvSpPr>
        <p:spPr>
          <a:xfrm>
            <a:off x="502920" y="3186684"/>
            <a:ext cx="2578608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6" name="Google Shape;1166;p75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67" name="Google Shape;1167;p75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75"/>
          <p:cNvSpPr/>
          <p:nvPr/>
        </p:nvSpPr>
        <p:spPr>
          <a:xfrm>
            <a:off x="1280160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Cohorts &amp; retention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9" name="Google Shape;1169;p75"/>
          <p:cNvSpPr/>
          <p:nvPr/>
        </p:nvSpPr>
        <p:spPr>
          <a:xfrm>
            <a:off x="722376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Which signup months keep ordering — the growth team's favorite chart.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0" name="Google Shape;1170;p75"/>
          <p:cNvSpPr/>
          <p:nvPr/>
        </p:nvSpPr>
        <p:spPr>
          <a:xfrm>
            <a:off x="3282696" y="3186684"/>
            <a:ext cx="2578608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1" name="Google Shape;1171;p75"/>
          <p:cNvSpPr/>
          <p:nvPr/>
        </p:nvSpPr>
        <p:spPr>
          <a:xfrm>
            <a:off x="3483864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72" name="Google Shape;1172;p75" descr="preencoded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593592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75"/>
          <p:cNvSpPr/>
          <p:nvPr/>
        </p:nvSpPr>
        <p:spPr>
          <a:xfrm>
            <a:off x="4059936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Sentiment × topic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4" name="Google Shape;1174;p75"/>
          <p:cNvSpPr/>
          <p:nvPr/>
        </p:nvSpPr>
        <p:spPr>
          <a:xfrm>
            <a:off x="3502152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AI mart: what customers complain about, per city — now in SQL.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5" name="Google Shape;1175;p75"/>
          <p:cNvSpPr/>
          <p:nvPr/>
        </p:nvSpPr>
        <p:spPr>
          <a:xfrm>
            <a:off x="6062472" y="3186684"/>
            <a:ext cx="2578608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6" name="Google Shape;1176;p75"/>
          <p:cNvSpPr/>
          <p:nvPr/>
        </p:nvSpPr>
        <p:spPr>
          <a:xfrm>
            <a:off x="6263640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77" name="Google Shape;1177;p75" descr="preencoded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373368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75"/>
          <p:cNvSpPr/>
          <p:nvPr/>
        </p:nvSpPr>
        <p:spPr>
          <a:xfrm>
            <a:off x="6839712" y="3351276"/>
            <a:ext cx="16184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Restaurant quality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9" name="Google Shape;1179;p75"/>
          <p:cNvSpPr/>
          <p:nvPr/>
        </p:nvSpPr>
        <p:spPr>
          <a:xfrm>
            <a:off x="6281928" y="3918204"/>
            <a:ext cx="2139696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950"/>
              <a:buFont typeface="Arial" panose="020B0604020202020204"/>
              <a:buNone/>
            </a:pPr>
            <a:r>
              <a:rPr lang="en-US" sz="9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Ratings, review volume and revenue joined in one view.</a:t>
            </a:r>
            <a:endParaRPr sz="9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76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Streamlit — dashboards in pure Python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6" name="Google Shape;1186;p76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87" name="Google Shape;1187;p76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76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dashboard in an afternoon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Streamlit turns a Python script into a web app: st.metric for KPIs, st.line_chart for trends — all reading the Gold marts directly.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9" name="Google Shape;1189;p76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90" name="Google Shape;1190;p76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76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Thin serving, thick warehouse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All heavy lifting stayed in dbt models; the dashboard just SELECTs from marts. Serving layers should be boring.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2" name="Google Shape;1192;p76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93" name="Google Shape;1193;p76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76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AI apps are serving too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RAG chat and text-to-SQL run as Streamlit apps beside the dashboard — three doors into the same warehouse.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3744"/>
        </a:solidFill>
        <a:effectLst/>
      </p:bgPr>
    </p:bg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77"/>
          <p:cNvSpPr/>
          <p:nvPr/>
        </p:nvSpPr>
        <p:spPr>
          <a:xfrm>
            <a:off x="5394960" y="548640"/>
            <a:ext cx="3383400" cy="4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22530"/>
              </a:buClr>
              <a:buSzPts val="21000"/>
              <a:buFont typeface="Arial" panose="020B0604020202020204"/>
              <a:buNone/>
            </a:pPr>
            <a:r>
              <a:rPr lang="en-US" sz="21000" b="1" i="0" u="none" strike="noStrike" cap="none">
                <a:solidFill>
                  <a:srgbClr val="C225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r>
            <a:endParaRPr sz="2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640080" y="86868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7DA"/>
              </a:buClr>
              <a:buSzPts val="1200"/>
              <a:buFont typeface="Arial" panose="020B0604020202020204"/>
              <a:buNone/>
            </a:pPr>
            <a:r>
              <a:rPr lang="en-US" sz="1200" b="1" i="0" u="none" strike="noStrike" cap="none">
                <a:solidFill>
                  <a:srgbClr val="FFD7D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MODULE 8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2" name="Google Shape;1202;p77"/>
          <p:cNvSpPr/>
          <p:nvPr/>
        </p:nvSpPr>
        <p:spPr>
          <a:xfrm>
            <a:off x="640080" y="1188720"/>
            <a:ext cx="52122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 panose="020B0604020202020204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Wrap-up &amp; Production Concepts</a:t>
            </a:r>
            <a:endParaRPr sz="29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3" name="Google Shape;1203;p77"/>
          <p:cNvSpPr/>
          <p:nvPr/>
        </p:nvSpPr>
        <p:spPr>
          <a:xfrm>
            <a:off x="658368" y="2331720"/>
            <a:ext cx="4937700" cy="21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-152400" algn="l" rtl="0">
              <a:spcBef>
                <a:spcPts val="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 panose="020B0604020202020204"/>
              <a:buChar char="•"/>
            </a:pPr>
            <a:r>
              <a:rPr lang="en-US" sz="1200" b="0" i="0" u="none" strike="noStrike" cap="none">
                <a:solidFill>
                  <a:srgbClr val="FFEDE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Cost management &amp; teardown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 panose="020B0604020202020204"/>
              <a:buChar char="•"/>
            </a:pPr>
            <a:r>
              <a:rPr lang="en-US" sz="1200" b="0" i="0" u="none" strike="noStrike" cap="none">
                <a:solidFill>
                  <a:srgbClr val="FFEDE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Secrets hygiene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 panose="020B0604020202020204"/>
              <a:buChar char="•"/>
            </a:pPr>
            <a:r>
              <a:rPr lang="en-US" sz="1200" b="0" i="0" u="none" strike="noStrike" cap="none">
                <a:solidFill>
                  <a:srgbClr val="FFEDE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GitHub &amp; your portfolio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152400" marR="0" lvl="0" indent="-152400" algn="l" rtl="0">
              <a:spcBef>
                <a:spcPts val="700"/>
              </a:spcBef>
              <a:spcAft>
                <a:spcPts val="0"/>
              </a:spcAft>
              <a:buClr>
                <a:srgbClr val="FFEDEE"/>
              </a:buClr>
              <a:buSzPts val="1200"/>
              <a:buFont typeface="Arial" panose="020B0604020202020204"/>
              <a:buChar char="•"/>
            </a:pPr>
            <a:r>
              <a:rPr lang="en-US" sz="1200" b="0" i="0" u="none" strike="noStrike" cap="none">
                <a:solidFill>
                  <a:srgbClr val="FFEDE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What's next: the streaming version</a:t>
            </a: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78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Cost management &amp; teardown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0" name="Google Shape;1210;p78"/>
          <p:cNvSpPr/>
          <p:nvPr/>
        </p:nvSpPr>
        <p:spPr>
          <a:xfrm>
            <a:off x="502920" y="1280160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1" name="Google Shape;1211;p78"/>
          <p:cNvSpPr/>
          <p:nvPr/>
        </p:nvSpPr>
        <p:spPr>
          <a:xfrm>
            <a:off x="704088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12" name="Google Shape;1212;p78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3816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78"/>
          <p:cNvSpPr/>
          <p:nvPr/>
        </p:nvSpPr>
        <p:spPr>
          <a:xfrm>
            <a:off x="1280160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Auto-suspend everything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4" name="Google Shape;1214;p78"/>
          <p:cNvSpPr/>
          <p:nvPr/>
        </p:nvSpPr>
        <p:spPr>
          <a:xfrm>
            <a:off x="722376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Snowflake warehouses suspend after 60s idle — the single biggest cost saver in the project.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Google Shape;1215;p78"/>
          <p:cNvSpPr/>
          <p:nvPr/>
        </p:nvSpPr>
        <p:spPr>
          <a:xfrm>
            <a:off x="4672584" y="1280160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6" name="Google Shape;1216;p78"/>
          <p:cNvSpPr/>
          <p:nvPr/>
        </p:nvSpPr>
        <p:spPr>
          <a:xfrm>
            <a:off x="4873752" y="14447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17" name="Google Shape;1217;p78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83480" y="155448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78"/>
          <p:cNvSpPr/>
          <p:nvPr/>
        </p:nvSpPr>
        <p:spPr>
          <a:xfrm>
            <a:off x="5449824" y="1444752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Tear down when done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9" name="Google Shape;1219;p78"/>
          <p:cNvSpPr/>
          <p:nvPr/>
        </p:nvSpPr>
        <p:spPr>
          <a:xfrm>
            <a:off x="4892040" y="2011680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Drop unused databases and stages, empty the S3 bucket or add lifecycle rules.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502920" y="3186684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1" name="Google Shape;1221;p78"/>
          <p:cNvSpPr/>
          <p:nvPr/>
        </p:nvSpPr>
        <p:spPr>
          <a:xfrm>
            <a:off x="704088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22" name="Google Shape;1222;p78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3816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78"/>
          <p:cNvSpPr/>
          <p:nvPr/>
        </p:nvSpPr>
        <p:spPr>
          <a:xfrm>
            <a:off x="1280160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Stop the containers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4" name="Google Shape;1224;p78"/>
          <p:cNvSpPr/>
          <p:nvPr/>
        </p:nvSpPr>
        <p:spPr>
          <a:xfrm>
            <a:off x="722376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docker compose down when not developing — Airflow idling all week eats laptop and battery for nothing.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5" name="Google Shape;1225;p78"/>
          <p:cNvSpPr/>
          <p:nvPr/>
        </p:nvSpPr>
        <p:spPr>
          <a:xfrm>
            <a:off x="4672584" y="3186684"/>
            <a:ext cx="3968496" cy="1705356"/>
          </a:xfrm>
          <a:prstGeom prst="roundRect">
            <a:avLst>
              <a:gd name="adj" fmla="val 3753"/>
            </a:avLst>
          </a:prstGeom>
          <a:solidFill>
            <a:srgbClr val="F7F7F9"/>
          </a:solidFill>
          <a:ln w="9525" cap="flat" cmpd="sng">
            <a:solidFill>
              <a:srgbClr val="E9E9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6" name="Google Shape;1226;p78"/>
          <p:cNvSpPr/>
          <p:nvPr/>
        </p:nvSpPr>
        <p:spPr>
          <a:xfrm>
            <a:off x="4873752" y="33512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27" name="Google Shape;1227;p78" descr="preencoded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83480" y="346100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78"/>
          <p:cNvSpPr/>
          <p:nvPr/>
        </p:nvSpPr>
        <p:spPr>
          <a:xfrm>
            <a:off x="5449824" y="3351276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300"/>
              <a:buFont typeface="Arial" panose="020B0604020202020204"/>
              <a:buNone/>
            </a:pPr>
            <a:r>
              <a:rPr lang="en-US" sz="13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Watch the meters</a:t>
            </a:r>
            <a:endParaRPr sz="13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9" name="Google Shape;1229;p78"/>
          <p:cNvSpPr/>
          <p:nvPr/>
        </p:nvSpPr>
        <p:spPr>
          <a:xfrm>
            <a:off x="4892040" y="3918204"/>
            <a:ext cx="3529584" cy="836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5F6A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 billing alerts + OpenAI usage dashboard. Surprises are a choice; alerts are free.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79"/>
          <p:cNvSpPr/>
          <p:nvPr/>
        </p:nvSpPr>
        <p:spPr>
          <a:xfrm>
            <a:off x="502920" y="512064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Secrets hygiene &amp; the portfolio payoff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6" name="Google Shape;1236;p79"/>
          <p:cNvSpPr/>
          <p:nvPr/>
        </p:nvSpPr>
        <p:spPr>
          <a:xfrm>
            <a:off x="502920" y="138988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37" name="Google Shape;1237;p79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0" y="1527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79"/>
          <p:cNvSpPr/>
          <p:nvPr/>
        </p:nvSpPr>
        <p:spPr>
          <a:xfrm>
            <a:off x="1280160" y="135331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Environment variables, always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AWS keys, Snowflake password, OPENAI_API_KEY — all read from env vars or .env files that are in .gitignore. One leaked key can cost real money within hours.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9" name="Google Shape;1239;p79"/>
          <p:cNvSpPr/>
          <p:nvPr/>
        </p:nvSpPr>
        <p:spPr>
          <a:xfrm>
            <a:off x="502920" y="256336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40" name="Google Shape;1240;p79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0080" y="2700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79"/>
          <p:cNvSpPr/>
          <p:nvPr/>
        </p:nvSpPr>
        <p:spPr>
          <a:xfrm>
            <a:off x="1280160" y="252679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Put it on GitHub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Clean repo, clear README with the architecture diagram, setup steps that actually work. This project is portfolio gold — it shows breadth few juniors have.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2" name="Google Shape;1242;p79"/>
          <p:cNvSpPr/>
          <p:nvPr/>
        </p:nvSpPr>
        <p:spPr>
          <a:xfrm>
            <a:off x="502920" y="3736848"/>
            <a:ext cx="548640" cy="548640"/>
          </a:xfrm>
          <a:prstGeom prst="ellipse">
            <a:avLst/>
          </a:prstGeom>
          <a:solidFill>
            <a:srgbClr val="FDED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43" name="Google Shape;1243;p79" descr="preencod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0080" y="3874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79"/>
          <p:cNvSpPr/>
          <p:nvPr/>
        </p:nvSpPr>
        <p:spPr>
          <a:xfrm>
            <a:off x="1280160" y="3700272"/>
            <a:ext cx="7360920" cy="1118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62E"/>
              </a:buClr>
              <a:buSzPts val="1400"/>
              <a:buFont typeface="Arial" panose="020B0604020202020204"/>
              <a:buNone/>
            </a:pPr>
            <a:r>
              <a:rPr lang="en-US" sz="1400" b="1" i="0" u="none" strike="noStrike" cap="none">
                <a:solidFill>
                  <a:srgbClr val="26262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Talk about it like an engineer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5F5F6A"/>
              </a:buClr>
              <a:buSzPts val="1150"/>
              <a:buFont typeface="Arial" panose="020B0604020202020204"/>
              <a:buNone/>
            </a:pPr>
            <a:r>
              <a:rPr lang="en-US" sz="1150" b="0" i="0" u="none" strike="noStrike" cap="none">
                <a:solidFill>
                  <a:srgbClr val="5F5F6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“I built an ELT pipeline with an LLM enrichment stage, tested with dbt, orchestrated with Airflow” — every word of that is interview currency.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24690</Words>
  <Application>WPS Presentation</Application>
  <PresentationFormat/>
  <Paragraphs>1050</Paragraphs>
  <Slides>80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Trebuchet MS</vt:lpstr>
      <vt:lpstr>Courier New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Darshil</dc:creator>
  <cp:lastModifiedBy>Sahil</cp:lastModifiedBy>
  <cp:revision>6</cp:revision>
  <dcterms:created xsi:type="dcterms:W3CDTF">2026-10-04T12:20:35Z</dcterms:created>
  <dcterms:modified xsi:type="dcterms:W3CDTF">2026-10-04T13:13:47Z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09B39E38811747D99F99DB033CB0A5A9_12</vt:lpwstr>
  </property>
  <property fmtid="{D5CDD505-2E9C-101B-9397-08002B2CF9AE}" pid="3" name="KSOProductBuildVer">
    <vt:lpwstr>1033-12.1.0.28485</vt:lpwstr>
  </property>
</Properties>
</file>